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1"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D35B1A-7713-2A3F-5A51-C71C167BFEFA}">
          <p14:sldIdLst>
            <p14:sldId id="256"/>
            <p14:sldId id="257"/>
            <p14:sldId id="258"/>
            <p14:sldId id="259"/>
            <p14:sldId id="260"/>
            <p14:sldId id="261"/>
            <p14:sldId id="262"/>
            <p14:sldId id="263"/>
          </p14:sldIdLst>
        </p14:section>
        <p14:section name="Technology and design" id="{3222152F-AC5D-7E4B-BD6A-0AFD944087D6}">
          <p14:sldIdLst>
            <p14:sldId id="264"/>
            <p14:sldId id="265"/>
            <p14:sldId id="266"/>
            <p14:sldId id="267"/>
            <p14:sldId id="268"/>
            <p14:sldId id="269"/>
            <p14:sldId id="270"/>
            <p14:sldId id="271"/>
          </p14:sldIdLst>
        </p14:section>
        <p14:section name="Backlog" id="{E876EA49-4CDE-14DF-D4DE-6190E84862BF}">
          <p14:sldIdLst>
            <p14:sldId id="272"/>
            <p14:sldId id="273"/>
            <p14:sldId id="274"/>
            <p14:sldId id="275"/>
            <p14:sldId id="276"/>
            <p14:sldId id="277"/>
            <p14:sldId id="278"/>
            <p14:sldId id="279"/>
            <p14:sldId id="280"/>
            <p14:sldId id="291"/>
            <p14:sldId id="281"/>
          </p14:sldIdLst>
        </p14:section>
        <p14:section name="Metrics" id="{368166BA-2DB8-A480-2AC3-F4D3961A0A78}">
          <p14:sldIdLst>
            <p14:sldId id="282"/>
            <p14:sldId id="283"/>
          </p14:sldIdLst>
        </p14:section>
        <p14:section name="Retro and Sprint 2" id="{03842D48-18B4-E7C2-7E62-2D6F2EE8F70A}">
          <p14:sldIdLst>
            <p14:sldId id="284"/>
            <p14:sldId id="285"/>
          </p14:sldIdLst>
        </p14:section>
        <p14:section name="Project demo" id="{9030A6F1-3FEE-6B21-34EA-B435E479A3EC}">
          <p14:sldIdLst>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31"/>
    <p:restoredTop sz="78320"/>
  </p:normalViewPr>
  <p:slideViewPr>
    <p:cSldViewPr snapToGrid="0" snapToObjects="1">
      <p:cViewPr varScale="1">
        <p:scale>
          <a:sx n="110" d="100"/>
          <a:sy n="110" d="100"/>
        </p:scale>
        <p:origin x="6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0132B"/>
                </a:solidFill>
                <a:latin typeface="+mn-lt"/>
              </a:defRPr>
            </a:pPr>
            <a:r>
              <a:rPr lang="en-US" sz="1200" b="0" i="0" u="none" strike="noStrike">
                <a:solidFill>
                  <a:srgbClr val="10132B"/>
                </a:solidFill>
                <a:latin typeface="+mn-lt"/>
              </a:rPr>
              <a:t>Story points per story, Sprint 1</a:t>
            </a:r>
          </a:p>
        </c:rich>
      </c:tx>
      <c:overlay val="0"/>
    </c:title>
    <c:autoTitleDeleted val="0"/>
    <c:plotArea>
      <c:layout/>
      <c:barChart>
        <c:barDir val="col"/>
        <c:grouping val="clustered"/>
        <c:varyColors val="0"/>
        <c:ser>
          <c:idx val="0"/>
          <c:order val="0"/>
          <c:tx>
            <c:strRef>
              <c:f>Sheet1!$B$1</c:f>
              <c:strCache>
                <c:ptCount val="1"/>
                <c:pt idx="0">
                  <c:v>Committed</c:v>
                </c:pt>
              </c:strCache>
            </c:strRef>
          </c:tx>
          <c:spPr>
            <a:solidFill>
              <a:srgbClr val="9BA4D6"/>
            </a:solidFill>
            <a:effectLst/>
          </c:spPr>
          <c:invertIfNegative val="0"/>
          <c:dLbls>
            <c:numFmt formatCode="#,##0" sourceLinked="0"/>
            <c:spPr>
              <a:noFill/>
              <a:ln>
                <a:noFill/>
              </a:ln>
              <a:effectLst/>
            </c:spPr>
            <c:txPr>
              <a:bodyPr/>
              <a:lstStyle/>
              <a:p>
                <a:pPr>
                  <a:defRPr sz="1000" b="0" i="0" u="none" strike="noStrike">
                    <a:solidFill>
                      <a:srgbClr val="1A1D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US_01</c:v>
                </c:pt>
                <c:pt idx="1">
                  <c:v>US_02</c:v>
                </c:pt>
                <c:pt idx="2">
                  <c:v>US_03</c:v>
                </c:pt>
                <c:pt idx="3">
                  <c:v>US_04</c:v>
                </c:pt>
                <c:pt idx="4">
                  <c:v>US_05</c:v>
                </c:pt>
              </c:strCache>
            </c:strRef>
          </c:cat>
          <c:val>
            <c:numRef>
              <c:f>Sheet1!$B$2:$B$6</c:f>
              <c:numCache>
                <c:formatCode>General</c:formatCode>
                <c:ptCount val="5"/>
                <c:pt idx="0">
                  <c:v>8</c:v>
                </c:pt>
                <c:pt idx="1">
                  <c:v>13</c:v>
                </c:pt>
                <c:pt idx="2">
                  <c:v>8</c:v>
                </c:pt>
                <c:pt idx="3">
                  <c:v>5</c:v>
                </c:pt>
                <c:pt idx="4">
                  <c:v>8</c:v>
                </c:pt>
              </c:numCache>
            </c:numRef>
          </c:val>
          <c:extLst>
            <c:ext xmlns:c16="http://schemas.microsoft.com/office/drawing/2014/chart" uri="{C3380CC4-5D6E-409C-BE32-E72D297353CC}">
              <c16:uniqueId val="{00000000-48B3-5343-B743-13B329A48BF6}"/>
            </c:ext>
          </c:extLst>
        </c:ser>
        <c:ser>
          <c:idx val="1"/>
          <c:order val="1"/>
          <c:tx>
            <c:strRef>
              <c:f>Sheet1!$C$1</c:f>
              <c:strCache>
                <c:ptCount val="1"/>
                <c:pt idx="0">
                  <c:v>Completed</c:v>
                </c:pt>
              </c:strCache>
            </c:strRef>
          </c:tx>
          <c:spPr>
            <a:solidFill>
              <a:srgbClr val="4C6FFF"/>
            </a:solidFill>
            <a:effectLst/>
          </c:spPr>
          <c:invertIfNegative val="0"/>
          <c:dLbls>
            <c:numFmt formatCode="#,##0" sourceLinked="0"/>
            <c:spPr>
              <a:noFill/>
              <a:ln>
                <a:noFill/>
              </a:ln>
              <a:effectLst/>
            </c:spPr>
            <c:txPr>
              <a:bodyPr/>
              <a:lstStyle/>
              <a:p>
                <a:pPr>
                  <a:defRPr sz="1000" b="0" i="0" u="none" strike="noStrike">
                    <a:solidFill>
                      <a:srgbClr val="1A1D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US_01</c:v>
                </c:pt>
                <c:pt idx="1">
                  <c:v>US_02</c:v>
                </c:pt>
                <c:pt idx="2">
                  <c:v>US_03</c:v>
                </c:pt>
                <c:pt idx="3">
                  <c:v>US_04</c:v>
                </c:pt>
                <c:pt idx="4">
                  <c:v>US_05</c:v>
                </c:pt>
              </c:strCache>
            </c:strRef>
          </c:cat>
          <c:val>
            <c:numRef>
              <c:f>Sheet1!$C$2:$C$6</c:f>
              <c:numCache>
                <c:formatCode>General</c:formatCode>
                <c:ptCount val="5"/>
                <c:pt idx="0">
                  <c:v>8</c:v>
                </c:pt>
                <c:pt idx="1">
                  <c:v>13</c:v>
                </c:pt>
                <c:pt idx="2">
                  <c:v>8</c:v>
                </c:pt>
                <c:pt idx="3">
                  <c:v>5</c:v>
                </c:pt>
                <c:pt idx="4">
                  <c:v>8</c:v>
                </c:pt>
              </c:numCache>
            </c:numRef>
          </c:val>
          <c:extLst>
            <c:ext xmlns:c16="http://schemas.microsoft.com/office/drawing/2014/chart" uri="{C3380CC4-5D6E-409C-BE32-E72D297353CC}">
              <c16:uniqueId val="{00000001-48B3-5343-B743-13B329A48B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D33"/>
                </a:solidFill>
                <a:latin typeface="+mn-lt"/>
              </a:defRPr>
            </a:pPr>
            <a:endParaRPr lang="en-US"/>
          </a:p>
        </c:txPr>
        <c:crossAx val="2094734552"/>
        <c:crosses val="autoZero"/>
        <c:auto val="1"/>
        <c:lblAlgn val="ctr"/>
        <c:lblOffset val="100"/>
        <c:noMultiLvlLbl val="1"/>
      </c:catAx>
      <c:valAx>
        <c:axId val="2094734552"/>
        <c:scaling>
          <c:orientation val="minMax"/>
          <c:max val="15"/>
          <c:min val="0"/>
        </c:scaling>
        <c:delete val="0"/>
        <c:axPos val="l"/>
        <c:majorGridlines>
          <c:spPr>
            <a:ln w="9525" cap="flat">
              <a:solidFill>
                <a:srgbClr val="E1E5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D33"/>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1A1D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904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everyone, we're Team 2, Phoenix, and this is our Sprint 1 review for AgentMesh. In Sprint 0 we showed you what we're building. In Sprint 1 we built the core loop: enroll an agent, read a brief, spawn only the agents it needs, and validate what they produce.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we'll cover today. We start with the team and the changes we made from your feedback. Then the project, our working agreement, personas, MVP, technology and diagrams. After that, the backlog, test cases, metrics and our retrospective. We finish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team of seven. Dhwani leads the team and builds the /office UI. Om and Soumen work full stack, with Soumen owning the platform and the orchestration core. Aniruddha builds the frontend and Puneet the backend and data layer. Sutej is our AI engineer, and Gurjot is our QA lead and Scrum Master.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Sprint 0 you gave us seven points of feedback. Each row shows what we changed and the slide where you can see it. Every changed slide has an amber "Revised" tag in the corner. We also tested our mics and speakers together as a group before recording.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AgentMesh is an AI agent orchestration platform. Instead of one chatbot doing everything, it works like a workflow engine. A user sends one brief, we break it into the capabilities it needs, spawn only the right agents, and combine their validated outputs into one result.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told us our agreement was vague, so we made it specific. We meet twice a week, on [DAY 1] and [DAY 2] at [TIME] on [PLATFORM]. If you can't finish a task, you flag it 24 hours before the deadline. Work is due 48 hours before a sprint review, so nobody gets a last-minute drop. Reviews are shared, we give one reminder, and disagreements are raised in the meeting.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build for three people. Priya is an engineering lead who wants security review, fixes and tests in one pipeline. Daniel is a data analyst who wants cleaning, analysis and reporting from one request. Aisha is a product manager who needs to see which agent ran, why, and what it cost.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MVP is more than sign-in. A user signs in with Google, an engineer enrolls an agent without writing code, and anyone can submit a brief. AgentMesh spawns only the agents needed and returns a validated result, all from the /office workspace.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frontend is Next.js, React and TypeScript. The backend is Python with FastAPI, SQLAlchemy and Pydantic. PostgreSQL stores everything that matters, and Redis handles counters and locks. For AI we connect OpenAI, Anthropic, Gemini and Hugging Face behind one interface. Docker runs the stack, and GitHub Actions runs our tests on every push.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pieces of logic run the orchestrator. First, we classify the brief into capabilities. Then we pick the smallest set of agents that covers them and record why the others were skipped. We plan the steps as a graph, branch on intermediate results, route each step to a model by cost and speed, and validate every output with retries.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has four layers. The browser talks to the Next.js pages. Requests pass through the FastAPI gateway, which checks identity and rate limits. The orchestration core analyses, selects, plans and runs the agents. Results land in PostgreSQL, and outside services like the LLM providers sit on the right.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AgentMesh from the outside. Operators send briefs and get back plans, status and results. Platform engineers enroll and maintain agents. AgentMesh calls the LLM providers, verifies sign-in with Google, and sends metrics to Prometheus and Grafana.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database has four groups of tables. The registry holds agents and their capabilities, plus one results table per agent. The workflow group stores each brief as tasks, nodes and edges, with executions and results. The other two groups cover users and providers, and how agents talk to each other.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user's journey. They sign in with Google and get a session. When they submit a brief, one of three things happens: a vague brief gets a clarifying question, a missing capability gets a clear error, or a clear brief is planned and saved. Then the agents run, their outputs are validated, and the screen updates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brief and every step has a state. Before a run, a brief is planned, sent back for clarification, or rejected. During the run, each step moves from waiting to ready to running, and ends completed or failed. A step can also wait for approval or be skipped, always with a reason.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orchestration service connects the analyser, selector, planner and engine. The engine runs each ready step through the agent executor. The registry and the LLM provider are interfaces, so in tests we swap in a fake provider and an in-memory registry. That's why none of our tests make a paid API call.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Sprint 1 we committed to five user stories worth 42 points: enrollment, spawning, dynamic tables, schema validation and the frontend. All five met every acceptance criterion, 22 out of 22. Let's go through them one by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platform engineer can add a new agent with one request, without changing any code. The agent gets a unique ID and an Active status in under three seconds. Duplicate names and missing fields are rejected with a clear error. An agent can be updated or disabled, and a disabled agent is never picked.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heart of AgentMesh. A narrow brief like "find security vulnerabilities" spawns only the security agent, and the other six are skipped with a reason. A broad brief spawns five agents in order. If no agent covers a capability, nothing runs and the user is told what's missing. A vague brief gets a clarifying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an agent is enrolled, we automatically create a table for its results, with one typed column for each output field. The table name is generated safely, so SQL in a name can't run. Creating it twice is harmless, and if it fails, the whole enrollment rolls back.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treat AI output as untrusted. A broken schema is rejected at enrollment, and every output is checked against the agent's schema before it's stored. If a field is missing or has the wrong type, the step fails, nothing is stored, and the error is logged with the agent and field name.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 do everything from the /office workspace, with no API calls. They type a brief, and the Start button stays disabled until there's real text. They can see every enrolled agent and its status. After they submit, the spawned agents appear with their status and why each was picked. Errors from the backend show up as clear messages.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Behind those stories were nine technical tasks in Jira, SCRUM-5 to SCRUM-13. They cover project setup, Docker, CI, the backend core, the database and our architecture docs. Each arrow shows which user story the task supported.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wrote 23 test cases, all for Sprint 1 stories: 12 positive and 11 negative. Every one is automated. Backend tests run in CI, and the UI tests run in Playwright against our Docker stack. All 23 passed on October 18. The full sheet with steps and expected results is on our wiki.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stories we committed to are completed, 42 points in total. Nothing was left unfinished, so nothing carries over into Sprint 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what's left to build, starting with Sprint 2: the workflow engine and agent execution. US_06 arranges the spawned agents into a workflow graph and rejects circular dependencies. US_07 runs that workflow on its own, with parallel steps, up to three retries and live status. US_08 adds real specialist agents for review-fix-test and clean-analyse-report pipelines. That's 39 points.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Sprint 3 covers routing, cost and the final result. US_09 routes each step to a suitable model across OpenAI, Anthropic and Gemini, and switches to a fallback within five seconds. US_10 records tokens, cost and latency for every step, which is what Aisha needs. US_11 combines all outputs into one result in a chat thread that keeps context for follow-ups. That's 31 points.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velocity this sprint is 42 story points. We committed 42 and completed 42, so our completed-to-committed ratio is 100 percent. The chart shows committed and completed points for each story side by side.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Sprint 1 burndown from September 22 to October 19. For the first half we were behind the ideal line, because the 13-point spawning story was large. We caught up around October 10 and reached zero by October 16. On the right, all nine technical tasks are closed.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time we ran the retro from scratch as a team, and each action item fixes the improvement item in the same row. For example, the 13-point spawning ticket was too big, so from now on we split anything over 5 points. Docs were rushed at the end, so a story isn't done until its docs are written. And to stop frontend and backend blocking each other, we create mock API schemas on day 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Sprint 2 we're committing to US_06, US_07 and US_08, 39 points. Nothing carries over from Sprint 1. By the end of the sprint, the agents we spawn will run as a real workflow, with parallel steps, retries and live progress.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a user sees. First, they type one brief or pick a suggestion. Second, only the specialist agents the brief needs light up. Third, each agent's status updates live: working, waiting, complete or ready.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screen is backed by these endpoints. Enrollment is one POST, and PATCH updates or disables an agent. Filtering by a capability returns exactly the agent that should run. If you send a vague brief like "help me," you get a 422 with a clarifying question.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our code, docs and deliverables are in our GitHub repository. You can scan the QR code to open it. The frontend, backend and docs each have their own folder, and the wiki links our slides, videos, diagrams and test cases. Anyone can run the whole stack with one Docker command.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run it. (Demo steps, about 90 seconds.)</a:t>
            </a:r>
          </a:p>
          <a:p>
            <a:r>
              <a:t>1. Start the stack and show the log line: agents_seeded created=7 total=7.</a:t>
            </a:r>
          </a:p>
          <a:p>
            <a:r>
              <a:t>2. Call GET /api/v1/agents to show all seven agents.</a:t>
            </a:r>
          </a:p>
          <a:p>
            <a:r>
              <a:t>3. Filter by security.vulnerability_analysis and show that only the security agent comes back.</a:t>
            </a:r>
          </a:p>
          <a:p>
            <a:r>
              <a:t>4. Call GET /api/v1/capabilities to show 17 capabilities, none orphaned.</a:t>
            </a:r>
          </a:p>
          <a:p>
            <a:r>
              <a:t>5. Call POST /api/v1/tasks/plan with a narrow brief and a broad brief, and show the selection and skip reasons.</a:t>
            </a:r>
          </a:p>
          <a:p>
            <a:r>
              <a:t>6. Open localhost:3000/office, submit a brief, and watch the agents spawn.</a:t>
            </a:r>
          </a:p>
          <a:p>
            <a:r>
              <a:t>That's AgentMesh Sprint 1.</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watching. Everything we showed today is in our repository and on our Sprint 1 wiki page.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457200" y="4791456"/>
            <a:ext cx="4572000" cy="228600"/>
          </a:xfrm>
          <a:prstGeom prst="rect">
            <a:avLst/>
          </a:prstGeom>
          <a:noFill/>
          <a:ln/>
        </p:spPr>
        <p:txBody>
          <a:bodyPr wrap="square" lIns="0" tIns="0" rIns="0" bIns="0" rtlCol="0" anchor="ctr"/>
          <a:lstStyle/>
          <a:p>
            <a:pPr marL="0" indent="0">
              <a:buNone/>
            </a:pPr>
            <a:r>
              <a:rPr lang="en-US" sz="1000" dirty="0">
                <a:solidFill>
                  <a:schemeClr val="tx2"/>
                </a:solidFill>
              </a:rPr>
              <a:t>AgentMesh  ·  Team 2 Phoenix  ·  Sprint 1 Review</a:t>
            </a:r>
            <a:endParaRPr lang="en-US" sz="1000" dirty="0"/>
          </a:p>
        </p:txBody>
      </p:sp>
      <p:sp>
        <p:nvSpPr>
          <p:cNvPr id="3" name="Text 1"/>
          <p:cNvSpPr>
            <a:spLocks noGrp="1"/>
          </p:cNvSpPr>
          <p:nvPr>
            <p:ph type="body" idx="101" hasCustomPrompt="1"/>
          </p:nvPr>
        </p:nvSpPr>
        <p:spPr>
          <a:xfrm>
            <a:off x="457200" y="310896"/>
            <a:ext cx="6217920" cy="237744"/>
          </a:xfrm>
          <a:prstGeom prst="rect">
            <a:avLst/>
          </a:prstGeom>
          <a:noFill/>
          <a:ln/>
        </p:spPr>
        <p:txBody>
          <a:bodyPr wrap="square" rtlCol="0"/>
          <a:lstStyle>
            <a:lvl1pPr marL="0" indent="0">
              <a:buNone/>
              <a:defRPr lang="en-US" sz="1100" b="1" kern="0" spc="200" dirty="0">
                <a:solidFill>
                  <a:schemeClr val="accent1"/>
                </a:solidFill>
              </a:defRPr>
            </a:lvl1pPr>
          </a:lstStyle>
          <a:p>
            <a:pPr marL="0" indent="0">
              <a:buNone/>
            </a:pPr>
            <a:endParaRPr lang="en-US" sz="1100" dirty="0"/>
          </a:p>
        </p:txBody>
      </p:sp>
      <p:sp>
        <p:nvSpPr>
          <p:cNvPr id="4" name="Text 1"/>
          <p:cNvSpPr>
            <a:spLocks noGrp="1"/>
          </p:cNvSpPr>
          <p:nvPr>
            <p:ph type="title" idx="102" hasCustomPrompt="1"/>
          </p:nvPr>
        </p:nvSpPr>
        <p:spPr>
          <a:xfrm>
            <a:off x="457200" y="548640"/>
            <a:ext cx="6263640" cy="548640"/>
          </a:xfrm>
          <a:prstGeom prst="rect">
            <a:avLst/>
          </a:prstGeom>
          <a:noFill/>
          <a:ln/>
        </p:spPr>
        <p:txBody>
          <a:bodyPr wrap="square" rtlCol="0"/>
          <a:lstStyle>
            <a:lvl1pPr marL="0" indent="0" algn="l">
              <a:buNone/>
              <a:defRPr lang="en-US" sz="28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4754880" cy="13716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9.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70.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56.png"/><Relationship Id="rId4" Type="http://schemas.openxmlformats.org/officeDocument/2006/relationships/image" Target="../media/image71.png"/></Relationships>
</file>

<file path=ppt/slides/_rels/slide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75.jpg"/></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3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75.jpg"/><Relationship Id="rId4" Type="http://schemas.openxmlformats.org/officeDocument/2006/relationships/image" Target="../media/image87.jp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hyperlink" Target="https://github.com/htmw/F2026-T2-Phoenix"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hyperlink" Target="https://agent-mesh-web.onrender.com/" TargetMode="External"/><Relationship Id="rId4" Type="http://schemas.openxmlformats.org/officeDocument/2006/relationships/image" Target="../media/image9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051560"/>
            <a:ext cx="4572000" cy="274320"/>
          </a:xfrm>
          <a:prstGeom prst="rect">
            <a:avLst/>
          </a:prstGeom>
          <a:noFill/>
          <a:ln/>
        </p:spPr>
        <p:txBody>
          <a:bodyPr wrap="square" lIns="0" tIns="0" rIns="0" bIns="0" rtlCol="0" anchor="t"/>
          <a:lstStyle/>
          <a:p>
            <a:pPr marL="0" indent="0">
              <a:buNone/>
            </a:pPr>
            <a:r>
              <a:rPr lang="en-US" sz="1200" b="1" kern="0" spc="300" dirty="0">
                <a:solidFill>
                  <a:schemeClr val="accent4"/>
                </a:solidFill>
              </a:rPr>
              <a:t>CS691 CAPSTONE  ·  SPRINT 1 REVIEW</a:t>
            </a:r>
            <a:endParaRPr lang="en-US" sz="1200" dirty="0"/>
          </a:p>
        </p:txBody>
      </p:sp>
      <p:sp>
        <p:nvSpPr>
          <p:cNvPr id="3" name="Text 0"/>
          <p:cNvSpPr>
            <a:spLocks noGrp="1"/>
          </p:cNvSpPr>
          <p:nvPr>
            <p:ph type="title" idx="100" hasCustomPrompt="1"/>
          </p:nvPr>
        </p:nvSpPr>
        <p:spPr>
          <a:xfrm>
            <a:off x="548640" y="1417320"/>
            <a:ext cx="47548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From One Brief to the Right Team</a:t>
            </a:r>
            <a:endParaRPr lang="en-US" sz="4000" dirty="0"/>
          </a:p>
        </p:txBody>
      </p:sp>
      <p:sp>
        <p:nvSpPr>
          <p:cNvPr id="4" name="text-2"/>
          <p:cNvSpPr txBox="1"/>
          <p:nvPr/>
        </p:nvSpPr>
        <p:spPr>
          <a:xfrm>
            <a:off x="548640" y="2880360"/>
            <a:ext cx="4480560" cy="685800"/>
          </a:xfrm>
          <a:prstGeom prst="rect">
            <a:avLst/>
          </a:prstGeom>
          <a:noFill/>
          <a:ln/>
        </p:spPr>
        <p:txBody>
          <a:bodyPr wrap="square" lIns="0" tIns="0" rIns="0" bIns="0" rtlCol="0" anchor="t"/>
          <a:lstStyle/>
          <a:p>
            <a:pPr marL="0" indent="0">
              <a:buNone/>
            </a:pPr>
            <a:r>
              <a:rPr lang="en-US" sz="1500" dirty="0">
                <a:solidFill>
                  <a:schemeClr val="bg2"/>
                </a:solidFill>
              </a:rPr>
              <a:t>Sprint 1 turns a registry of AI agents into a team that assembles itself from a single plain-language brief.</a:t>
            </a:r>
            <a:endParaRPr lang="en-US" sz="1500" dirty="0"/>
          </a:p>
        </p:txBody>
      </p:sp>
      <p:sp>
        <p:nvSpPr>
          <p:cNvPr id="5" name="text-3"/>
          <p:cNvSpPr txBox="1"/>
          <p:nvPr/>
        </p:nvSpPr>
        <p:spPr>
          <a:xfrm>
            <a:off x="548640" y="3977640"/>
            <a:ext cx="4480560" cy="548640"/>
          </a:xfrm>
          <a:prstGeom prst="rect">
            <a:avLst/>
          </a:prstGeom>
          <a:noFill/>
          <a:ln/>
        </p:spPr>
        <p:txBody>
          <a:bodyPr wrap="square" lIns="0" tIns="0" rIns="0" bIns="0" rtlCol="0" anchor="t"/>
          <a:lstStyle/>
          <a:p>
            <a:pPr marL="0" indent="0">
              <a:buNone/>
            </a:pPr>
            <a:r>
              <a:rPr lang="en-US" sz="1200" b="1" dirty="0">
                <a:solidFill>
                  <a:schemeClr val="bg1"/>
                </a:solidFill>
              </a:rPr>
              <a:t>AgentMesh  ·  Team 2 Phoenix</a:t>
            </a:r>
            <a:endParaRPr lang="en-US" sz="1200" dirty="0"/>
          </a:p>
          <a:p>
            <a:pPr marL="0" indent="0">
              <a:buNone/>
            </a:pPr>
            <a:r>
              <a:rPr lang="en-US" sz="1200" dirty="0">
                <a:solidFill>
                  <a:schemeClr val="accent3"/>
                </a:solidFill>
              </a:rPr>
              <a:t>Fall 2026</a:t>
            </a:r>
            <a:endParaRPr lang="en-US" sz="1200" dirty="0"/>
          </a:p>
        </p:txBody>
      </p:sp>
      <p:sp>
        <p:nvSpPr>
          <p:cNvPr id="6" name="ring-4"/>
          <p:cNvSpPr/>
          <p:nvPr/>
        </p:nvSpPr>
        <p:spPr>
          <a:xfrm>
            <a:off x="5440680" y="1097280"/>
            <a:ext cx="2926080" cy="2926080"/>
          </a:xfrm>
          <a:prstGeom prst="ellipse">
            <a:avLst/>
          </a:prstGeom>
          <a:ln w="12700">
            <a:solidFill>
              <a:schemeClr val="accent3">
                <a:alpha val="60000"/>
              </a:schemeClr>
            </a:solidFill>
            <a:prstDash val="dash"/>
          </a:ln>
        </p:spPr>
        <p:txBody>
          <a:bodyPr/>
          <a:lstStyle/>
          <a:p>
            <a:endParaRPr lang="en-US"/>
          </a:p>
        </p:txBody>
      </p:sp>
      <p:sp>
        <p:nvSpPr>
          <p:cNvPr id="7" name="line-5"/>
          <p:cNvSpPr/>
          <p:nvPr/>
        </p:nvSpPr>
        <p:spPr>
          <a:xfrm flipV="1">
            <a:off x="6903720" y="1097280"/>
            <a:ext cx="914" cy="1463040"/>
          </a:xfrm>
          <a:prstGeom prst="line">
            <a:avLst/>
          </a:prstGeom>
          <a:noFill/>
          <a:ln w="15875">
            <a:solidFill>
              <a:schemeClr val="accent4">
                <a:alpha val="70000"/>
              </a:schemeClr>
            </a:solidFill>
            <a:prstDash val="solid"/>
          </a:ln>
        </p:spPr>
        <p:txBody>
          <a:bodyPr/>
          <a:lstStyle/>
          <a:p>
            <a:endParaRPr lang="en-US"/>
          </a:p>
        </p:txBody>
      </p:sp>
      <p:sp>
        <p:nvSpPr>
          <p:cNvPr id="8" name="line-6"/>
          <p:cNvSpPr/>
          <p:nvPr/>
        </p:nvSpPr>
        <p:spPr>
          <a:xfrm flipV="1">
            <a:off x="6903720" y="1648129"/>
            <a:ext cx="1143851" cy="912191"/>
          </a:xfrm>
          <a:prstGeom prst="line">
            <a:avLst/>
          </a:prstGeom>
          <a:noFill/>
          <a:ln w="15875">
            <a:solidFill>
              <a:schemeClr val="accent4">
                <a:alpha val="70000"/>
              </a:schemeClr>
            </a:solidFill>
            <a:prstDash val="solid"/>
          </a:ln>
        </p:spPr>
        <p:txBody>
          <a:bodyPr/>
          <a:lstStyle/>
          <a:p>
            <a:endParaRPr lang="en-US"/>
          </a:p>
        </p:txBody>
      </p:sp>
      <p:sp>
        <p:nvSpPr>
          <p:cNvPr id="9" name="line-7"/>
          <p:cNvSpPr/>
          <p:nvPr/>
        </p:nvSpPr>
        <p:spPr>
          <a:xfrm>
            <a:off x="6903720" y="2560320"/>
            <a:ext cx="1426359" cy="325557"/>
          </a:xfrm>
          <a:prstGeom prst="line">
            <a:avLst/>
          </a:prstGeom>
          <a:noFill/>
          <a:ln w="15875">
            <a:solidFill>
              <a:schemeClr val="accent4">
                <a:alpha val="70000"/>
              </a:schemeClr>
            </a:solidFill>
            <a:prstDash val="solid"/>
          </a:ln>
        </p:spPr>
        <p:txBody>
          <a:bodyPr/>
          <a:lstStyle/>
          <a:p>
            <a:endParaRPr lang="en-US"/>
          </a:p>
        </p:txBody>
      </p:sp>
      <p:sp>
        <p:nvSpPr>
          <p:cNvPr id="10" name="line-8"/>
          <p:cNvSpPr/>
          <p:nvPr/>
        </p:nvSpPr>
        <p:spPr>
          <a:xfrm>
            <a:off x="6903720" y="2560320"/>
            <a:ext cx="634789" cy="1318153"/>
          </a:xfrm>
          <a:prstGeom prst="line">
            <a:avLst/>
          </a:prstGeom>
          <a:noFill/>
          <a:ln w="15875">
            <a:solidFill>
              <a:schemeClr val="accent4">
                <a:alpha val="70000"/>
              </a:schemeClr>
            </a:solidFill>
            <a:prstDash val="solid"/>
          </a:ln>
        </p:spPr>
        <p:txBody>
          <a:bodyPr/>
          <a:lstStyle/>
          <a:p>
            <a:endParaRPr lang="en-US"/>
          </a:p>
        </p:txBody>
      </p:sp>
      <p:sp>
        <p:nvSpPr>
          <p:cNvPr id="11" name="line-9"/>
          <p:cNvSpPr/>
          <p:nvPr/>
        </p:nvSpPr>
        <p:spPr>
          <a:xfrm flipH="1">
            <a:off x="6268931" y="2560320"/>
            <a:ext cx="634789" cy="1318153"/>
          </a:xfrm>
          <a:prstGeom prst="line">
            <a:avLst/>
          </a:prstGeom>
          <a:noFill/>
          <a:ln w="15875">
            <a:solidFill>
              <a:schemeClr val="accent4">
                <a:alpha val="70000"/>
              </a:schemeClr>
            </a:solidFill>
            <a:prstDash val="solid"/>
          </a:ln>
        </p:spPr>
        <p:txBody>
          <a:bodyPr/>
          <a:lstStyle/>
          <a:p>
            <a:endParaRPr lang="en-US"/>
          </a:p>
        </p:txBody>
      </p:sp>
      <p:sp>
        <p:nvSpPr>
          <p:cNvPr id="12" name="line-10"/>
          <p:cNvSpPr/>
          <p:nvPr/>
        </p:nvSpPr>
        <p:spPr>
          <a:xfrm flipH="1">
            <a:off x="5477361" y="2560320"/>
            <a:ext cx="1426359" cy="325557"/>
          </a:xfrm>
          <a:prstGeom prst="line">
            <a:avLst/>
          </a:prstGeom>
          <a:noFill/>
          <a:ln w="15875">
            <a:solidFill>
              <a:schemeClr val="accent4">
                <a:alpha val="70000"/>
              </a:schemeClr>
            </a:solidFill>
            <a:prstDash val="solid"/>
          </a:ln>
        </p:spPr>
        <p:txBody>
          <a:bodyPr/>
          <a:lstStyle/>
          <a:p>
            <a:endParaRPr lang="en-US"/>
          </a:p>
        </p:txBody>
      </p:sp>
      <p:sp>
        <p:nvSpPr>
          <p:cNvPr id="13" name="line-11"/>
          <p:cNvSpPr/>
          <p:nvPr/>
        </p:nvSpPr>
        <p:spPr>
          <a:xfrm flipH="1" flipV="1">
            <a:off x="5759869" y="1648129"/>
            <a:ext cx="1143851" cy="912191"/>
          </a:xfrm>
          <a:prstGeom prst="line">
            <a:avLst/>
          </a:prstGeom>
          <a:noFill/>
          <a:ln w="15875">
            <a:solidFill>
              <a:schemeClr val="accent4">
                <a:alpha val="70000"/>
              </a:schemeClr>
            </a:solidFill>
            <a:prstDash val="solid"/>
          </a:ln>
        </p:spPr>
        <p:txBody>
          <a:bodyPr/>
          <a:lstStyle/>
          <a:p>
            <a:endParaRPr lang="en-US"/>
          </a:p>
        </p:txBody>
      </p:sp>
      <p:sp>
        <p:nvSpPr>
          <p:cNvPr id="14" name="node-12"/>
          <p:cNvSpPr/>
          <p:nvPr/>
        </p:nvSpPr>
        <p:spPr>
          <a:xfrm>
            <a:off x="6574536" y="768096"/>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15" name="robot-13" descr="/home/claude/work/assets/robot1.png"/>
          <p:cNvPicPr>
            <a:picLocks noChangeAspect="1"/>
          </p:cNvPicPr>
          <p:nvPr/>
        </p:nvPicPr>
        <p:blipFill>
          <a:blip r:embed="rId3"/>
          <a:stretch>
            <a:fillRect/>
          </a:stretch>
        </p:blipFill>
        <p:spPr>
          <a:xfrm>
            <a:off x="6656832" y="850392"/>
            <a:ext cx="493776" cy="493776"/>
          </a:xfrm>
          <a:prstGeom prst="rect">
            <a:avLst/>
          </a:prstGeom>
        </p:spPr>
      </p:pic>
      <p:sp>
        <p:nvSpPr>
          <p:cNvPr id="16" name="node-14"/>
          <p:cNvSpPr/>
          <p:nvPr/>
        </p:nvSpPr>
        <p:spPr>
          <a:xfrm>
            <a:off x="7718387" y="1318945"/>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17" name="robot-15" descr="/home/claude/work/assets/robot2.png"/>
          <p:cNvPicPr>
            <a:picLocks noChangeAspect="1"/>
          </p:cNvPicPr>
          <p:nvPr/>
        </p:nvPicPr>
        <p:blipFill>
          <a:blip r:embed="rId4"/>
          <a:stretch>
            <a:fillRect/>
          </a:stretch>
        </p:blipFill>
        <p:spPr>
          <a:xfrm>
            <a:off x="7800683" y="1401241"/>
            <a:ext cx="493776" cy="493776"/>
          </a:xfrm>
          <a:prstGeom prst="rect">
            <a:avLst/>
          </a:prstGeom>
        </p:spPr>
      </p:pic>
      <p:sp>
        <p:nvSpPr>
          <p:cNvPr id="18" name="node-16"/>
          <p:cNvSpPr/>
          <p:nvPr/>
        </p:nvSpPr>
        <p:spPr>
          <a:xfrm>
            <a:off x="8000895" y="2556693"/>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19" name="robot-17" descr="/home/claude/work/assets/robot3.png"/>
          <p:cNvPicPr>
            <a:picLocks noChangeAspect="1"/>
          </p:cNvPicPr>
          <p:nvPr/>
        </p:nvPicPr>
        <p:blipFill>
          <a:blip r:embed="rId5"/>
          <a:stretch>
            <a:fillRect/>
          </a:stretch>
        </p:blipFill>
        <p:spPr>
          <a:xfrm>
            <a:off x="8083191" y="2638989"/>
            <a:ext cx="493776" cy="493776"/>
          </a:xfrm>
          <a:prstGeom prst="rect">
            <a:avLst/>
          </a:prstGeom>
        </p:spPr>
      </p:pic>
      <p:sp>
        <p:nvSpPr>
          <p:cNvPr id="20" name="node-18"/>
          <p:cNvSpPr/>
          <p:nvPr/>
        </p:nvSpPr>
        <p:spPr>
          <a:xfrm>
            <a:off x="7209325" y="3549289"/>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21" name="robot-19" descr="/home/claude/work/assets/robot4.png"/>
          <p:cNvPicPr>
            <a:picLocks noChangeAspect="1"/>
          </p:cNvPicPr>
          <p:nvPr/>
        </p:nvPicPr>
        <p:blipFill>
          <a:blip r:embed="rId6"/>
          <a:stretch>
            <a:fillRect/>
          </a:stretch>
        </p:blipFill>
        <p:spPr>
          <a:xfrm>
            <a:off x="7291621" y="3631585"/>
            <a:ext cx="493776" cy="493776"/>
          </a:xfrm>
          <a:prstGeom prst="rect">
            <a:avLst/>
          </a:prstGeom>
        </p:spPr>
      </p:pic>
      <p:sp>
        <p:nvSpPr>
          <p:cNvPr id="22" name="node-20"/>
          <p:cNvSpPr/>
          <p:nvPr/>
        </p:nvSpPr>
        <p:spPr>
          <a:xfrm>
            <a:off x="5939747" y="3549289"/>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23" name="robot-21" descr="/home/claude/work/assets/robot5.png"/>
          <p:cNvPicPr>
            <a:picLocks noChangeAspect="1"/>
          </p:cNvPicPr>
          <p:nvPr/>
        </p:nvPicPr>
        <p:blipFill>
          <a:blip r:embed="rId7"/>
          <a:stretch>
            <a:fillRect/>
          </a:stretch>
        </p:blipFill>
        <p:spPr>
          <a:xfrm>
            <a:off x="6022043" y="3631585"/>
            <a:ext cx="493776" cy="493776"/>
          </a:xfrm>
          <a:prstGeom prst="rect">
            <a:avLst/>
          </a:prstGeom>
        </p:spPr>
      </p:pic>
      <p:sp>
        <p:nvSpPr>
          <p:cNvPr id="24" name="node-22"/>
          <p:cNvSpPr/>
          <p:nvPr/>
        </p:nvSpPr>
        <p:spPr>
          <a:xfrm>
            <a:off x="5148177" y="2556693"/>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25" name="robot-23" descr="/home/claude/work/assets/robot6.png"/>
          <p:cNvPicPr>
            <a:picLocks noChangeAspect="1"/>
          </p:cNvPicPr>
          <p:nvPr/>
        </p:nvPicPr>
        <p:blipFill>
          <a:blip r:embed="rId8"/>
          <a:stretch>
            <a:fillRect/>
          </a:stretch>
        </p:blipFill>
        <p:spPr>
          <a:xfrm>
            <a:off x="5230473" y="2638989"/>
            <a:ext cx="493776" cy="493776"/>
          </a:xfrm>
          <a:prstGeom prst="rect">
            <a:avLst/>
          </a:prstGeom>
        </p:spPr>
      </p:pic>
      <p:sp>
        <p:nvSpPr>
          <p:cNvPr id="26" name="node-24"/>
          <p:cNvSpPr/>
          <p:nvPr/>
        </p:nvSpPr>
        <p:spPr>
          <a:xfrm>
            <a:off x="5430685" y="1318945"/>
            <a:ext cx="658368" cy="658368"/>
          </a:xfrm>
          <a:prstGeom prst="ellipse">
            <a:avLst/>
          </a:prstGeom>
          <a:solidFill>
            <a:schemeClr val="accent1"/>
          </a:solidFill>
          <a:ln w="15875">
            <a:solidFill>
              <a:schemeClr val="accent3"/>
            </a:solidFill>
            <a:prstDash val="solid"/>
          </a:ln>
        </p:spPr>
        <p:txBody>
          <a:bodyPr/>
          <a:lstStyle/>
          <a:p>
            <a:endParaRPr lang="en-US"/>
          </a:p>
        </p:txBody>
      </p:sp>
      <p:pic>
        <p:nvPicPr>
          <p:cNvPr id="27" name="robot-25" descr="/home/claude/work/assets/robot7.png"/>
          <p:cNvPicPr>
            <a:picLocks noChangeAspect="1"/>
          </p:cNvPicPr>
          <p:nvPr/>
        </p:nvPicPr>
        <p:blipFill>
          <a:blip r:embed="rId9"/>
          <a:stretch>
            <a:fillRect/>
          </a:stretch>
        </p:blipFill>
        <p:spPr>
          <a:xfrm>
            <a:off x="5512981" y="1401241"/>
            <a:ext cx="493776" cy="493776"/>
          </a:xfrm>
          <a:prstGeom prst="rect">
            <a:avLst/>
          </a:prstGeom>
        </p:spPr>
      </p:pic>
      <p:sp>
        <p:nvSpPr>
          <p:cNvPr id="28" name="badge-26"/>
          <p:cNvSpPr/>
          <p:nvPr/>
        </p:nvSpPr>
        <p:spPr>
          <a:xfrm>
            <a:off x="6446520" y="2103120"/>
            <a:ext cx="914400" cy="914400"/>
          </a:xfrm>
          <a:prstGeom prst="ellipse">
            <a:avLst/>
          </a:prstGeom>
          <a:solidFill>
            <a:schemeClr val="accent2"/>
          </a:solidFill>
          <a:ln/>
        </p:spPr>
        <p:txBody>
          <a:bodyPr/>
          <a:lstStyle/>
          <a:p>
            <a:endParaRPr lang="en-US"/>
          </a:p>
        </p:txBody>
      </p:sp>
      <p:pic>
        <p:nvPicPr>
          <p:cNvPr id="29" name="icon-27" descr="preencoded.png"/>
          <p:cNvPicPr>
            <a:picLocks noChangeAspect="1"/>
          </p:cNvPicPr>
          <p:nvPr/>
        </p:nvPicPr>
        <p:blipFill>
          <a:blip r:embed="rId10"/>
          <a:stretch>
            <a:fillRect/>
          </a:stretch>
        </p:blipFill>
        <p:spPr>
          <a:xfrm>
            <a:off x="6647688" y="2304288"/>
            <a:ext cx="512064" cy="512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AGENDA</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we'll cover</a:t>
            </a:r>
            <a:endParaRPr lang="en-US" sz="2800" dirty="0"/>
          </a:p>
        </p:txBody>
      </p:sp>
      <p:sp>
        <p:nvSpPr>
          <p:cNvPr id="4" name="card-28"/>
          <p:cNvSpPr/>
          <p:nvPr/>
        </p:nvSpPr>
        <p:spPr>
          <a:xfrm>
            <a:off x="457200" y="1188720"/>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5" name="num-29"/>
          <p:cNvSpPr/>
          <p:nvPr/>
        </p:nvSpPr>
        <p:spPr>
          <a:xfrm>
            <a:off x="566928" y="1280160"/>
            <a:ext cx="320040" cy="320040"/>
          </a:xfrm>
          <a:prstGeom prst="ellipse">
            <a:avLst/>
          </a:prstGeom>
          <a:solidFill>
            <a:schemeClr val="accent1"/>
          </a:solidFill>
          <a:ln/>
        </p:spPr>
        <p:txBody>
          <a:bodyPr/>
          <a:lstStyle/>
          <a:p>
            <a:endParaRPr lang="en-US"/>
          </a:p>
        </p:txBody>
      </p:sp>
      <p:sp>
        <p:nvSpPr>
          <p:cNvPr id="6" name="text-30"/>
          <p:cNvSpPr txBox="1"/>
          <p:nvPr/>
        </p:nvSpPr>
        <p:spPr>
          <a:xfrm>
            <a:off x="566928" y="1280160"/>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7" name="text-31"/>
          <p:cNvSpPr txBox="1"/>
          <p:nvPr/>
        </p:nvSpPr>
        <p:spPr>
          <a:xfrm>
            <a:off x="1005840" y="1234440"/>
            <a:ext cx="3383280" cy="228600"/>
          </a:xfrm>
          <a:prstGeom prst="rect">
            <a:avLst/>
          </a:prstGeom>
          <a:noFill/>
          <a:ln/>
        </p:spPr>
        <p:txBody>
          <a:bodyPr wrap="square" lIns="0" tIns="0" rIns="0" bIns="0" rtlCol="0" anchor="t"/>
          <a:lstStyle/>
          <a:p>
            <a:pPr marL="0" indent="0">
              <a:buNone/>
            </a:pPr>
            <a:r>
              <a:rPr lang="en-US" sz="1250" b="1" dirty="0">
                <a:solidFill>
                  <a:schemeClr val="tx2"/>
                </a:solidFill>
              </a:rPr>
              <a:t>Team roles and responsibilities</a:t>
            </a:r>
            <a:endParaRPr lang="en-US" sz="1250" dirty="0"/>
          </a:p>
        </p:txBody>
      </p:sp>
      <p:sp>
        <p:nvSpPr>
          <p:cNvPr id="8" name="text-32"/>
          <p:cNvSpPr txBox="1"/>
          <p:nvPr/>
        </p:nvSpPr>
        <p:spPr>
          <a:xfrm>
            <a:off x="1005840" y="1453896"/>
            <a:ext cx="3383280" cy="201168"/>
          </a:xfrm>
          <a:prstGeom prst="rect">
            <a:avLst/>
          </a:prstGeom>
          <a:noFill/>
          <a:ln/>
        </p:spPr>
        <p:txBody>
          <a:bodyPr wrap="square" lIns="0" tIns="0" rIns="0" bIns="0" rtlCol="0" anchor="t"/>
          <a:lstStyle/>
          <a:p>
            <a:pPr marL="0" indent="0">
              <a:buNone/>
            </a:pPr>
            <a:r>
              <a:rPr lang="en-US" sz="1000" dirty="0">
                <a:solidFill>
                  <a:schemeClr val="tx1"/>
                </a:solidFill>
              </a:rPr>
              <a:t>Who owns what</a:t>
            </a:r>
            <a:endParaRPr lang="en-US" sz="1000" dirty="0"/>
          </a:p>
        </p:txBody>
      </p:sp>
      <p:sp>
        <p:nvSpPr>
          <p:cNvPr id="9" name="card-33"/>
          <p:cNvSpPr/>
          <p:nvPr/>
        </p:nvSpPr>
        <p:spPr>
          <a:xfrm>
            <a:off x="457200" y="1764792"/>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10" name="num-34"/>
          <p:cNvSpPr/>
          <p:nvPr/>
        </p:nvSpPr>
        <p:spPr>
          <a:xfrm>
            <a:off x="566928" y="1856232"/>
            <a:ext cx="320040" cy="320040"/>
          </a:xfrm>
          <a:prstGeom prst="ellipse">
            <a:avLst/>
          </a:prstGeom>
          <a:solidFill>
            <a:schemeClr val="accent2"/>
          </a:solidFill>
          <a:ln/>
        </p:spPr>
        <p:txBody>
          <a:bodyPr/>
          <a:lstStyle/>
          <a:p>
            <a:endParaRPr lang="en-US"/>
          </a:p>
        </p:txBody>
      </p:sp>
      <p:sp>
        <p:nvSpPr>
          <p:cNvPr id="11" name="text-35"/>
          <p:cNvSpPr txBox="1"/>
          <p:nvPr/>
        </p:nvSpPr>
        <p:spPr>
          <a:xfrm>
            <a:off x="566928" y="1856232"/>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2</a:t>
            </a:r>
            <a:endParaRPr lang="en-US" sz="1100" dirty="0"/>
          </a:p>
        </p:txBody>
      </p:sp>
      <p:sp>
        <p:nvSpPr>
          <p:cNvPr id="12" name="text-36"/>
          <p:cNvSpPr txBox="1"/>
          <p:nvPr/>
        </p:nvSpPr>
        <p:spPr>
          <a:xfrm>
            <a:off x="1005840" y="1810512"/>
            <a:ext cx="3383280" cy="228600"/>
          </a:xfrm>
          <a:prstGeom prst="rect">
            <a:avLst/>
          </a:prstGeom>
          <a:noFill/>
          <a:ln/>
        </p:spPr>
        <p:txBody>
          <a:bodyPr wrap="square" lIns="0" tIns="0" rIns="0" bIns="0" rtlCol="0" anchor="t"/>
          <a:lstStyle/>
          <a:p>
            <a:pPr marL="0" indent="0">
              <a:buNone/>
            </a:pPr>
            <a:r>
              <a:rPr lang="en-US" sz="1250" b="1" dirty="0">
                <a:solidFill>
                  <a:schemeClr val="tx2"/>
                </a:solidFill>
              </a:rPr>
              <a:t>Improvements from feedback</a:t>
            </a:r>
            <a:endParaRPr lang="en-US" sz="1250" dirty="0"/>
          </a:p>
        </p:txBody>
      </p:sp>
      <p:sp>
        <p:nvSpPr>
          <p:cNvPr id="13" name="text-37"/>
          <p:cNvSpPr txBox="1"/>
          <p:nvPr/>
        </p:nvSpPr>
        <p:spPr>
          <a:xfrm>
            <a:off x="1005840" y="2029968"/>
            <a:ext cx="3383280" cy="201168"/>
          </a:xfrm>
          <a:prstGeom prst="rect">
            <a:avLst/>
          </a:prstGeom>
          <a:noFill/>
          <a:ln/>
        </p:spPr>
        <p:txBody>
          <a:bodyPr wrap="square" lIns="0" tIns="0" rIns="0" bIns="0" rtlCol="0" anchor="t"/>
          <a:lstStyle/>
          <a:p>
            <a:pPr marL="0" indent="0">
              <a:buNone/>
            </a:pPr>
            <a:r>
              <a:rPr lang="en-US" sz="1000" dirty="0">
                <a:solidFill>
                  <a:schemeClr val="tx1"/>
                </a:solidFill>
              </a:rPr>
              <a:t>What we changed since Sprint 0</a:t>
            </a:r>
            <a:endParaRPr lang="en-US" sz="1000" dirty="0"/>
          </a:p>
        </p:txBody>
      </p:sp>
      <p:sp>
        <p:nvSpPr>
          <p:cNvPr id="14" name="card-38"/>
          <p:cNvSpPr/>
          <p:nvPr/>
        </p:nvSpPr>
        <p:spPr>
          <a:xfrm>
            <a:off x="457200" y="2340864"/>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15" name="num-39"/>
          <p:cNvSpPr/>
          <p:nvPr/>
        </p:nvSpPr>
        <p:spPr>
          <a:xfrm>
            <a:off x="566928" y="2432304"/>
            <a:ext cx="320040" cy="320040"/>
          </a:xfrm>
          <a:prstGeom prst="ellipse">
            <a:avLst/>
          </a:prstGeom>
          <a:solidFill>
            <a:schemeClr val="accent1"/>
          </a:solidFill>
          <a:ln/>
        </p:spPr>
        <p:txBody>
          <a:bodyPr/>
          <a:lstStyle/>
          <a:p>
            <a:endParaRPr lang="en-US"/>
          </a:p>
        </p:txBody>
      </p:sp>
      <p:sp>
        <p:nvSpPr>
          <p:cNvPr id="16" name="text-40"/>
          <p:cNvSpPr txBox="1"/>
          <p:nvPr/>
        </p:nvSpPr>
        <p:spPr>
          <a:xfrm>
            <a:off x="566928" y="2432304"/>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7" name="text-41"/>
          <p:cNvSpPr txBox="1"/>
          <p:nvPr/>
        </p:nvSpPr>
        <p:spPr>
          <a:xfrm>
            <a:off x="1005840" y="2386584"/>
            <a:ext cx="3383280" cy="228600"/>
          </a:xfrm>
          <a:prstGeom prst="rect">
            <a:avLst/>
          </a:prstGeom>
          <a:noFill/>
          <a:ln/>
        </p:spPr>
        <p:txBody>
          <a:bodyPr wrap="square" lIns="0" tIns="0" rIns="0" bIns="0" rtlCol="0" anchor="t"/>
          <a:lstStyle/>
          <a:p>
            <a:pPr marL="0" indent="0">
              <a:buNone/>
            </a:pPr>
            <a:r>
              <a:rPr lang="en-US" sz="1250" b="1" dirty="0">
                <a:solidFill>
                  <a:schemeClr val="tx2"/>
                </a:solidFill>
              </a:rPr>
              <a:t>Project description</a:t>
            </a:r>
            <a:endParaRPr lang="en-US" sz="1250" dirty="0"/>
          </a:p>
        </p:txBody>
      </p:sp>
      <p:sp>
        <p:nvSpPr>
          <p:cNvPr id="18" name="text-42"/>
          <p:cNvSpPr txBox="1"/>
          <p:nvPr/>
        </p:nvSpPr>
        <p:spPr>
          <a:xfrm>
            <a:off x="1005840" y="2606040"/>
            <a:ext cx="3383280" cy="201168"/>
          </a:xfrm>
          <a:prstGeom prst="rect">
            <a:avLst/>
          </a:prstGeom>
          <a:noFill/>
          <a:ln/>
        </p:spPr>
        <p:txBody>
          <a:bodyPr wrap="square" lIns="0" tIns="0" rIns="0" bIns="0" rtlCol="0" anchor="t"/>
          <a:lstStyle/>
          <a:p>
            <a:pPr marL="0" indent="0">
              <a:buNone/>
            </a:pPr>
            <a:r>
              <a:rPr lang="en-US" sz="1000" dirty="0">
                <a:solidFill>
                  <a:schemeClr val="tx1"/>
                </a:solidFill>
              </a:rPr>
              <a:t>What AgentMesh is</a:t>
            </a:r>
            <a:endParaRPr lang="en-US" sz="1000" dirty="0"/>
          </a:p>
        </p:txBody>
      </p:sp>
      <p:sp>
        <p:nvSpPr>
          <p:cNvPr id="19" name="card-43"/>
          <p:cNvSpPr/>
          <p:nvPr/>
        </p:nvSpPr>
        <p:spPr>
          <a:xfrm>
            <a:off x="457200" y="2916936"/>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20" name="num-44"/>
          <p:cNvSpPr/>
          <p:nvPr/>
        </p:nvSpPr>
        <p:spPr>
          <a:xfrm>
            <a:off x="566928" y="3008376"/>
            <a:ext cx="320040" cy="320040"/>
          </a:xfrm>
          <a:prstGeom prst="ellipse">
            <a:avLst/>
          </a:prstGeom>
          <a:solidFill>
            <a:schemeClr val="accent2"/>
          </a:solidFill>
          <a:ln/>
        </p:spPr>
        <p:txBody>
          <a:bodyPr/>
          <a:lstStyle/>
          <a:p>
            <a:endParaRPr lang="en-US"/>
          </a:p>
        </p:txBody>
      </p:sp>
      <p:sp>
        <p:nvSpPr>
          <p:cNvPr id="21" name="text-45"/>
          <p:cNvSpPr txBox="1"/>
          <p:nvPr/>
        </p:nvSpPr>
        <p:spPr>
          <a:xfrm>
            <a:off x="566928" y="3008376"/>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4</a:t>
            </a:r>
            <a:endParaRPr lang="en-US" sz="1100" dirty="0"/>
          </a:p>
        </p:txBody>
      </p:sp>
      <p:sp>
        <p:nvSpPr>
          <p:cNvPr id="22" name="text-46"/>
          <p:cNvSpPr txBox="1"/>
          <p:nvPr/>
        </p:nvSpPr>
        <p:spPr>
          <a:xfrm>
            <a:off x="1005840" y="2962656"/>
            <a:ext cx="3383280" cy="228600"/>
          </a:xfrm>
          <a:prstGeom prst="rect">
            <a:avLst/>
          </a:prstGeom>
          <a:noFill/>
          <a:ln/>
        </p:spPr>
        <p:txBody>
          <a:bodyPr wrap="square" lIns="0" tIns="0" rIns="0" bIns="0" rtlCol="0" anchor="t"/>
          <a:lstStyle/>
          <a:p>
            <a:pPr marL="0" indent="0">
              <a:buNone/>
            </a:pPr>
            <a:r>
              <a:rPr lang="en-US" sz="1250" b="1" dirty="0">
                <a:solidFill>
                  <a:schemeClr val="tx2"/>
                </a:solidFill>
              </a:rPr>
              <a:t>Team working agreement</a:t>
            </a:r>
            <a:endParaRPr lang="en-US" sz="1250" dirty="0"/>
          </a:p>
        </p:txBody>
      </p:sp>
      <p:sp>
        <p:nvSpPr>
          <p:cNvPr id="23" name="text-47"/>
          <p:cNvSpPr txBox="1"/>
          <p:nvPr/>
        </p:nvSpPr>
        <p:spPr>
          <a:xfrm>
            <a:off x="1005840" y="3182112"/>
            <a:ext cx="3383280" cy="201168"/>
          </a:xfrm>
          <a:prstGeom prst="rect">
            <a:avLst/>
          </a:prstGeom>
          <a:noFill/>
          <a:ln/>
        </p:spPr>
        <p:txBody>
          <a:bodyPr wrap="square" lIns="0" tIns="0" rIns="0" bIns="0" rtlCol="0" anchor="t"/>
          <a:lstStyle/>
          <a:p>
            <a:pPr marL="0" indent="0">
              <a:buNone/>
            </a:pPr>
            <a:r>
              <a:rPr lang="en-US" sz="1000" dirty="0">
                <a:solidFill>
                  <a:schemeClr val="tx1"/>
                </a:solidFill>
              </a:rPr>
              <a:t>How we work together</a:t>
            </a:r>
            <a:endParaRPr lang="en-US" sz="1000" dirty="0"/>
          </a:p>
        </p:txBody>
      </p:sp>
      <p:sp>
        <p:nvSpPr>
          <p:cNvPr id="24" name="card-48"/>
          <p:cNvSpPr/>
          <p:nvPr/>
        </p:nvSpPr>
        <p:spPr>
          <a:xfrm>
            <a:off x="457200" y="3493008"/>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25" name="num-49"/>
          <p:cNvSpPr/>
          <p:nvPr/>
        </p:nvSpPr>
        <p:spPr>
          <a:xfrm>
            <a:off x="566928" y="3584448"/>
            <a:ext cx="320040" cy="320040"/>
          </a:xfrm>
          <a:prstGeom prst="ellipse">
            <a:avLst/>
          </a:prstGeom>
          <a:solidFill>
            <a:schemeClr val="accent1"/>
          </a:solidFill>
          <a:ln/>
        </p:spPr>
        <p:txBody>
          <a:bodyPr/>
          <a:lstStyle/>
          <a:p>
            <a:endParaRPr lang="en-US"/>
          </a:p>
        </p:txBody>
      </p:sp>
      <p:sp>
        <p:nvSpPr>
          <p:cNvPr id="26" name="text-50"/>
          <p:cNvSpPr txBox="1"/>
          <p:nvPr/>
        </p:nvSpPr>
        <p:spPr>
          <a:xfrm>
            <a:off x="566928" y="3584448"/>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7" name="text-51"/>
          <p:cNvSpPr txBox="1"/>
          <p:nvPr/>
        </p:nvSpPr>
        <p:spPr>
          <a:xfrm>
            <a:off x="1005840" y="3538728"/>
            <a:ext cx="3383280" cy="228600"/>
          </a:xfrm>
          <a:prstGeom prst="rect">
            <a:avLst/>
          </a:prstGeom>
          <a:noFill/>
          <a:ln/>
        </p:spPr>
        <p:txBody>
          <a:bodyPr wrap="square" lIns="0" tIns="0" rIns="0" bIns="0" rtlCol="0" anchor="t"/>
          <a:lstStyle/>
          <a:p>
            <a:pPr marL="0" indent="0">
              <a:buNone/>
            </a:pPr>
            <a:r>
              <a:rPr lang="en-US" sz="1250" b="1" dirty="0">
                <a:solidFill>
                  <a:schemeClr val="tx2"/>
                </a:solidFill>
              </a:rPr>
              <a:t>Personas and MVP</a:t>
            </a:r>
            <a:endParaRPr lang="en-US" sz="1250" dirty="0"/>
          </a:p>
        </p:txBody>
      </p:sp>
      <p:sp>
        <p:nvSpPr>
          <p:cNvPr id="28" name="text-52"/>
          <p:cNvSpPr txBox="1"/>
          <p:nvPr/>
        </p:nvSpPr>
        <p:spPr>
          <a:xfrm>
            <a:off x="1005840" y="3758184"/>
            <a:ext cx="3383280" cy="201168"/>
          </a:xfrm>
          <a:prstGeom prst="rect">
            <a:avLst/>
          </a:prstGeom>
          <a:noFill/>
          <a:ln/>
        </p:spPr>
        <p:txBody>
          <a:bodyPr wrap="square" lIns="0" tIns="0" rIns="0" bIns="0" rtlCol="0" anchor="t"/>
          <a:lstStyle/>
          <a:p>
            <a:pPr marL="0" indent="0">
              <a:buNone/>
            </a:pPr>
            <a:r>
              <a:rPr lang="en-US" sz="1000" dirty="0">
                <a:solidFill>
                  <a:schemeClr val="tx1"/>
                </a:solidFill>
              </a:rPr>
              <a:t>Who it is for, what they can use</a:t>
            </a:r>
            <a:endParaRPr lang="en-US" sz="1000" dirty="0"/>
          </a:p>
        </p:txBody>
      </p:sp>
      <p:sp>
        <p:nvSpPr>
          <p:cNvPr id="29" name="card-53"/>
          <p:cNvSpPr/>
          <p:nvPr/>
        </p:nvSpPr>
        <p:spPr>
          <a:xfrm>
            <a:off x="457200" y="4069080"/>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30" name="num-54"/>
          <p:cNvSpPr/>
          <p:nvPr/>
        </p:nvSpPr>
        <p:spPr>
          <a:xfrm>
            <a:off x="566928" y="4160520"/>
            <a:ext cx="320040" cy="320040"/>
          </a:xfrm>
          <a:prstGeom prst="ellipse">
            <a:avLst/>
          </a:prstGeom>
          <a:solidFill>
            <a:schemeClr val="accent2"/>
          </a:solidFill>
          <a:ln/>
        </p:spPr>
        <p:txBody>
          <a:bodyPr/>
          <a:lstStyle/>
          <a:p>
            <a:endParaRPr lang="en-US"/>
          </a:p>
        </p:txBody>
      </p:sp>
      <p:sp>
        <p:nvSpPr>
          <p:cNvPr id="31" name="text-55"/>
          <p:cNvSpPr txBox="1"/>
          <p:nvPr/>
        </p:nvSpPr>
        <p:spPr>
          <a:xfrm>
            <a:off x="566928" y="4160520"/>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6</a:t>
            </a:r>
            <a:endParaRPr lang="en-US" sz="1100" dirty="0"/>
          </a:p>
        </p:txBody>
      </p:sp>
      <p:sp>
        <p:nvSpPr>
          <p:cNvPr id="32" name="text-56"/>
          <p:cNvSpPr txBox="1"/>
          <p:nvPr/>
        </p:nvSpPr>
        <p:spPr>
          <a:xfrm>
            <a:off x="1005840" y="4114800"/>
            <a:ext cx="3383280" cy="228600"/>
          </a:xfrm>
          <a:prstGeom prst="rect">
            <a:avLst/>
          </a:prstGeom>
          <a:noFill/>
          <a:ln/>
        </p:spPr>
        <p:txBody>
          <a:bodyPr wrap="square" lIns="0" tIns="0" rIns="0" bIns="0" rtlCol="0" anchor="t"/>
          <a:lstStyle/>
          <a:p>
            <a:pPr marL="0" indent="0">
              <a:buNone/>
            </a:pPr>
            <a:r>
              <a:rPr lang="en-US" sz="1250" b="1" dirty="0">
                <a:solidFill>
                  <a:schemeClr val="tx2"/>
                </a:solidFill>
              </a:rPr>
              <a:t>Technologies and algorithms</a:t>
            </a:r>
            <a:endParaRPr lang="en-US" sz="1250" dirty="0"/>
          </a:p>
        </p:txBody>
      </p:sp>
      <p:sp>
        <p:nvSpPr>
          <p:cNvPr id="33" name="text-57"/>
          <p:cNvSpPr txBox="1"/>
          <p:nvPr/>
        </p:nvSpPr>
        <p:spPr>
          <a:xfrm>
            <a:off x="1005840" y="4334256"/>
            <a:ext cx="3383280" cy="201168"/>
          </a:xfrm>
          <a:prstGeom prst="rect">
            <a:avLst/>
          </a:prstGeom>
          <a:noFill/>
          <a:ln/>
        </p:spPr>
        <p:txBody>
          <a:bodyPr wrap="square" lIns="0" tIns="0" rIns="0" bIns="0" rtlCol="0" anchor="t"/>
          <a:lstStyle/>
          <a:p>
            <a:pPr marL="0" indent="0">
              <a:buNone/>
            </a:pPr>
            <a:r>
              <a:rPr lang="en-US" sz="1000" dirty="0">
                <a:solidFill>
                  <a:schemeClr val="tx1"/>
                </a:solidFill>
              </a:rPr>
              <a:t>The stack and the logic</a:t>
            </a:r>
            <a:endParaRPr lang="en-US" sz="1000" dirty="0"/>
          </a:p>
        </p:txBody>
      </p:sp>
      <p:sp>
        <p:nvSpPr>
          <p:cNvPr id="34" name="card-58"/>
          <p:cNvSpPr/>
          <p:nvPr/>
        </p:nvSpPr>
        <p:spPr>
          <a:xfrm>
            <a:off x="4663440" y="1188720"/>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35" name="num-59"/>
          <p:cNvSpPr/>
          <p:nvPr/>
        </p:nvSpPr>
        <p:spPr>
          <a:xfrm>
            <a:off x="4773168" y="1280160"/>
            <a:ext cx="320040" cy="320040"/>
          </a:xfrm>
          <a:prstGeom prst="ellipse">
            <a:avLst/>
          </a:prstGeom>
          <a:solidFill>
            <a:schemeClr val="accent1"/>
          </a:solidFill>
          <a:ln/>
        </p:spPr>
        <p:txBody>
          <a:bodyPr/>
          <a:lstStyle/>
          <a:p>
            <a:endParaRPr lang="en-US"/>
          </a:p>
        </p:txBody>
      </p:sp>
      <p:sp>
        <p:nvSpPr>
          <p:cNvPr id="36" name="text-60"/>
          <p:cNvSpPr txBox="1"/>
          <p:nvPr/>
        </p:nvSpPr>
        <p:spPr>
          <a:xfrm>
            <a:off x="4773168" y="1280160"/>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37" name="text-61"/>
          <p:cNvSpPr txBox="1"/>
          <p:nvPr/>
        </p:nvSpPr>
        <p:spPr>
          <a:xfrm>
            <a:off x="5212080" y="1234440"/>
            <a:ext cx="3383280" cy="228600"/>
          </a:xfrm>
          <a:prstGeom prst="rect">
            <a:avLst/>
          </a:prstGeom>
          <a:noFill/>
          <a:ln/>
        </p:spPr>
        <p:txBody>
          <a:bodyPr wrap="square" lIns="0" tIns="0" rIns="0" bIns="0" rtlCol="0" anchor="t"/>
          <a:lstStyle/>
          <a:p>
            <a:pPr marL="0" indent="0">
              <a:buNone/>
            </a:pPr>
            <a:r>
              <a:rPr lang="en-US" sz="1250" b="1" dirty="0">
                <a:solidFill>
                  <a:schemeClr val="tx2"/>
                </a:solidFill>
              </a:rPr>
              <a:t>Diagrams</a:t>
            </a:r>
            <a:endParaRPr lang="en-US" sz="1250" dirty="0"/>
          </a:p>
        </p:txBody>
      </p:sp>
      <p:sp>
        <p:nvSpPr>
          <p:cNvPr id="38" name="text-62"/>
          <p:cNvSpPr txBox="1"/>
          <p:nvPr/>
        </p:nvSpPr>
        <p:spPr>
          <a:xfrm>
            <a:off x="5212080" y="1453896"/>
            <a:ext cx="3383280" cy="201168"/>
          </a:xfrm>
          <a:prstGeom prst="rect">
            <a:avLst/>
          </a:prstGeom>
          <a:noFill/>
          <a:ln/>
        </p:spPr>
        <p:txBody>
          <a:bodyPr wrap="square" lIns="0" tIns="0" rIns="0" bIns="0" rtlCol="0" anchor="t"/>
          <a:lstStyle/>
          <a:p>
            <a:pPr marL="0" indent="0">
              <a:buNone/>
            </a:pPr>
            <a:r>
              <a:rPr lang="en-US" sz="1000" dirty="0">
                <a:solidFill>
                  <a:schemeClr val="tx1"/>
                </a:solidFill>
              </a:rPr>
              <a:t>Architecture, context, ER, sequence, state, class</a:t>
            </a:r>
            <a:endParaRPr lang="en-US" sz="1000" dirty="0"/>
          </a:p>
        </p:txBody>
      </p:sp>
      <p:sp>
        <p:nvSpPr>
          <p:cNvPr id="39" name="card-63"/>
          <p:cNvSpPr/>
          <p:nvPr/>
        </p:nvSpPr>
        <p:spPr>
          <a:xfrm>
            <a:off x="4663440" y="1764792"/>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40" name="num-64"/>
          <p:cNvSpPr/>
          <p:nvPr/>
        </p:nvSpPr>
        <p:spPr>
          <a:xfrm>
            <a:off x="4773168" y="1856232"/>
            <a:ext cx="320040" cy="320040"/>
          </a:xfrm>
          <a:prstGeom prst="ellipse">
            <a:avLst/>
          </a:prstGeom>
          <a:solidFill>
            <a:schemeClr val="accent2"/>
          </a:solidFill>
          <a:ln/>
        </p:spPr>
        <p:txBody>
          <a:bodyPr/>
          <a:lstStyle/>
          <a:p>
            <a:endParaRPr lang="en-US"/>
          </a:p>
        </p:txBody>
      </p:sp>
      <p:sp>
        <p:nvSpPr>
          <p:cNvPr id="41" name="text-65"/>
          <p:cNvSpPr txBox="1"/>
          <p:nvPr/>
        </p:nvSpPr>
        <p:spPr>
          <a:xfrm>
            <a:off x="4773168" y="1856232"/>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8</a:t>
            </a:r>
            <a:endParaRPr lang="en-US" sz="1100" dirty="0"/>
          </a:p>
        </p:txBody>
      </p:sp>
      <p:sp>
        <p:nvSpPr>
          <p:cNvPr id="42" name="text-66"/>
          <p:cNvSpPr txBox="1"/>
          <p:nvPr/>
        </p:nvSpPr>
        <p:spPr>
          <a:xfrm>
            <a:off x="5212080" y="1810512"/>
            <a:ext cx="3383280" cy="228600"/>
          </a:xfrm>
          <a:prstGeom prst="rect">
            <a:avLst/>
          </a:prstGeom>
          <a:noFill/>
          <a:ln/>
        </p:spPr>
        <p:txBody>
          <a:bodyPr wrap="square" lIns="0" tIns="0" rIns="0" bIns="0" rtlCol="0" anchor="t"/>
          <a:lstStyle/>
          <a:p>
            <a:pPr marL="0" indent="0">
              <a:buNone/>
            </a:pPr>
            <a:r>
              <a:rPr lang="en-US" sz="1250" b="1" dirty="0">
                <a:solidFill>
                  <a:schemeClr val="tx2"/>
                </a:solidFill>
              </a:rPr>
              <a:t>Product and Sprint 1 backlog</a:t>
            </a:r>
            <a:endParaRPr lang="en-US" sz="1250" dirty="0"/>
          </a:p>
        </p:txBody>
      </p:sp>
      <p:sp>
        <p:nvSpPr>
          <p:cNvPr id="43" name="text-67"/>
          <p:cNvSpPr txBox="1"/>
          <p:nvPr/>
        </p:nvSpPr>
        <p:spPr>
          <a:xfrm>
            <a:off x="5212080" y="2029968"/>
            <a:ext cx="3383280" cy="201168"/>
          </a:xfrm>
          <a:prstGeom prst="rect">
            <a:avLst/>
          </a:prstGeom>
          <a:noFill/>
          <a:ln/>
        </p:spPr>
        <p:txBody>
          <a:bodyPr wrap="square" lIns="0" tIns="0" rIns="0" bIns="0" rtlCol="0" anchor="t"/>
          <a:lstStyle/>
          <a:p>
            <a:pPr marL="0" indent="0">
              <a:buNone/>
            </a:pPr>
            <a:r>
              <a:rPr lang="en-US" sz="1000" dirty="0">
                <a:solidFill>
                  <a:schemeClr val="tx1"/>
                </a:solidFill>
              </a:rPr>
              <a:t>Stories, criteria, points, tasks</a:t>
            </a:r>
            <a:endParaRPr lang="en-US" sz="1000" dirty="0"/>
          </a:p>
        </p:txBody>
      </p:sp>
      <p:sp>
        <p:nvSpPr>
          <p:cNvPr id="44" name="card-68"/>
          <p:cNvSpPr/>
          <p:nvPr/>
        </p:nvSpPr>
        <p:spPr>
          <a:xfrm>
            <a:off x="4663440" y="2340864"/>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45" name="num-69"/>
          <p:cNvSpPr/>
          <p:nvPr/>
        </p:nvSpPr>
        <p:spPr>
          <a:xfrm>
            <a:off x="4773168" y="2432304"/>
            <a:ext cx="320040" cy="320040"/>
          </a:xfrm>
          <a:prstGeom prst="ellipse">
            <a:avLst/>
          </a:prstGeom>
          <a:solidFill>
            <a:schemeClr val="accent1"/>
          </a:solidFill>
          <a:ln/>
        </p:spPr>
        <p:txBody>
          <a:bodyPr/>
          <a:lstStyle/>
          <a:p>
            <a:endParaRPr lang="en-US"/>
          </a:p>
        </p:txBody>
      </p:sp>
      <p:sp>
        <p:nvSpPr>
          <p:cNvPr id="46" name="text-70"/>
          <p:cNvSpPr txBox="1"/>
          <p:nvPr/>
        </p:nvSpPr>
        <p:spPr>
          <a:xfrm>
            <a:off x="4773168" y="2432304"/>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9</a:t>
            </a:r>
            <a:endParaRPr lang="en-US" sz="1100" dirty="0"/>
          </a:p>
        </p:txBody>
      </p:sp>
      <p:sp>
        <p:nvSpPr>
          <p:cNvPr id="47" name="text-71"/>
          <p:cNvSpPr txBox="1"/>
          <p:nvPr/>
        </p:nvSpPr>
        <p:spPr>
          <a:xfrm>
            <a:off x="5212080" y="2386584"/>
            <a:ext cx="3383280" cy="228600"/>
          </a:xfrm>
          <a:prstGeom prst="rect">
            <a:avLst/>
          </a:prstGeom>
          <a:noFill/>
          <a:ln/>
        </p:spPr>
        <p:txBody>
          <a:bodyPr wrap="square" lIns="0" tIns="0" rIns="0" bIns="0" rtlCol="0" anchor="t"/>
          <a:lstStyle/>
          <a:p>
            <a:pPr marL="0" indent="0">
              <a:buNone/>
            </a:pPr>
            <a:r>
              <a:rPr lang="en-US" sz="1250" b="1" dirty="0">
                <a:solidFill>
                  <a:schemeClr val="tx2"/>
                </a:solidFill>
              </a:rPr>
              <a:t>Test cases</a:t>
            </a:r>
            <a:endParaRPr lang="en-US" sz="1250" dirty="0"/>
          </a:p>
        </p:txBody>
      </p:sp>
      <p:sp>
        <p:nvSpPr>
          <p:cNvPr id="48" name="text-72"/>
          <p:cNvSpPr txBox="1"/>
          <p:nvPr/>
        </p:nvSpPr>
        <p:spPr>
          <a:xfrm>
            <a:off x="5212080" y="2606040"/>
            <a:ext cx="3383280" cy="201168"/>
          </a:xfrm>
          <a:prstGeom prst="rect">
            <a:avLst/>
          </a:prstGeom>
          <a:noFill/>
          <a:ln/>
        </p:spPr>
        <p:txBody>
          <a:bodyPr wrap="square" lIns="0" tIns="0" rIns="0" bIns="0" rtlCol="0" anchor="t"/>
          <a:lstStyle/>
          <a:p>
            <a:pPr marL="0" indent="0">
              <a:buNone/>
            </a:pPr>
            <a:r>
              <a:rPr lang="en-US" sz="1000" dirty="0">
                <a:solidFill>
                  <a:schemeClr val="tx1"/>
                </a:solidFill>
              </a:rPr>
              <a:t>23 cases across US_01 to US_05</a:t>
            </a:r>
            <a:endParaRPr lang="en-US" sz="1000" dirty="0"/>
          </a:p>
        </p:txBody>
      </p:sp>
      <p:sp>
        <p:nvSpPr>
          <p:cNvPr id="49" name="card-73"/>
          <p:cNvSpPr/>
          <p:nvPr/>
        </p:nvSpPr>
        <p:spPr>
          <a:xfrm>
            <a:off x="4663440" y="2916936"/>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50" name="num-74"/>
          <p:cNvSpPr/>
          <p:nvPr/>
        </p:nvSpPr>
        <p:spPr>
          <a:xfrm>
            <a:off x="4773168" y="3008376"/>
            <a:ext cx="320040" cy="320040"/>
          </a:xfrm>
          <a:prstGeom prst="ellipse">
            <a:avLst/>
          </a:prstGeom>
          <a:solidFill>
            <a:schemeClr val="accent2"/>
          </a:solidFill>
          <a:ln/>
        </p:spPr>
        <p:txBody>
          <a:bodyPr/>
          <a:lstStyle/>
          <a:p>
            <a:endParaRPr lang="en-US"/>
          </a:p>
        </p:txBody>
      </p:sp>
      <p:sp>
        <p:nvSpPr>
          <p:cNvPr id="51" name="text-75"/>
          <p:cNvSpPr txBox="1"/>
          <p:nvPr/>
        </p:nvSpPr>
        <p:spPr>
          <a:xfrm>
            <a:off x="4773168" y="3008376"/>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10</a:t>
            </a:r>
            <a:endParaRPr lang="en-US" sz="1100" dirty="0"/>
          </a:p>
        </p:txBody>
      </p:sp>
      <p:sp>
        <p:nvSpPr>
          <p:cNvPr id="52" name="text-76"/>
          <p:cNvSpPr txBox="1"/>
          <p:nvPr/>
        </p:nvSpPr>
        <p:spPr>
          <a:xfrm>
            <a:off x="5212080" y="2962656"/>
            <a:ext cx="3383280" cy="228600"/>
          </a:xfrm>
          <a:prstGeom prst="rect">
            <a:avLst/>
          </a:prstGeom>
          <a:noFill/>
          <a:ln/>
        </p:spPr>
        <p:txBody>
          <a:bodyPr wrap="square" lIns="0" tIns="0" rIns="0" bIns="0" rtlCol="0" anchor="t"/>
          <a:lstStyle/>
          <a:p>
            <a:pPr marL="0" indent="0">
              <a:buNone/>
            </a:pPr>
            <a:r>
              <a:rPr lang="en-US" sz="1250" b="1" dirty="0">
                <a:solidFill>
                  <a:schemeClr val="tx2"/>
                </a:solidFill>
              </a:rPr>
              <a:t>Metrics</a:t>
            </a:r>
            <a:endParaRPr lang="en-US" sz="1250" dirty="0"/>
          </a:p>
        </p:txBody>
      </p:sp>
      <p:sp>
        <p:nvSpPr>
          <p:cNvPr id="53" name="text-77"/>
          <p:cNvSpPr txBox="1"/>
          <p:nvPr/>
        </p:nvSpPr>
        <p:spPr>
          <a:xfrm>
            <a:off x="5212080" y="3182112"/>
            <a:ext cx="3383280" cy="201168"/>
          </a:xfrm>
          <a:prstGeom prst="rect">
            <a:avLst/>
          </a:prstGeom>
          <a:noFill/>
          <a:ln/>
        </p:spPr>
        <p:txBody>
          <a:bodyPr wrap="square" lIns="0" tIns="0" rIns="0" bIns="0" rtlCol="0" anchor="t"/>
          <a:lstStyle/>
          <a:p>
            <a:pPr marL="0" indent="0">
              <a:buNone/>
            </a:pPr>
            <a:r>
              <a:rPr lang="en-US" sz="1000" dirty="0">
                <a:solidFill>
                  <a:schemeClr val="tx1"/>
                </a:solidFill>
              </a:rPr>
              <a:t>Velocity, burndown, completed / committed</a:t>
            </a:r>
            <a:endParaRPr lang="en-US" sz="1000" dirty="0"/>
          </a:p>
        </p:txBody>
      </p:sp>
      <p:sp>
        <p:nvSpPr>
          <p:cNvPr id="54" name="card-78"/>
          <p:cNvSpPr/>
          <p:nvPr/>
        </p:nvSpPr>
        <p:spPr>
          <a:xfrm>
            <a:off x="4663440" y="3493008"/>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55" name="num-79"/>
          <p:cNvSpPr/>
          <p:nvPr/>
        </p:nvSpPr>
        <p:spPr>
          <a:xfrm>
            <a:off x="4773168" y="3584448"/>
            <a:ext cx="320040" cy="320040"/>
          </a:xfrm>
          <a:prstGeom prst="ellipse">
            <a:avLst/>
          </a:prstGeom>
          <a:solidFill>
            <a:schemeClr val="accent1"/>
          </a:solidFill>
          <a:ln/>
        </p:spPr>
        <p:txBody>
          <a:bodyPr/>
          <a:lstStyle/>
          <a:p>
            <a:endParaRPr lang="en-US"/>
          </a:p>
        </p:txBody>
      </p:sp>
      <p:sp>
        <p:nvSpPr>
          <p:cNvPr id="56" name="text-80"/>
          <p:cNvSpPr txBox="1"/>
          <p:nvPr/>
        </p:nvSpPr>
        <p:spPr>
          <a:xfrm>
            <a:off x="4773168" y="3584448"/>
            <a:ext cx="320040" cy="320040"/>
          </a:xfrm>
          <a:prstGeom prst="rect">
            <a:avLst/>
          </a:prstGeom>
          <a:noFill/>
          <a:ln/>
        </p:spPr>
        <p:txBody>
          <a:bodyPr wrap="square" lIns="0" tIns="0" rIns="0" bIns="0" rtlCol="0" anchor="ctr"/>
          <a:lstStyle/>
          <a:p>
            <a:pPr marL="0" indent="0" algn="ctr">
              <a:buNone/>
            </a:pPr>
            <a:r>
              <a:rPr lang="en-US" sz="1100" b="1" dirty="0">
                <a:solidFill>
                  <a:schemeClr val="bg1"/>
                </a:solidFill>
              </a:rPr>
              <a:t>11</a:t>
            </a:r>
            <a:endParaRPr lang="en-US" sz="1100" dirty="0"/>
          </a:p>
        </p:txBody>
      </p:sp>
      <p:sp>
        <p:nvSpPr>
          <p:cNvPr id="57" name="text-81"/>
          <p:cNvSpPr txBox="1"/>
          <p:nvPr/>
        </p:nvSpPr>
        <p:spPr>
          <a:xfrm>
            <a:off x="5212080" y="3538728"/>
            <a:ext cx="3383280" cy="228600"/>
          </a:xfrm>
          <a:prstGeom prst="rect">
            <a:avLst/>
          </a:prstGeom>
          <a:noFill/>
          <a:ln/>
        </p:spPr>
        <p:txBody>
          <a:bodyPr wrap="square" lIns="0" tIns="0" rIns="0" bIns="0" rtlCol="0" anchor="t"/>
          <a:lstStyle/>
          <a:p>
            <a:pPr marL="0" indent="0">
              <a:buNone/>
            </a:pPr>
            <a:r>
              <a:rPr lang="en-US" sz="1250" b="1" dirty="0">
                <a:solidFill>
                  <a:schemeClr val="tx2"/>
                </a:solidFill>
              </a:rPr>
              <a:t>Retrospective and Sprint 2</a:t>
            </a:r>
            <a:endParaRPr lang="en-US" sz="1250" dirty="0"/>
          </a:p>
        </p:txBody>
      </p:sp>
      <p:sp>
        <p:nvSpPr>
          <p:cNvPr id="58" name="text-82"/>
          <p:cNvSpPr txBox="1"/>
          <p:nvPr/>
        </p:nvSpPr>
        <p:spPr>
          <a:xfrm>
            <a:off x="5212080" y="3758184"/>
            <a:ext cx="3383280" cy="201168"/>
          </a:xfrm>
          <a:prstGeom prst="rect">
            <a:avLst/>
          </a:prstGeom>
          <a:noFill/>
          <a:ln/>
        </p:spPr>
        <p:txBody>
          <a:bodyPr wrap="square" lIns="0" tIns="0" rIns="0" bIns="0" rtlCol="0" anchor="t"/>
          <a:lstStyle/>
          <a:p>
            <a:pPr marL="0" indent="0">
              <a:buNone/>
            </a:pPr>
            <a:r>
              <a:rPr lang="en-US" sz="1000" dirty="0">
                <a:solidFill>
                  <a:schemeClr val="tx1"/>
                </a:solidFill>
              </a:rPr>
              <a:t>What we learned, what is next</a:t>
            </a:r>
            <a:endParaRPr lang="en-US" sz="1000" dirty="0"/>
          </a:p>
        </p:txBody>
      </p:sp>
      <p:sp>
        <p:nvSpPr>
          <p:cNvPr id="59" name="card-83"/>
          <p:cNvSpPr/>
          <p:nvPr/>
        </p:nvSpPr>
        <p:spPr>
          <a:xfrm>
            <a:off x="4663440" y="4069080"/>
            <a:ext cx="4023360" cy="502920"/>
          </a:xfrm>
          <a:prstGeom prst="roundRect">
            <a:avLst>
              <a:gd name="adj" fmla="val 14545"/>
            </a:avLst>
          </a:prstGeom>
          <a:solidFill>
            <a:schemeClr val="bg1"/>
          </a:solidFill>
          <a:ln w="9525">
            <a:solidFill>
              <a:srgbClr val="E1E5F5"/>
            </a:solidFill>
            <a:prstDash val="solid"/>
          </a:ln>
        </p:spPr>
        <p:txBody>
          <a:bodyPr/>
          <a:lstStyle/>
          <a:p>
            <a:endParaRPr lang="en-US"/>
          </a:p>
        </p:txBody>
      </p:sp>
      <p:sp>
        <p:nvSpPr>
          <p:cNvPr id="60" name="num-84"/>
          <p:cNvSpPr/>
          <p:nvPr/>
        </p:nvSpPr>
        <p:spPr>
          <a:xfrm>
            <a:off x="4773168" y="4160520"/>
            <a:ext cx="320040" cy="320040"/>
          </a:xfrm>
          <a:prstGeom prst="ellipse">
            <a:avLst/>
          </a:prstGeom>
          <a:solidFill>
            <a:schemeClr val="accent2"/>
          </a:solidFill>
          <a:ln/>
        </p:spPr>
        <p:txBody>
          <a:bodyPr/>
          <a:lstStyle/>
          <a:p>
            <a:endParaRPr lang="en-US"/>
          </a:p>
        </p:txBody>
      </p:sp>
      <p:sp>
        <p:nvSpPr>
          <p:cNvPr id="61" name="text-85"/>
          <p:cNvSpPr txBox="1"/>
          <p:nvPr/>
        </p:nvSpPr>
        <p:spPr>
          <a:xfrm>
            <a:off x="4773168" y="4160520"/>
            <a:ext cx="320040" cy="320040"/>
          </a:xfrm>
          <a:prstGeom prst="rect">
            <a:avLst/>
          </a:prstGeom>
          <a:noFill/>
          <a:ln/>
        </p:spPr>
        <p:txBody>
          <a:bodyPr wrap="square" lIns="0" tIns="0" rIns="0" bIns="0" rtlCol="0" anchor="ctr"/>
          <a:lstStyle/>
          <a:p>
            <a:pPr marL="0" indent="0" algn="ctr">
              <a:buNone/>
            </a:pPr>
            <a:r>
              <a:rPr lang="en-US" sz="1100" b="1" dirty="0">
                <a:solidFill>
                  <a:schemeClr val="tx2"/>
                </a:solidFill>
              </a:rPr>
              <a:t>12</a:t>
            </a:r>
            <a:endParaRPr lang="en-US" sz="1100" dirty="0"/>
          </a:p>
        </p:txBody>
      </p:sp>
      <p:sp>
        <p:nvSpPr>
          <p:cNvPr id="62" name="text-86"/>
          <p:cNvSpPr txBox="1"/>
          <p:nvPr/>
        </p:nvSpPr>
        <p:spPr>
          <a:xfrm>
            <a:off x="5212080" y="4114800"/>
            <a:ext cx="3383280" cy="228600"/>
          </a:xfrm>
          <a:prstGeom prst="rect">
            <a:avLst/>
          </a:prstGeom>
          <a:noFill/>
          <a:ln/>
        </p:spPr>
        <p:txBody>
          <a:bodyPr wrap="square" lIns="0" tIns="0" rIns="0" bIns="0" rtlCol="0" anchor="t"/>
          <a:lstStyle/>
          <a:p>
            <a:pPr marL="0" indent="0">
              <a:buNone/>
            </a:pPr>
            <a:r>
              <a:rPr lang="en-US" sz="1250" b="1" dirty="0">
                <a:solidFill>
                  <a:schemeClr val="tx2"/>
                </a:solidFill>
              </a:rPr>
              <a:t>Project demo</a:t>
            </a:r>
            <a:endParaRPr lang="en-US" sz="1250" dirty="0"/>
          </a:p>
        </p:txBody>
      </p:sp>
      <p:sp>
        <p:nvSpPr>
          <p:cNvPr id="63" name="text-87"/>
          <p:cNvSpPr txBox="1"/>
          <p:nvPr/>
        </p:nvSpPr>
        <p:spPr>
          <a:xfrm>
            <a:off x="5212080" y="4334256"/>
            <a:ext cx="3383280" cy="201168"/>
          </a:xfrm>
          <a:prstGeom prst="rect">
            <a:avLst/>
          </a:prstGeom>
          <a:noFill/>
          <a:ln/>
        </p:spPr>
        <p:txBody>
          <a:bodyPr wrap="square" lIns="0" tIns="0" rIns="0" bIns="0" rtlCol="0" anchor="t"/>
          <a:lstStyle/>
          <a:p>
            <a:pPr marL="0" indent="0">
              <a:buNone/>
            </a:pPr>
            <a:r>
              <a:rPr lang="en-US" sz="1000" dirty="0">
                <a:solidFill>
                  <a:schemeClr val="tx1"/>
                </a:solidFill>
              </a:rPr>
              <a:t>Screenshots, API, GitHub, live demo</a:t>
            </a:r>
            <a:endParaRPr lang="en-US" sz="1000" dirty="0"/>
          </a:p>
        </p:txBody>
      </p:sp>
      <p:sp>
        <p:nvSpPr>
          <p:cNvPr id="6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TEAM 2  ·  PHOENIX</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Team roles and responsibilities</a:t>
            </a:r>
            <a:endParaRPr lang="en-US" sz="2800" dirty="0"/>
          </a:p>
        </p:txBody>
      </p:sp>
      <p:sp>
        <p:nvSpPr>
          <p:cNvPr id="4" name="revised-tag-88"/>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89"/>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sp>
        <p:nvSpPr>
          <p:cNvPr id="6" name="card-90"/>
          <p:cNvSpPr/>
          <p:nvPr/>
        </p:nvSpPr>
        <p:spPr>
          <a:xfrm>
            <a:off x="457200" y="1188720"/>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7" name="photo-91" descr="/home/claude/work/assets/dhwani-dobariya.png"/>
          <p:cNvPicPr>
            <a:picLocks noChangeAspect="1"/>
          </p:cNvPicPr>
          <p:nvPr/>
        </p:nvPicPr>
        <p:blipFill>
          <a:blip r:embed="rId3"/>
          <a:stretch>
            <a:fillRect/>
          </a:stretch>
        </p:blipFill>
        <p:spPr>
          <a:xfrm>
            <a:off x="1037844" y="1280160"/>
            <a:ext cx="713232" cy="713232"/>
          </a:xfrm>
          <a:prstGeom prst="rect">
            <a:avLst/>
          </a:prstGeom>
        </p:spPr>
      </p:pic>
      <p:sp>
        <p:nvSpPr>
          <p:cNvPr id="8" name="text-92"/>
          <p:cNvSpPr txBox="1"/>
          <p:nvPr/>
        </p:nvSpPr>
        <p:spPr>
          <a:xfrm>
            <a:off x="502920" y="2039112"/>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Dhwani Dobariya</a:t>
            </a:r>
            <a:endParaRPr lang="en-US" sz="1200" dirty="0"/>
          </a:p>
        </p:txBody>
      </p:sp>
      <p:sp>
        <p:nvSpPr>
          <p:cNvPr id="9" name="text-93"/>
          <p:cNvSpPr txBox="1"/>
          <p:nvPr/>
        </p:nvSpPr>
        <p:spPr>
          <a:xfrm>
            <a:off x="502920" y="2258568"/>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Team Leader / Frontend Engineer</a:t>
            </a:r>
            <a:endParaRPr lang="en-US" sz="1000" dirty="0"/>
          </a:p>
        </p:txBody>
      </p:sp>
      <p:sp>
        <p:nvSpPr>
          <p:cNvPr id="10" name="text-94"/>
          <p:cNvSpPr txBox="1"/>
          <p:nvPr/>
        </p:nvSpPr>
        <p:spPr>
          <a:xfrm>
            <a:off x="566928" y="2468880"/>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Leads planning and reviews; builds the /office UI</a:t>
            </a:r>
            <a:endParaRPr lang="en-US" sz="1000" dirty="0"/>
          </a:p>
        </p:txBody>
      </p:sp>
      <p:sp>
        <p:nvSpPr>
          <p:cNvPr id="11" name="card-95"/>
          <p:cNvSpPr/>
          <p:nvPr/>
        </p:nvSpPr>
        <p:spPr>
          <a:xfrm>
            <a:off x="2578608" y="1188720"/>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12" name="photo-96" descr="/home/claude/work/assets/om-jadhav.png"/>
          <p:cNvPicPr>
            <a:picLocks noChangeAspect="1"/>
          </p:cNvPicPr>
          <p:nvPr/>
        </p:nvPicPr>
        <p:blipFill>
          <a:blip r:embed="rId4"/>
          <a:stretch>
            <a:fillRect/>
          </a:stretch>
        </p:blipFill>
        <p:spPr>
          <a:xfrm>
            <a:off x="3159252" y="1280160"/>
            <a:ext cx="713232" cy="713232"/>
          </a:xfrm>
          <a:prstGeom prst="rect">
            <a:avLst/>
          </a:prstGeom>
        </p:spPr>
      </p:pic>
      <p:sp>
        <p:nvSpPr>
          <p:cNvPr id="13" name="text-97"/>
          <p:cNvSpPr txBox="1"/>
          <p:nvPr/>
        </p:nvSpPr>
        <p:spPr>
          <a:xfrm>
            <a:off x="2624328" y="2039112"/>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Om Jadhav</a:t>
            </a:r>
            <a:endParaRPr lang="en-US" sz="1200" dirty="0"/>
          </a:p>
        </p:txBody>
      </p:sp>
      <p:sp>
        <p:nvSpPr>
          <p:cNvPr id="14" name="text-98"/>
          <p:cNvSpPr txBox="1"/>
          <p:nvPr/>
        </p:nvSpPr>
        <p:spPr>
          <a:xfrm>
            <a:off x="2624328" y="2258568"/>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Full Stack Engineer</a:t>
            </a:r>
            <a:endParaRPr lang="en-US" sz="1000" dirty="0"/>
          </a:p>
        </p:txBody>
      </p:sp>
      <p:sp>
        <p:nvSpPr>
          <p:cNvPr id="15" name="text-99"/>
          <p:cNvSpPr txBox="1"/>
          <p:nvPr/>
        </p:nvSpPr>
        <p:spPr>
          <a:xfrm>
            <a:off x="2688336" y="2468880"/>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Builds features end to end across UI and API</a:t>
            </a:r>
            <a:endParaRPr lang="en-US" sz="1000" dirty="0"/>
          </a:p>
        </p:txBody>
      </p:sp>
      <p:sp>
        <p:nvSpPr>
          <p:cNvPr id="16" name="card-100"/>
          <p:cNvSpPr/>
          <p:nvPr/>
        </p:nvSpPr>
        <p:spPr>
          <a:xfrm>
            <a:off x="4700016" y="1188720"/>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17" name="photo-101" descr="/home/claude/work/assets/soumen-nageshkar.png"/>
          <p:cNvPicPr>
            <a:picLocks noChangeAspect="1"/>
          </p:cNvPicPr>
          <p:nvPr/>
        </p:nvPicPr>
        <p:blipFill>
          <a:blip r:embed="rId5"/>
          <a:stretch>
            <a:fillRect/>
          </a:stretch>
        </p:blipFill>
        <p:spPr>
          <a:xfrm>
            <a:off x="5280660" y="1280160"/>
            <a:ext cx="713232" cy="713232"/>
          </a:xfrm>
          <a:prstGeom prst="rect">
            <a:avLst/>
          </a:prstGeom>
        </p:spPr>
      </p:pic>
      <p:sp>
        <p:nvSpPr>
          <p:cNvPr id="18" name="text-102"/>
          <p:cNvSpPr txBox="1"/>
          <p:nvPr/>
        </p:nvSpPr>
        <p:spPr>
          <a:xfrm>
            <a:off x="4745736" y="2039112"/>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Soumen Nageshkar</a:t>
            </a:r>
            <a:endParaRPr lang="en-US" sz="1200" dirty="0"/>
          </a:p>
        </p:txBody>
      </p:sp>
      <p:sp>
        <p:nvSpPr>
          <p:cNvPr id="19" name="text-103"/>
          <p:cNvSpPr txBox="1"/>
          <p:nvPr/>
        </p:nvSpPr>
        <p:spPr>
          <a:xfrm>
            <a:off x="4745736" y="2258568"/>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Full-Stack / Platform Engineer</a:t>
            </a:r>
            <a:endParaRPr lang="en-US" sz="1000" dirty="0"/>
          </a:p>
        </p:txBody>
      </p:sp>
      <p:sp>
        <p:nvSpPr>
          <p:cNvPr id="20" name="text-104"/>
          <p:cNvSpPr txBox="1"/>
          <p:nvPr/>
        </p:nvSpPr>
        <p:spPr>
          <a:xfrm>
            <a:off x="4809744" y="2468880"/>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Owns the platform and the orchestration core</a:t>
            </a:r>
            <a:endParaRPr lang="en-US" sz="1000" dirty="0"/>
          </a:p>
        </p:txBody>
      </p:sp>
      <p:sp>
        <p:nvSpPr>
          <p:cNvPr id="21" name="card-105"/>
          <p:cNvSpPr/>
          <p:nvPr/>
        </p:nvSpPr>
        <p:spPr>
          <a:xfrm>
            <a:off x="6821424" y="1188720"/>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22" name="photo-106" descr="/home/claude/work/assets/aniruddha-rath.png"/>
          <p:cNvPicPr>
            <a:picLocks noChangeAspect="1"/>
          </p:cNvPicPr>
          <p:nvPr/>
        </p:nvPicPr>
        <p:blipFill>
          <a:blip r:embed="rId6"/>
          <a:stretch>
            <a:fillRect/>
          </a:stretch>
        </p:blipFill>
        <p:spPr>
          <a:xfrm>
            <a:off x="7402068" y="1280160"/>
            <a:ext cx="713232" cy="713232"/>
          </a:xfrm>
          <a:prstGeom prst="rect">
            <a:avLst/>
          </a:prstGeom>
        </p:spPr>
      </p:pic>
      <p:sp>
        <p:nvSpPr>
          <p:cNvPr id="23" name="text-107"/>
          <p:cNvSpPr txBox="1"/>
          <p:nvPr/>
        </p:nvSpPr>
        <p:spPr>
          <a:xfrm>
            <a:off x="6867144" y="2039112"/>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Aniruddha Rath</a:t>
            </a:r>
            <a:endParaRPr lang="en-US" sz="1200" dirty="0"/>
          </a:p>
        </p:txBody>
      </p:sp>
      <p:sp>
        <p:nvSpPr>
          <p:cNvPr id="24" name="text-108"/>
          <p:cNvSpPr txBox="1"/>
          <p:nvPr/>
        </p:nvSpPr>
        <p:spPr>
          <a:xfrm>
            <a:off x="6867144" y="2258568"/>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Frontend Engineer</a:t>
            </a:r>
            <a:endParaRPr lang="en-US" sz="1000" dirty="0"/>
          </a:p>
        </p:txBody>
      </p:sp>
      <p:sp>
        <p:nvSpPr>
          <p:cNvPr id="25" name="text-109"/>
          <p:cNvSpPr txBox="1"/>
          <p:nvPr/>
        </p:nvSpPr>
        <p:spPr>
          <a:xfrm>
            <a:off x="6931152" y="2468880"/>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Builds frontend pages and components</a:t>
            </a:r>
            <a:endParaRPr lang="en-US" sz="1000" dirty="0"/>
          </a:p>
        </p:txBody>
      </p:sp>
      <p:sp>
        <p:nvSpPr>
          <p:cNvPr id="26" name="card-110"/>
          <p:cNvSpPr/>
          <p:nvPr/>
        </p:nvSpPr>
        <p:spPr>
          <a:xfrm>
            <a:off x="1517904" y="2990088"/>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27" name="photo-111" descr="/home/claude/work/assets/puneet-tulsiani.png"/>
          <p:cNvPicPr>
            <a:picLocks noChangeAspect="1"/>
          </p:cNvPicPr>
          <p:nvPr/>
        </p:nvPicPr>
        <p:blipFill>
          <a:blip r:embed="rId7"/>
          <a:stretch>
            <a:fillRect/>
          </a:stretch>
        </p:blipFill>
        <p:spPr>
          <a:xfrm>
            <a:off x="2098548" y="3081528"/>
            <a:ext cx="713232" cy="713232"/>
          </a:xfrm>
          <a:prstGeom prst="rect">
            <a:avLst/>
          </a:prstGeom>
        </p:spPr>
      </p:pic>
      <p:sp>
        <p:nvSpPr>
          <p:cNvPr id="28" name="text-112"/>
          <p:cNvSpPr txBox="1"/>
          <p:nvPr/>
        </p:nvSpPr>
        <p:spPr>
          <a:xfrm>
            <a:off x="1563624" y="3840480"/>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Puneet Tulsiani</a:t>
            </a:r>
            <a:endParaRPr lang="en-US" sz="1200" dirty="0"/>
          </a:p>
        </p:txBody>
      </p:sp>
      <p:sp>
        <p:nvSpPr>
          <p:cNvPr id="29" name="text-113"/>
          <p:cNvSpPr txBox="1"/>
          <p:nvPr/>
        </p:nvSpPr>
        <p:spPr>
          <a:xfrm>
            <a:off x="1563624" y="4059936"/>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Backend Engineer</a:t>
            </a:r>
            <a:endParaRPr lang="en-US" sz="1000" dirty="0"/>
          </a:p>
        </p:txBody>
      </p:sp>
      <p:sp>
        <p:nvSpPr>
          <p:cNvPr id="30" name="text-114"/>
          <p:cNvSpPr txBox="1"/>
          <p:nvPr/>
        </p:nvSpPr>
        <p:spPr>
          <a:xfrm>
            <a:off x="1627632" y="4270248"/>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Builds the API, enrollment and data layer</a:t>
            </a:r>
            <a:endParaRPr lang="en-US" sz="1000" dirty="0"/>
          </a:p>
        </p:txBody>
      </p:sp>
      <p:sp>
        <p:nvSpPr>
          <p:cNvPr id="31" name="card-115"/>
          <p:cNvSpPr/>
          <p:nvPr/>
        </p:nvSpPr>
        <p:spPr>
          <a:xfrm>
            <a:off x="3639312" y="2990088"/>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32" name="photo-116" descr="/home/claude/work/assets/sutej-kulkarni.png"/>
          <p:cNvPicPr>
            <a:picLocks noChangeAspect="1"/>
          </p:cNvPicPr>
          <p:nvPr/>
        </p:nvPicPr>
        <p:blipFill>
          <a:blip r:embed="rId8"/>
          <a:stretch>
            <a:fillRect/>
          </a:stretch>
        </p:blipFill>
        <p:spPr>
          <a:xfrm>
            <a:off x="4219956" y="3081528"/>
            <a:ext cx="713232" cy="713232"/>
          </a:xfrm>
          <a:prstGeom prst="rect">
            <a:avLst/>
          </a:prstGeom>
        </p:spPr>
      </p:pic>
      <p:sp>
        <p:nvSpPr>
          <p:cNvPr id="33" name="text-117"/>
          <p:cNvSpPr txBox="1"/>
          <p:nvPr/>
        </p:nvSpPr>
        <p:spPr>
          <a:xfrm>
            <a:off x="3685032" y="3840480"/>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Sutej Kulkarni</a:t>
            </a:r>
            <a:endParaRPr lang="en-US" sz="1200" dirty="0"/>
          </a:p>
        </p:txBody>
      </p:sp>
      <p:sp>
        <p:nvSpPr>
          <p:cNvPr id="34" name="text-118"/>
          <p:cNvSpPr txBox="1"/>
          <p:nvPr/>
        </p:nvSpPr>
        <p:spPr>
          <a:xfrm>
            <a:off x="3685032" y="4059936"/>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A.I. Engineer</a:t>
            </a:r>
            <a:endParaRPr lang="en-US" sz="1000" dirty="0"/>
          </a:p>
        </p:txBody>
      </p:sp>
      <p:sp>
        <p:nvSpPr>
          <p:cNvPr id="35" name="text-119"/>
          <p:cNvSpPr txBox="1"/>
          <p:nvPr/>
        </p:nvSpPr>
        <p:spPr>
          <a:xfrm>
            <a:off x="3749040" y="4270248"/>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Capability analysis, LLM providers and routing</a:t>
            </a:r>
            <a:endParaRPr lang="en-US" sz="1000" dirty="0"/>
          </a:p>
        </p:txBody>
      </p:sp>
      <p:sp>
        <p:nvSpPr>
          <p:cNvPr id="36" name="card-120"/>
          <p:cNvSpPr/>
          <p:nvPr/>
        </p:nvSpPr>
        <p:spPr>
          <a:xfrm>
            <a:off x="5760720" y="2990088"/>
            <a:ext cx="1874520" cy="1691640"/>
          </a:xfrm>
          <a:prstGeom prst="roundRect">
            <a:avLst>
              <a:gd name="adj" fmla="val 4324"/>
            </a:avLst>
          </a:prstGeom>
          <a:solidFill>
            <a:schemeClr val="bg1"/>
          </a:solidFill>
          <a:ln w="9525">
            <a:solidFill>
              <a:srgbClr val="E1E5F5"/>
            </a:solidFill>
            <a:prstDash val="solid"/>
          </a:ln>
        </p:spPr>
        <p:txBody>
          <a:bodyPr/>
          <a:lstStyle/>
          <a:p>
            <a:endParaRPr lang="en-US"/>
          </a:p>
        </p:txBody>
      </p:sp>
      <p:pic>
        <p:nvPicPr>
          <p:cNvPr id="37" name="photo-121" descr="/home/claude/work/assets/gurjot-singh.png"/>
          <p:cNvPicPr>
            <a:picLocks noChangeAspect="1"/>
          </p:cNvPicPr>
          <p:nvPr/>
        </p:nvPicPr>
        <p:blipFill>
          <a:blip r:embed="rId9"/>
          <a:stretch>
            <a:fillRect/>
          </a:stretch>
        </p:blipFill>
        <p:spPr>
          <a:xfrm>
            <a:off x="6341364" y="3081528"/>
            <a:ext cx="713232" cy="713232"/>
          </a:xfrm>
          <a:prstGeom prst="rect">
            <a:avLst/>
          </a:prstGeom>
        </p:spPr>
      </p:pic>
      <p:sp>
        <p:nvSpPr>
          <p:cNvPr id="38" name="text-122"/>
          <p:cNvSpPr txBox="1"/>
          <p:nvPr/>
        </p:nvSpPr>
        <p:spPr>
          <a:xfrm>
            <a:off x="5806440" y="3840480"/>
            <a:ext cx="1783080" cy="228600"/>
          </a:xfrm>
          <a:prstGeom prst="rect">
            <a:avLst/>
          </a:prstGeom>
          <a:noFill/>
          <a:ln/>
        </p:spPr>
        <p:txBody>
          <a:bodyPr wrap="square" lIns="0" tIns="0" rIns="0" bIns="0" rtlCol="0" anchor="t"/>
          <a:lstStyle/>
          <a:p>
            <a:pPr marL="0" indent="0" algn="ctr">
              <a:buNone/>
            </a:pPr>
            <a:r>
              <a:rPr lang="en-US" sz="1200" b="1" dirty="0">
                <a:solidFill>
                  <a:schemeClr val="tx2"/>
                </a:solidFill>
              </a:rPr>
              <a:t>Gurjot Singh</a:t>
            </a:r>
            <a:endParaRPr lang="en-US" sz="1200" dirty="0"/>
          </a:p>
        </p:txBody>
      </p:sp>
      <p:sp>
        <p:nvSpPr>
          <p:cNvPr id="39" name="text-123"/>
          <p:cNvSpPr txBox="1"/>
          <p:nvPr/>
        </p:nvSpPr>
        <p:spPr>
          <a:xfrm>
            <a:off x="5806440" y="4059936"/>
            <a:ext cx="1783080" cy="201168"/>
          </a:xfrm>
          <a:prstGeom prst="rect">
            <a:avLst/>
          </a:prstGeom>
          <a:noFill/>
          <a:ln/>
        </p:spPr>
        <p:txBody>
          <a:bodyPr wrap="square" lIns="0" tIns="0" rIns="0" bIns="0" rtlCol="0" anchor="t"/>
          <a:lstStyle/>
          <a:p>
            <a:pPr marL="0" indent="0" algn="ctr">
              <a:buNone/>
            </a:pPr>
            <a:r>
              <a:rPr lang="en-US" sz="1000" b="1" dirty="0">
                <a:solidFill>
                  <a:schemeClr val="accent1"/>
                </a:solidFill>
              </a:rPr>
              <a:t>QA / Scrum Master</a:t>
            </a:r>
            <a:endParaRPr lang="en-US" sz="1000" dirty="0"/>
          </a:p>
        </p:txBody>
      </p:sp>
      <p:sp>
        <p:nvSpPr>
          <p:cNvPr id="40" name="text-124"/>
          <p:cNvSpPr txBox="1"/>
          <p:nvPr/>
        </p:nvSpPr>
        <p:spPr>
          <a:xfrm>
            <a:off x="5870448" y="4270248"/>
            <a:ext cx="1655064" cy="384048"/>
          </a:xfrm>
          <a:prstGeom prst="rect">
            <a:avLst/>
          </a:prstGeom>
          <a:noFill/>
          <a:ln/>
        </p:spPr>
        <p:txBody>
          <a:bodyPr wrap="square" lIns="0" tIns="0" rIns="0" bIns="0" rtlCol="0" anchor="t"/>
          <a:lstStyle/>
          <a:p>
            <a:pPr marL="0" indent="0" algn="ctr">
              <a:buNone/>
            </a:pPr>
            <a:r>
              <a:rPr lang="en-US" sz="1000" dirty="0">
                <a:solidFill>
                  <a:schemeClr val="tx1"/>
                </a:solidFill>
              </a:rPr>
              <a:t>Runs Scrum events; owns test cases and QA</a:t>
            </a:r>
            <a:endParaRPr lang="en-US" sz="1000" dirty="0"/>
          </a:p>
        </p:txBody>
      </p:sp>
      <p:sp>
        <p:nvSpPr>
          <p:cNvPr id="41"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0 FEEDBACK</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we changed from feedback</a:t>
            </a:r>
            <a:endParaRPr lang="en-US" sz="2800" dirty="0"/>
          </a:p>
        </p:txBody>
      </p:sp>
      <p:graphicFrame>
        <p:nvGraphicFramePr>
          <p:cNvPr id="5" name="feedback-table-125"/>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55264"/>
        </p:xfrm>
        <a:graphic>
          <a:graphicData uri="http://schemas.openxmlformats.org/drawingml/2006/table">
            <a:tbl>
              <a:tblPr/>
              <a:tblGrid>
                <a:gridCol w="21031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chemeClr val="bg1"/>
                          </a:solidFill>
                          <a:latin typeface="Calibri" pitchFamily="34" charset="0"/>
                          <a:ea typeface="Calibri" pitchFamily="34" charset="-122"/>
                          <a:cs typeface="Calibri" pitchFamily="34" charset="-120"/>
                        </a:rPr>
                        <a:t>Feedback</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latin typeface="Calibri" pitchFamily="34" charset="0"/>
                          <a:ea typeface="Calibri" pitchFamily="34" charset="-122"/>
                          <a:cs typeface="Calibri" pitchFamily="34" charset="-120"/>
                        </a:rPr>
                        <a:t>What we improved</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Slide</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Minimal personas</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Full personas: photo, age, role, scenario, three goals and three pain points</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Reading instead of presenting</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Less text on each slide; talking points moved into speaker notes</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All</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Team photos</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Professional headshots for every member, with role and responsibility</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Bad mic / speaker</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Mic and speakers tested together as a group before every recording</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Recording</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Working agreement is vague</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Exact meeting days, times and place, plus clear rules for missed work</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Retro was the aftermath</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Sprint 1 retro held from scratch; each action item fixes one improvement item</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20624">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Lazy screenshots (wiki)</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Screenshots cropped to the feature being shown, no extra noise</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accent1"/>
                          </a:solidFill>
                          <a:latin typeface="Calibri" pitchFamily="34" charset="0"/>
                          <a:ea typeface="Calibri" pitchFamily="34" charset="-122"/>
                          <a:cs typeface="Calibri" pitchFamily="34" charset="-120"/>
                        </a:rPr>
                        <a:t>22, 31</a:t>
                      </a:r>
                      <a:endParaRPr lang="en-US" sz="1100" dirty="0">
                        <a:latin typeface="Calibri" charset="0"/>
                        <a:ea typeface="Calibri" charset="0"/>
                        <a:cs typeface="Calibri" charset="0"/>
                      </a:endParaRPr>
                    </a:p>
                  </a:txBody>
                  <a:tcPr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4" name="revised-legend-126"/>
          <p:cNvSpPr/>
          <p:nvPr/>
        </p:nvSpPr>
        <p:spPr>
          <a:xfrm>
            <a:off x="457200" y="4407408"/>
            <a:ext cx="1508760" cy="274320"/>
          </a:xfrm>
          <a:prstGeom prst="roundRect">
            <a:avLst>
              <a:gd name="adj" fmla="val 50000"/>
            </a:avLst>
          </a:prstGeom>
          <a:solidFill>
            <a:srgbClr val="FFB84C"/>
          </a:solidFill>
          <a:ln/>
        </p:spPr>
        <p:txBody>
          <a:bodyPr/>
          <a:lstStyle/>
          <a:p>
            <a:endParaRPr lang="en-US"/>
          </a:p>
        </p:txBody>
      </p:sp>
      <p:sp>
        <p:nvSpPr>
          <p:cNvPr id="6" name="text-127"/>
          <p:cNvSpPr txBox="1"/>
          <p:nvPr/>
        </p:nvSpPr>
        <p:spPr>
          <a:xfrm>
            <a:off x="457200" y="4407408"/>
            <a:ext cx="1508760" cy="274320"/>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sp>
        <p:nvSpPr>
          <p:cNvPr id="7" name="text-128"/>
          <p:cNvSpPr txBox="1"/>
          <p:nvPr/>
        </p:nvSpPr>
        <p:spPr>
          <a:xfrm>
            <a:off x="2103120" y="4407408"/>
            <a:ext cx="5486400" cy="274320"/>
          </a:xfrm>
          <a:prstGeom prst="rect">
            <a:avLst/>
          </a:prstGeom>
          <a:noFill/>
          <a:ln/>
        </p:spPr>
        <p:txBody>
          <a:bodyPr wrap="square" lIns="0" tIns="0" rIns="0" bIns="0" rtlCol="0" anchor="ctr"/>
          <a:lstStyle/>
          <a:p>
            <a:pPr marL="0" indent="0">
              <a:buNone/>
            </a:pPr>
            <a:r>
              <a:rPr lang="en-US" sz="1100" i="1" dirty="0">
                <a:solidFill>
                  <a:schemeClr val="tx1"/>
                </a:solidFill>
              </a:rPr>
              <a:t>marks every slide that changed because of this feedback</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PROJECT DESCRIPTION</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AgentMesh is</a:t>
            </a:r>
            <a:endParaRPr lang="en-US" sz="2800" dirty="0"/>
          </a:p>
        </p:txBody>
      </p:sp>
      <p:sp>
        <p:nvSpPr>
          <p:cNvPr id="4" name="card-129"/>
          <p:cNvSpPr/>
          <p:nvPr/>
        </p:nvSpPr>
        <p:spPr>
          <a:xfrm>
            <a:off x="457200" y="1188720"/>
            <a:ext cx="8229600" cy="914400"/>
          </a:xfrm>
          <a:prstGeom prst="roundRect">
            <a:avLst>
              <a:gd name="adj" fmla="val 8000"/>
            </a:avLst>
          </a:prstGeom>
          <a:solidFill>
            <a:schemeClr val="tx2"/>
          </a:solidFill>
          <a:ln/>
        </p:spPr>
        <p:txBody>
          <a:bodyPr/>
          <a:lstStyle/>
          <a:p>
            <a:endParaRPr lang="en-US"/>
          </a:p>
        </p:txBody>
      </p:sp>
      <p:sp>
        <p:nvSpPr>
          <p:cNvPr id="5" name="text-130"/>
          <p:cNvSpPr txBox="1"/>
          <p:nvPr/>
        </p:nvSpPr>
        <p:spPr>
          <a:xfrm>
            <a:off x="685800" y="1188720"/>
            <a:ext cx="7772400" cy="914400"/>
          </a:xfrm>
          <a:prstGeom prst="rect">
            <a:avLst/>
          </a:prstGeom>
          <a:noFill/>
          <a:ln/>
        </p:spPr>
        <p:txBody>
          <a:bodyPr wrap="square" lIns="0" tIns="0" rIns="0" bIns="0" rtlCol="0" anchor="ctr"/>
          <a:lstStyle/>
          <a:p>
            <a:pPr marL="0" indent="0">
              <a:buNone/>
            </a:pPr>
            <a:r>
              <a:rPr lang="en-US" sz="1350" dirty="0">
                <a:solidFill>
                  <a:schemeClr val="bg1"/>
                </a:solidFill>
              </a:rPr>
              <a:t>AgentMesh is an AI agent orchestration platform. It coordinates multiple specialised AI agents and multiple LLM providers to solve complex tasks, acting as an intelligent workflow engine for AI rather than a single chatbot.</a:t>
            </a:r>
            <a:endParaRPr lang="en-US" sz="1350" dirty="0"/>
          </a:p>
        </p:txBody>
      </p:sp>
      <p:sp>
        <p:nvSpPr>
          <p:cNvPr id="6" name="card-131"/>
          <p:cNvSpPr/>
          <p:nvPr/>
        </p:nvSpPr>
        <p:spPr>
          <a:xfrm>
            <a:off x="457200" y="2331720"/>
            <a:ext cx="1892808" cy="2286000"/>
          </a:xfrm>
          <a:prstGeom prst="roundRect">
            <a:avLst>
              <a:gd name="adj" fmla="val 3865"/>
            </a:avLst>
          </a:prstGeom>
          <a:solidFill>
            <a:schemeClr val="bg1"/>
          </a:solidFill>
          <a:ln w="9525">
            <a:solidFill>
              <a:srgbClr val="E1E5F5"/>
            </a:solidFill>
            <a:prstDash val="solid"/>
          </a:ln>
        </p:spPr>
        <p:txBody>
          <a:bodyPr/>
          <a:lstStyle/>
          <a:p>
            <a:endParaRPr lang="en-US"/>
          </a:p>
        </p:txBody>
      </p:sp>
      <p:sp>
        <p:nvSpPr>
          <p:cNvPr id="7" name="badge-132"/>
          <p:cNvSpPr/>
          <p:nvPr/>
        </p:nvSpPr>
        <p:spPr>
          <a:xfrm>
            <a:off x="621792" y="2514600"/>
            <a:ext cx="502920" cy="502920"/>
          </a:xfrm>
          <a:prstGeom prst="ellipse">
            <a:avLst/>
          </a:prstGeom>
          <a:solidFill>
            <a:schemeClr val="accent1"/>
          </a:solidFill>
          <a:ln/>
        </p:spPr>
        <p:txBody>
          <a:bodyPr/>
          <a:lstStyle/>
          <a:p>
            <a:endParaRPr lang="en-US"/>
          </a:p>
        </p:txBody>
      </p:sp>
      <p:pic>
        <p:nvPicPr>
          <p:cNvPr id="8" name="icon-133" descr="preencoded.png"/>
          <p:cNvPicPr>
            <a:picLocks noChangeAspect="1"/>
          </p:cNvPicPr>
          <p:nvPr/>
        </p:nvPicPr>
        <p:blipFill>
          <a:blip r:embed="rId3"/>
          <a:stretch>
            <a:fillRect/>
          </a:stretch>
        </p:blipFill>
        <p:spPr>
          <a:xfrm>
            <a:off x="732434" y="2625242"/>
            <a:ext cx="281635" cy="281635"/>
          </a:xfrm>
          <a:prstGeom prst="rect">
            <a:avLst/>
          </a:prstGeom>
        </p:spPr>
      </p:pic>
      <p:sp>
        <p:nvSpPr>
          <p:cNvPr id="9" name="text-134"/>
          <p:cNvSpPr txBox="1"/>
          <p:nvPr/>
        </p:nvSpPr>
        <p:spPr>
          <a:xfrm>
            <a:off x="1664208" y="2532888"/>
            <a:ext cx="502920" cy="365760"/>
          </a:xfrm>
          <a:prstGeom prst="rect">
            <a:avLst/>
          </a:prstGeom>
          <a:noFill/>
          <a:ln/>
        </p:spPr>
        <p:txBody>
          <a:bodyPr wrap="square" lIns="0" tIns="0" rIns="0" bIns="0" rtlCol="0" anchor="t"/>
          <a:lstStyle/>
          <a:p>
            <a:pPr marL="0" indent="0" algn="r">
              <a:buNone/>
            </a:pPr>
            <a:r>
              <a:rPr lang="en-US" sz="2000" b="1" dirty="0">
                <a:solidFill>
                  <a:schemeClr val="accent3"/>
                </a:solidFill>
                <a:latin typeface="Cambria" pitchFamily="34" charset="0"/>
                <a:ea typeface="Cambria" pitchFamily="34" charset="-122"/>
                <a:cs typeface="Cambria" pitchFamily="34" charset="-120"/>
              </a:rPr>
              <a:t>01</a:t>
            </a:r>
            <a:endParaRPr lang="en-US" sz="2000" dirty="0"/>
          </a:p>
        </p:txBody>
      </p:sp>
      <p:sp>
        <p:nvSpPr>
          <p:cNvPr id="10" name="text-135"/>
          <p:cNvSpPr txBox="1"/>
          <p:nvPr/>
        </p:nvSpPr>
        <p:spPr>
          <a:xfrm>
            <a:off x="621792" y="3154680"/>
            <a:ext cx="1618488" cy="274320"/>
          </a:xfrm>
          <a:prstGeom prst="rect">
            <a:avLst/>
          </a:prstGeom>
          <a:noFill/>
          <a:ln/>
        </p:spPr>
        <p:txBody>
          <a:bodyPr wrap="square" lIns="0" tIns="0" rIns="0" bIns="0" rtlCol="0" anchor="t"/>
          <a:lstStyle/>
          <a:p>
            <a:pPr marL="0" indent="0">
              <a:buNone/>
            </a:pPr>
            <a:r>
              <a:rPr lang="en-US" sz="1400" b="1" dirty="0">
                <a:solidFill>
                  <a:schemeClr val="tx2"/>
                </a:solidFill>
              </a:rPr>
              <a:t>Receive</a:t>
            </a:r>
            <a:endParaRPr lang="en-US" sz="1400" dirty="0"/>
          </a:p>
        </p:txBody>
      </p:sp>
      <p:sp>
        <p:nvSpPr>
          <p:cNvPr id="11" name="text-136"/>
          <p:cNvSpPr txBox="1"/>
          <p:nvPr/>
        </p:nvSpPr>
        <p:spPr>
          <a:xfrm>
            <a:off x="621792" y="3474720"/>
            <a:ext cx="1600200" cy="1051560"/>
          </a:xfrm>
          <a:prstGeom prst="rect">
            <a:avLst/>
          </a:prstGeom>
          <a:noFill/>
          <a:ln/>
        </p:spPr>
        <p:txBody>
          <a:bodyPr wrap="square" lIns="0" tIns="0" rIns="0" bIns="0" rtlCol="0" anchor="t"/>
          <a:lstStyle/>
          <a:p>
            <a:pPr marL="0" indent="0">
              <a:buNone/>
            </a:pPr>
            <a:r>
              <a:rPr lang="en-US" sz="1100" dirty="0">
                <a:solidFill>
                  <a:schemeClr val="tx1"/>
                </a:solidFill>
              </a:rPr>
              <a:t>A user submits one natural-language brief describing a complex task.</a:t>
            </a:r>
            <a:endParaRPr lang="en-US" sz="1100" dirty="0"/>
          </a:p>
        </p:txBody>
      </p:sp>
      <p:sp>
        <p:nvSpPr>
          <p:cNvPr id="12" name="arrow-137"/>
          <p:cNvSpPr/>
          <p:nvPr/>
        </p:nvSpPr>
        <p:spPr>
          <a:xfrm rot="5400000">
            <a:off x="2377440" y="3410712"/>
            <a:ext cx="164592" cy="128016"/>
          </a:xfrm>
          <a:prstGeom prst="triangle">
            <a:avLst/>
          </a:prstGeom>
          <a:solidFill>
            <a:schemeClr val="accent2"/>
          </a:solidFill>
          <a:ln/>
        </p:spPr>
        <p:txBody>
          <a:bodyPr/>
          <a:lstStyle/>
          <a:p>
            <a:endParaRPr lang="en-US"/>
          </a:p>
        </p:txBody>
      </p:sp>
      <p:sp>
        <p:nvSpPr>
          <p:cNvPr id="13" name="card-138"/>
          <p:cNvSpPr/>
          <p:nvPr/>
        </p:nvSpPr>
        <p:spPr>
          <a:xfrm>
            <a:off x="2569464" y="2331720"/>
            <a:ext cx="1892808" cy="2286000"/>
          </a:xfrm>
          <a:prstGeom prst="roundRect">
            <a:avLst>
              <a:gd name="adj" fmla="val 3865"/>
            </a:avLst>
          </a:prstGeom>
          <a:solidFill>
            <a:schemeClr val="bg1"/>
          </a:solidFill>
          <a:ln w="9525">
            <a:solidFill>
              <a:srgbClr val="E1E5F5"/>
            </a:solidFill>
            <a:prstDash val="solid"/>
          </a:ln>
        </p:spPr>
        <p:txBody>
          <a:bodyPr/>
          <a:lstStyle/>
          <a:p>
            <a:endParaRPr lang="en-US"/>
          </a:p>
        </p:txBody>
      </p:sp>
      <p:sp>
        <p:nvSpPr>
          <p:cNvPr id="14" name="badge-139"/>
          <p:cNvSpPr/>
          <p:nvPr/>
        </p:nvSpPr>
        <p:spPr>
          <a:xfrm>
            <a:off x="2734056" y="2514600"/>
            <a:ext cx="502920" cy="502920"/>
          </a:xfrm>
          <a:prstGeom prst="ellipse">
            <a:avLst/>
          </a:prstGeom>
          <a:solidFill>
            <a:schemeClr val="accent2"/>
          </a:solidFill>
          <a:ln/>
        </p:spPr>
        <p:txBody>
          <a:bodyPr/>
          <a:lstStyle/>
          <a:p>
            <a:endParaRPr lang="en-US"/>
          </a:p>
        </p:txBody>
      </p:sp>
      <p:pic>
        <p:nvPicPr>
          <p:cNvPr id="15" name="icon-140" descr="preencoded.png"/>
          <p:cNvPicPr>
            <a:picLocks noChangeAspect="1"/>
          </p:cNvPicPr>
          <p:nvPr/>
        </p:nvPicPr>
        <p:blipFill>
          <a:blip r:embed="rId4"/>
          <a:stretch>
            <a:fillRect/>
          </a:stretch>
        </p:blipFill>
        <p:spPr>
          <a:xfrm>
            <a:off x="2844698" y="2625242"/>
            <a:ext cx="281635" cy="281635"/>
          </a:xfrm>
          <a:prstGeom prst="rect">
            <a:avLst/>
          </a:prstGeom>
        </p:spPr>
      </p:pic>
      <p:sp>
        <p:nvSpPr>
          <p:cNvPr id="16" name="text-141"/>
          <p:cNvSpPr txBox="1"/>
          <p:nvPr/>
        </p:nvSpPr>
        <p:spPr>
          <a:xfrm>
            <a:off x="3776472" y="2532888"/>
            <a:ext cx="502920" cy="365760"/>
          </a:xfrm>
          <a:prstGeom prst="rect">
            <a:avLst/>
          </a:prstGeom>
          <a:noFill/>
          <a:ln/>
        </p:spPr>
        <p:txBody>
          <a:bodyPr wrap="square" lIns="0" tIns="0" rIns="0" bIns="0" rtlCol="0" anchor="t"/>
          <a:lstStyle/>
          <a:p>
            <a:pPr marL="0" indent="0" algn="r">
              <a:buNone/>
            </a:pPr>
            <a:r>
              <a:rPr lang="en-US" sz="2000" b="1" dirty="0">
                <a:solidFill>
                  <a:schemeClr val="accent3"/>
                </a:solidFill>
                <a:latin typeface="Cambria" pitchFamily="34" charset="0"/>
                <a:ea typeface="Cambria" pitchFamily="34" charset="-122"/>
                <a:cs typeface="Cambria" pitchFamily="34" charset="-120"/>
              </a:rPr>
              <a:t>02</a:t>
            </a:r>
            <a:endParaRPr lang="en-US" sz="2000" dirty="0"/>
          </a:p>
        </p:txBody>
      </p:sp>
      <p:sp>
        <p:nvSpPr>
          <p:cNvPr id="17" name="text-142"/>
          <p:cNvSpPr txBox="1"/>
          <p:nvPr/>
        </p:nvSpPr>
        <p:spPr>
          <a:xfrm>
            <a:off x="2734056" y="3154680"/>
            <a:ext cx="1618488" cy="274320"/>
          </a:xfrm>
          <a:prstGeom prst="rect">
            <a:avLst/>
          </a:prstGeom>
          <a:noFill/>
          <a:ln/>
        </p:spPr>
        <p:txBody>
          <a:bodyPr wrap="square" lIns="0" tIns="0" rIns="0" bIns="0" rtlCol="0" anchor="t"/>
          <a:lstStyle/>
          <a:p>
            <a:pPr marL="0" indent="0">
              <a:buNone/>
            </a:pPr>
            <a:r>
              <a:rPr lang="en-US" sz="1400" b="1" dirty="0">
                <a:solidFill>
                  <a:schemeClr val="tx2"/>
                </a:solidFill>
              </a:rPr>
              <a:t>Decompose</a:t>
            </a:r>
            <a:endParaRPr lang="en-US" sz="1400" dirty="0"/>
          </a:p>
        </p:txBody>
      </p:sp>
      <p:sp>
        <p:nvSpPr>
          <p:cNvPr id="18" name="text-143"/>
          <p:cNvSpPr txBox="1"/>
          <p:nvPr/>
        </p:nvSpPr>
        <p:spPr>
          <a:xfrm>
            <a:off x="2734056" y="3474720"/>
            <a:ext cx="1600200" cy="1051560"/>
          </a:xfrm>
          <a:prstGeom prst="rect">
            <a:avLst/>
          </a:prstGeom>
          <a:noFill/>
          <a:ln/>
        </p:spPr>
        <p:txBody>
          <a:bodyPr wrap="square" lIns="0" tIns="0" rIns="0" bIns="0" rtlCol="0" anchor="t"/>
          <a:lstStyle/>
          <a:p>
            <a:pPr marL="0" indent="0">
              <a:buNone/>
            </a:pPr>
            <a:r>
              <a:rPr lang="en-US" sz="1100" dirty="0">
                <a:solidFill>
                  <a:schemeClr val="tx1"/>
                </a:solidFill>
              </a:rPr>
              <a:t>The orchestrator analyses the brief and breaks it into the capabilities it needs.</a:t>
            </a:r>
            <a:endParaRPr lang="en-US" sz="1100" dirty="0"/>
          </a:p>
        </p:txBody>
      </p:sp>
      <p:sp>
        <p:nvSpPr>
          <p:cNvPr id="19" name="arrow-144"/>
          <p:cNvSpPr/>
          <p:nvPr/>
        </p:nvSpPr>
        <p:spPr>
          <a:xfrm rot="5400000">
            <a:off x="4489704" y="3410712"/>
            <a:ext cx="164592" cy="128016"/>
          </a:xfrm>
          <a:prstGeom prst="triangle">
            <a:avLst/>
          </a:prstGeom>
          <a:solidFill>
            <a:schemeClr val="accent2"/>
          </a:solidFill>
          <a:ln/>
        </p:spPr>
        <p:txBody>
          <a:bodyPr/>
          <a:lstStyle/>
          <a:p>
            <a:endParaRPr lang="en-US"/>
          </a:p>
        </p:txBody>
      </p:sp>
      <p:sp>
        <p:nvSpPr>
          <p:cNvPr id="20" name="card-145"/>
          <p:cNvSpPr/>
          <p:nvPr/>
        </p:nvSpPr>
        <p:spPr>
          <a:xfrm>
            <a:off x="4681728" y="2331720"/>
            <a:ext cx="1892808" cy="2286000"/>
          </a:xfrm>
          <a:prstGeom prst="roundRect">
            <a:avLst>
              <a:gd name="adj" fmla="val 3865"/>
            </a:avLst>
          </a:prstGeom>
          <a:solidFill>
            <a:schemeClr val="bg1"/>
          </a:solidFill>
          <a:ln w="9525">
            <a:solidFill>
              <a:srgbClr val="E1E5F5"/>
            </a:solidFill>
            <a:prstDash val="solid"/>
          </a:ln>
        </p:spPr>
        <p:txBody>
          <a:bodyPr/>
          <a:lstStyle/>
          <a:p>
            <a:endParaRPr lang="en-US"/>
          </a:p>
        </p:txBody>
      </p:sp>
      <p:sp>
        <p:nvSpPr>
          <p:cNvPr id="21" name="badge-146"/>
          <p:cNvSpPr/>
          <p:nvPr/>
        </p:nvSpPr>
        <p:spPr>
          <a:xfrm>
            <a:off x="4846320" y="2514600"/>
            <a:ext cx="502920" cy="502920"/>
          </a:xfrm>
          <a:prstGeom prst="ellipse">
            <a:avLst/>
          </a:prstGeom>
          <a:solidFill>
            <a:schemeClr val="accent1"/>
          </a:solidFill>
          <a:ln/>
        </p:spPr>
        <p:txBody>
          <a:bodyPr/>
          <a:lstStyle/>
          <a:p>
            <a:endParaRPr lang="en-US"/>
          </a:p>
        </p:txBody>
      </p:sp>
      <p:pic>
        <p:nvPicPr>
          <p:cNvPr id="22" name="icon-147" descr="preencoded.png"/>
          <p:cNvPicPr>
            <a:picLocks noChangeAspect="1"/>
          </p:cNvPicPr>
          <p:nvPr/>
        </p:nvPicPr>
        <p:blipFill>
          <a:blip r:embed="rId5"/>
          <a:stretch>
            <a:fillRect/>
          </a:stretch>
        </p:blipFill>
        <p:spPr>
          <a:xfrm>
            <a:off x="4956962" y="2625242"/>
            <a:ext cx="281635" cy="281635"/>
          </a:xfrm>
          <a:prstGeom prst="rect">
            <a:avLst/>
          </a:prstGeom>
        </p:spPr>
      </p:pic>
      <p:sp>
        <p:nvSpPr>
          <p:cNvPr id="23" name="text-148"/>
          <p:cNvSpPr txBox="1"/>
          <p:nvPr/>
        </p:nvSpPr>
        <p:spPr>
          <a:xfrm>
            <a:off x="5888736" y="2532888"/>
            <a:ext cx="502920" cy="365760"/>
          </a:xfrm>
          <a:prstGeom prst="rect">
            <a:avLst/>
          </a:prstGeom>
          <a:noFill/>
          <a:ln/>
        </p:spPr>
        <p:txBody>
          <a:bodyPr wrap="square" lIns="0" tIns="0" rIns="0" bIns="0" rtlCol="0" anchor="t"/>
          <a:lstStyle/>
          <a:p>
            <a:pPr marL="0" indent="0" algn="r">
              <a:buNone/>
            </a:pPr>
            <a:r>
              <a:rPr lang="en-US" sz="2000" b="1" dirty="0">
                <a:solidFill>
                  <a:schemeClr val="accent3"/>
                </a:solidFill>
                <a:latin typeface="Cambria" pitchFamily="34" charset="0"/>
                <a:ea typeface="Cambria" pitchFamily="34" charset="-122"/>
                <a:cs typeface="Cambria" pitchFamily="34" charset="-120"/>
              </a:rPr>
              <a:t>03</a:t>
            </a:r>
            <a:endParaRPr lang="en-US" sz="2000" dirty="0"/>
          </a:p>
        </p:txBody>
      </p:sp>
      <p:sp>
        <p:nvSpPr>
          <p:cNvPr id="24" name="text-149"/>
          <p:cNvSpPr txBox="1"/>
          <p:nvPr/>
        </p:nvSpPr>
        <p:spPr>
          <a:xfrm>
            <a:off x="4846320" y="3154680"/>
            <a:ext cx="1618488" cy="274320"/>
          </a:xfrm>
          <a:prstGeom prst="rect">
            <a:avLst/>
          </a:prstGeom>
          <a:noFill/>
          <a:ln/>
        </p:spPr>
        <p:txBody>
          <a:bodyPr wrap="square" lIns="0" tIns="0" rIns="0" bIns="0" rtlCol="0" anchor="t"/>
          <a:lstStyle/>
          <a:p>
            <a:pPr marL="0" indent="0">
              <a:buNone/>
            </a:pPr>
            <a:r>
              <a:rPr lang="en-US" sz="1400" b="1" dirty="0">
                <a:solidFill>
                  <a:schemeClr val="tx2"/>
                </a:solidFill>
              </a:rPr>
              <a:t>Select and route</a:t>
            </a:r>
            <a:endParaRPr lang="en-US" sz="1400" dirty="0"/>
          </a:p>
        </p:txBody>
      </p:sp>
      <p:sp>
        <p:nvSpPr>
          <p:cNvPr id="25" name="text-150"/>
          <p:cNvSpPr txBox="1"/>
          <p:nvPr/>
        </p:nvSpPr>
        <p:spPr>
          <a:xfrm>
            <a:off x="4846320" y="3474720"/>
            <a:ext cx="1600200" cy="1051560"/>
          </a:xfrm>
          <a:prstGeom prst="rect">
            <a:avLst/>
          </a:prstGeom>
          <a:noFill/>
          <a:ln/>
        </p:spPr>
        <p:txBody>
          <a:bodyPr wrap="square" lIns="0" tIns="0" rIns="0" bIns="0" rtlCol="0" anchor="t"/>
          <a:lstStyle/>
          <a:p>
            <a:pPr marL="0" indent="0">
              <a:buNone/>
            </a:pPr>
            <a:r>
              <a:rPr lang="en-US" sz="1100" dirty="0">
                <a:solidFill>
                  <a:schemeClr val="tx1"/>
                </a:solidFill>
              </a:rPr>
              <a:t>Only the relevant agents are spawned, in the right order, each on a suitable model.</a:t>
            </a:r>
            <a:endParaRPr lang="en-US" sz="1100" dirty="0"/>
          </a:p>
        </p:txBody>
      </p:sp>
      <p:sp>
        <p:nvSpPr>
          <p:cNvPr id="26" name="arrow-151"/>
          <p:cNvSpPr/>
          <p:nvPr/>
        </p:nvSpPr>
        <p:spPr>
          <a:xfrm rot="5400000">
            <a:off x="6601968" y="3410712"/>
            <a:ext cx="164592" cy="128016"/>
          </a:xfrm>
          <a:prstGeom prst="triangle">
            <a:avLst/>
          </a:prstGeom>
          <a:solidFill>
            <a:schemeClr val="accent2"/>
          </a:solidFill>
          <a:ln/>
        </p:spPr>
        <p:txBody>
          <a:bodyPr/>
          <a:lstStyle/>
          <a:p>
            <a:endParaRPr lang="en-US"/>
          </a:p>
        </p:txBody>
      </p:sp>
      <p:sp>
        <p:nvSpPr>
          <p:cNvPr id="27" name="card-152"/>
          <p:cNvSpPr/>
          <p:nvPr/>
        </p:nvSpPr>
        <p:spPr>
          <a:xfrm>
            <a:off x="6793992" y="2331720"/>
            <a:ext cx="1892808" cy="2286000"/>
          </a:xfrm>
          <a:prstGeom prst="roundRect">
            <a:avLst>
              <a:gd name="adj" fmla="val 3865"/>
            </a:avLst>
          </a:prstGeom>
          <a:solidFill>
            <a:schemeClr val="bg1"/>
          </a:solidFill>
          <a:ln w="9525">
            <a:solidFill>
              <a:srgbClr val="E1E5F5"/>
            </a:solidFill>
            <a:prstDash val="solid"/>
          </a:ln>
        </p:spPr>
        <p:txBody>
          <a:bodyPr/>
          <a:lstStyle/>
          <a:p>
            <a:endParaRPr lang="en-US"/>
          </a:p>
        </p:txBody>
      </p:sp>
      <p:sp>
        <p:nvSpPr>
          <p:cNvPr id="28" name="badge-153"/>
          <p:cNvSpPr/>
          <p:nvPr/>
        </p:nvSpPr>
        <p:spPr>
          <a:xfrm>
            <a:off x="6958584" y="2514600"/>
            <a:ext cx="502920" cy="502920"/>
          </a:xfrm>
          <a:prstGeom prst="ellipse">
            <a:avLst/>
          </a:prstGeom>
          <a:solidFill>
            <a:schemeClr val="accent2"/>
          </a:solidFill>
          <a:ln/>
        </p:spPr>
        <p:txBody>
          <a:bodyPr/>
          <a:lstStyle/>
          <a:p>
            <a:endParaRPr lang="en-US"/>
          </a:p>
        </p:txBody>
      </p:sp>
      <p:pic>
        <p:nvPicPr>
          <p:cNvPr id="29" name="icon-154" descr="preencoded.png"/>
          <p:cNvPicPr>
            <a:picLocks noChangeAspect="1"/>
          </p:cNvPicPr>
          <p:nvPr/>
        </p:nvPicPr>
        <p:blipFill>
          <a:blip r:embed="rId6"/>
          <a:stretch>
            <a:fillRect/>
          </a:stretch>
        </p:blipFill>
        <p:spPr>
          <a:xfrm>
            <a:off x="7069226" y="2625242"/>
            <a:ext cx="281635" cy="281635"/>
          </a:xfrm>
          <a:prstGeom prst="rect">
            <a:avLst/>
          </a:prstGeom>
        </p:spPr>
      </p:pic>
      <p:sp>
        <p:nvSpPr>
          <p:cNvPr id="30" name="text-155"/>
          <p:cNvSpPr txBox="1"/>
          <p:nvPr/>
        </p:nvSpPr>
        <p:spPr>
          <a:xfrm>
            <a:off x="8001000" y="2532888"/>
            <a:ext cx="502920" cy="365760"/>
          </a:xfrm>
          <a:prstGeom prst="rect">
            <a:avLst/>
          </a:prstGeom>
          <a:noFill/>
          <a:ln/>
        </p:spPr>
        <p:txBody>
          <a:bodyPr wrap="square" lIns="0" tIns="0" rIns="0" bIns="0" rtlCol="0" anchor="t"/>
          <a:lstStyle/>
          <a:p>
            <a:pPr marL="0" indent="0" algn="r">
              <a:buNone/>
            </a:pPr>
            <a:r>
              <a:rPr lang="en-US" sz="2000" b="1" dirty="0">
                <a:solidFill>
                  <a:schemeClr val="accent3"/>
                </a:solidFill>
                <a:latin typeface="Cambria" pitchFamily="34" charset="0"/>
                <a:ea typeface="Cambria" pitchFamily="34" charset="-122"/>
                <a:cs typeface="Cambria" pitchFamily="34" charset="-120"/>
              </a:rPr>
              <a:t>04</a:t>
            </a:r>
            <a:endParaRPr lang="en-US" sz="2000" dirty="0"/>
          </a:p>
        </p:txBody>
      </p:sp>
      <p:sp>
        <p:nvSpPr>
          <p:cNvPr id="31" name="text-156"/>
          <p:cNvSpPr txBox="1"/>
          <p:nvPr/>
        </p:nvSpPr>
        <p:spPr>
          <a:xfrm>
            <a:off x="6958584" y="3154680"/>
            <a:ext cx="1618488" cy="274320"/>
          </a:xfrm>
          <a:prstGeom prst="rect">
            <a:avLst/>
          </a:prstGeom>
          <a:noFill/>
          <a:ln/>
        </p:spPr>
        <p:txBody>
          <a:bodyPr wrap="square" lIns="0" tIns="0" rIns="0" bIns="0" rtlCol="0" anchor="t"/>
          <a:lstStyle/>
          <a:p>
            <a:pPr marL="0" indent="0">
              <a:buNone/>
            </a:pPr>
            <a:r>
              <a:rPr lang="en-US" sz="1400" b="1" dirty="0">
                <a:solidFill>
                  <a:schemeClr val="tx2"/>
                </a:solidFill>
              </a:rPr>
              <a:t>Synthesise</a:t>
            </a:r>
            <a:endParaRPr lang="en-US" sz="1400" dirty="0"/>
          </a:p>
        </p:txBody>
      </p:sp>
      <p:sp>
        <p:nvSpPr>
          <p:cNvPr id="32" name="text-157"/>
          <p:cNvSpPr txBox="1"/>
          <p:nvPr/>
        </p:nvSpPr>
        <p:spPr>
          <a:xfrm>
            <a:off x="6958584" y="3474720"/>
            <a:ext cx="1600200" cy="1051560"/>
          </a:xfrm>
          <a:prstGeom prst="rect">
            <a:avLst/>
          </a:prstGeom>
          <a:noFill/>
          <a:ln/>
        </p:spPr>
        <p:txBody>
          <a:bodyPr wrap="square" lIns="0" tIns="0" rIns="0" bIns="0" rtlCol="0" anchor="t"/>
          <a:lstStyle/>
          <a:p>
            <a:pPr marL="0" indent="0">
              <a:buNone/>
            </a:pPr>
            <a:r>
              <a:rPr lang="en-US" sz="1100" dirty="0">
                <a:solidFill>
                  <a:schemeClr val="tx1"/>
                </a:solidFill>
              </a:rPr>
              <a:t>Validated agent outputs are combined into one explainable result.</a:t>
            </a:r>
            <a:endParaRPr lang="en-US" sz="1100" dirty="0"/>
          </a:p>
        </p:txBody>
      </p:sp>
      <p:sp>
        <p:nvSpPr>
          <p:cNvPr id="33"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TEAM WORKING AGREEMENT</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How we work together</a:t>
            </a:r>
            <a:endParaRPr lang="en-US" sz="2800" dirty="0"/>
          </a:p>
        </p:txBody>
      </p:sp>
      <p:sp>
        <p:nvSpPr>
          <p:cNvPr id="4" name="revised-tag-158"/>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159"/>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sp>
        <p:nvSpPr>
          <p:cNvPr id="6" name="card-160"/>
          <p:cNvSpPr/>
          <p:nvPr/>
        </p:nvSpPr>
        <p:spPr>
          <a:xfrm>
            <a:off x="457200"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7" name="badge-161"/>
          <p:cNvSpPr/>
          <p:nvPr/>
        </p:nvSpPr>
        <p:spPr>
          <a:xfrm>
            <a:off x="603504" y="1335024"/>
            <a:ext cx="402336" cy="402336"/>
          </a:xfrm>
          <a:prstGeom prst="ellipse">
            <a:avLst/>
          </a:prstGeom>
          <a:solidFill>
            <a:srgbClr val="FFB84C"/>
          </a:solidFill>
          <a:ln/>
        </p:spPr>
        <p:txBody>
          <a:bodyPr/>
          <a:lstStyle/>
          <a:p>
            <a:endParaRPr lang="en-US"/>
          </a:p>
        </p:txBody>
      </p:sp>
      <p:pic>
        <p:nvPicPr>
          <p:cNvPr id="8" name="icon-162" descr="preencoded.png"/>
          <p:cNvPicPr>
            <a:picLocks noChangeAspect="1"/>
          </p:cNvPicPr>
          <p:nvPr/>
        </p:nvPicPr>
        <p:blipFill>
          <a:blip r:embed="rId3"/>
          <a:stretch>
            <a:fillRect/>
          </a:stretch>
        </p:blipFill>
        <p:spPr>
          <a:xfrm>
            <a:off x="692018" y="1423538"/>
            <a:ext cx="225308" cy="225308"/>
          </a:xfrm>
          <a:prstGeom prst="rect">
            <a:avLst/>
          </a:prstGeom>
        </p:spPr>
      </p:pic>
      <p:sp>
        <p:nvSpPr>
          <p:cNvPr id="9" name="text-163"/>
          <p:cNvSpPr txBox="1"/>
          <p:nvPr/>
        </p:nvSpPr>
        <p:spPr>
          <a:xfrm>
            <a:off x="1097280" y="1335024"/>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When and where</a:t>
            </a:r>
            <a:endParaRPr lang="en-US" sz="1350" dirty="0"/>
          </a:p>
        </p:txBody>
      </p:sp>
      <p:sp>
        <p:nvSpPr>
          <p:cNvPr id="10" name="text-164"/>
          <p:cNvSpPr txBox="1"/>
          <p:nvPr/>
        </p:nvSpPr>
        <p:spPr>
          <a:xfrm>
            <a:off x="603504" y="1847088"/>
            <a:ext cx="2395728" cy="914400"/>
          </a:xfrm>
          <a:prstGeom prst="rect">
            <a:avLst/>
          </a:prstGeom>
          <a:noFill/>
          <a:ln/>
        </p:spPr>
        <p:txBody>
          <a:bodyPr wrap="square" lIns="0" tIns="0" rIns="0" bIns="0" rtlCol="0" anchor="t"/>
          <a:lstStyle/>
          <a:p>
            <a:pPr marL="0" indent="0">
              <a:buNone/>
            </a:pPr>
            <a:r>
              <a:rPr lang="en-US" sz="1100" dirty="0">
                <a:solidFill>
                  <a:schemeClr val="tx1"/>
                </a:solidFill>
              </a:rPr>
              <a:t>Stand-ups twice a week: Wednesday and Friday </a:t>
            </a:r>
            <a:r>
              <a:rPr lang="en-US" sz="1100">
                <a:solidFill>
                  <a:schemeClr val="tx1"/>
                </a:solidFill>
              </a:rPr>
              <a:t>at 8 pm </a:t>
            </a:r>
            <a:r>
              <a:rPr lang="en-US" sz="1100" dirty="0">
                <a:solidFill>
                  <a:schemeClr val="tx1"/>
                </a:solidFill>
              </a:rPr>
              <a:t>ET </a:t>
            </a:r>
            <a:r>
              <a:rPr lang="en-US" sz="1100">
                <a:solidFill>
                  <a:schemeClr val="tx1"/>
                </a:solidFill>
              </a:rPr>
              <a:t>on google meet. </a:t>
            </a:r>
            <a:r>
              <a:rPr lang="en-US" sz="1100" dirty="0">
                <a:solidFill>
                  <a:schemeClr val="tx1"/>
                </a:solidFill>
              </a:rPr>
              <a:t>Async updates daily in the team channel.</a:t>
            </a:r>
            <a:endParaRPr lang="en-US" sz="1100" dirty="0"/>
          </a:p>
        </p:txBody>
      </p:sp>
      <p:sp>
        <p:nvSpPr>
          <p:cNvPr id="11" name="card-165"/>
          <p:cNvSpPr/>
          <p:nvPr/>
        </p:nvSpPr>
        <p:spPr>
          <a:xfrm>
            <a:off x="3236976"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12" name="badge-166"/>
          <p:cNvSpPr/>
          <p:nvPr/>
        </p:nvSpPr>
        <p:spPr>
          <a:xfrm>
            <a:off x="3383280" y="1335024"/>
            <a:ext cx="402336" cy="402336"/>
          </a:xfrm>
          <a:prstGeom prst="ellipse">
            <a:avLst/>
          </a:prstGeom>
          <a:solidFill>
            <a:schemeClr val="accent2"/>
          </a:solidFill>
          <a:ln/>
        </p:spPr>
        <p:txBody>
          <a:bodyPr/>
          <a:lstStyle/>
          <a:p>
            <a:endParaRPr lang="en-US"/>
          </a:p>
        </p:txBody>
      </p:sp>
      <p:pic>
        <p:nvPicPr>
          <p:cNvPr id="13" name="icon-167" descr="preencoded.png"/>
          <p:cNvPicPr>
            <a:picLocks noChangeAspect="1"/>
          </p:cNvPicPr>
          <p:nvPr/>
        </p:nvPicPr>
        <p:blipFill>
          <a:blip r:embed="rId4"/>
          <a:stretch>
            <a:fillRect/>
          </a:stretch>
        </p:blipFill>
        <p:spPr>
          <a:xfrm>
            <a:off x="3471794" y="1423538"/>
            <a:ext cx="225308" cy="225308"/>
          </a:xfrm>
          <a:prstGeom prst="rect">
            <a:avLst/>
          </a:prstGeom>
        </p:spPr>
      </p:pic>
      <p:sp>
        <p:nvSpPr>
          <p:cNvPr id="14" name="text-168"/>
          <p:cNvSpPr txBox="1"/>
          <p:nvPr/>
        </p:nvSpPr>
        <p:spPr>
          <a:xfrm>
            <a:off x="3877056" y="1335024"/>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Commitment</a:t>
            </a:r>
            <a:endParaRPr lang="en-US" sz="1350" dirty="0"/>
          </a:p>
        </p:txBody>
      </p:sp>
      <p:sp>
        <p:nvSpPr>
          <p:cNvPr id="15" name="text-169"/>
          <p:cNvSpPr txBox="1"/>
          <p:nvPr/>
        </p:nvSpPr>
        <p:spPr>
          <a:xfrm>
            <a:off x="3383280" y="1847088"/>
            <a:ext cx="2395728" cy="914400"/>
          </a:xfrm>
          <a:prstGeom prst="rect">
            <a:avLst/>
          </a:prstGeom>
          <a:noFill/>
          <a:ln/>
        </p:spPr>
        <p:txBody>
          <a:bodyPr wrap="square" lIns="0" tIns="0" rIns="0" bIns="0" rtlCol="0" anchor="t"/>
          <a:lstStyle/>
          <a:p>
            <a:pPr marL="0" indent="0">
              <a:buNone/>
            </a:pPr>
            <a:r>
              <a:rPr lang="en-US" sz="1100" dirty="0">
                <a:solidFill>
                  <a:schemeClr val="tx1"/>
                </a:solidFill>
              </a:rPr>
              <a:t>If you can't finish a task, flag it in the channel at least 24 hours before the deadline so it can be re-assigned.</a:t>
            </a:r>
            <a:endParaRPr lang="en-US" sz="1100" dirty="0"/>
          </a:p>
        </p:txBody>
      </p:sp>
      <p:sp>
        <p:nvSpPr>
          <p:cNvPr id="16" name="card-170"/>
          <p:cNvSpPr/>
          <p:nvPr/>
        </p:nvSpPr>
        <p:spPr>
          <a:xfrm>
            <a:off x="6016752"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17" name="badge-171"/>
          <p:cNvSpPr/>
          <p:nvPr/>
        </p:nvSpPr>
        <p:spPr>
          <a:xfrm>
            <a:off x="6163056" y="1335024"/>
            <a:ext cx="402336" cy="402336"/>
          </a:xfrm>
          <a:prstGeom prst="ellipse">
            <a:avLst/>
          </a:prstGeom>
          <a:solidFill>
            <a:schemeClr val="accent2"/>
          </a:solidFill>
          <a:ln/>
        </p:spPr>
        <p:txBody>
          <a:bodyPr/>
          <a:lstStyle/>
          <a:p>
            <a:endParaRPr lang="en-US"/>
          </a:p>
        </p:txBody>
      </p:sp>
      <p:pic>
        <p:nvPicPr>
          <p:cNvPr id="18" name="icon-172" descr="preencoded.png"/>
          <p:cNvPicPr>
            <a:picLocks noChangeAspect="1"/>
          </p:cNvPicPr>
          <p:nvPr/>
        </p:nvPicPr>
        <p:blipFill>
          <a:blip r:embed="rId5"/>
          <a:stretch>
            <a:fillRect/>
          </a:stretch>
        </p:blipFill>
        <p:spPr>
          <a:xfrm>
            <a:off x="6251570" y="1423538"/>
            <a:ext cx="225308" cy="225308"/>
          </a:xfrm>
          <a:prstGeom prst="rect">
            <a:avLst/>
          </a:prstGeom>
        </p:spPr>
      </p:pic>
      <p:sp>
        <p:nvSpPr>
          <p:cNvPr id="19" name="text-173"/>
          <p:cNvSpPr txBox="1"/>
          <p:nvPr/>
        </p:nvSpPr>
        <p:spPr>
          <a:xfrm>
            <a:off x="6656832" y="1335024"/>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Deadlines</a:t>
            </a:r>
            <a:endParaRPr lang="en-US" sz="1350" dirty="0"/>
          </a:p>
        </p:txBody>
      </p:sp>
      <p:sp>
        <p:nvSpPr>
          <p:cNvPr id="20" name="text-174"/>
          <p:cNvSpPr txBox="1"/>
          <p:nvPr/>
        </p:nvSpPr>
        <p:spPr>
          <a:xfrm>
            <a:off x="6163056" y="1847088"/>
            <a:ext cx="2395728" cy="914400"/>
          </a:xfrm>
          <a:prstGeom prst="rect">
            <a:avLst/>
          </a:prstGeom>
          <a:noFill/>
          <a:ln/>
        </p:spPr>
        <p:txBody>
          <a:bodyPr wrap="square" lIns="0" tIns="0" rIns="0" bIns="0" rtlCol="0" anchor="t"/>
          <a:lstStyle/>
          <a:p>
            <a:pPr marL="0" indent="0">
              <a:buNone/>
            </a:pPr>
            <a:r>
              <a:rPr lang="en-US" sz="1100" dirty="0">
                <a:solidFill>
                  <a:schemeClr val="tx1"/>
                </a:solidFill>
              </a:rPr>
              <a:t>Individual work is due 48 hours before a Sprint review. No same-day drops on one person.</a:t>
            </a:r>
            <a:endParaRPr lang="en-US" sz="1100" dirty="0"/>
          </a:p>
        </p:txBody>
      </p:sp>
      <p:sp>
        <p:nvSpPr>
          <p:cNvPr id="21" name="card-175"/>
          <p:cNvSpPr/>
          <p:nvPr/>
        </p:nvSpPr>
        <p:spPr>
          <a:xfrm>
            <a:off x="457200"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22" name="badge-176"/>
          <p:cNvSpPr/>
          <p:nvPr/>
        </p:nvSpPr>
        <p:spPr>
          <a:xfrm>
            <a:off x="603504" y="3108960"/>
            <a:ext cx="402336" cy="402336"/>
          </a:xfrm>
          <a:prstGeom prst="ellipse">
            <a:avLst/>
          </a:prstGeom>
          <a:solidFill>
            <a:schemeClr val="accent2"/>
          </a:solidFill>
          <a:ln/>
        </p:spPr>
        <p:txBody>
          <a:bodyPr/>
          <a:lstStyle/>
          <a:p>
            <a:endParaRPr lang="en-US"/>
          </a:p>
        </p:txBody>
      </p:sp>
      <p:pic>
        <p:nvPicPr>
          <p:cNvPr id="23" name="icon-177" descr="preencoded.png"/>
          <p:cNvPicPr>
            <a:picLocks noChangeAspect="1"/>
          </p:cNvPicPr>
          <p:nvPr/>
        </p:nvPicPr>
        <p:blipFill>
          <a:blip r:embed="rId6"/>
          <a:stretch>
            <a:fillRect/>
          </a:stretch>
        </p:blipFill>
        <p:spPr>
          <a:xfrm>
            <a:off x="692018" y="3197474"/>
            <a:ext cx="225308" cy="225308"/>
          </a:xfrm>
          <a:prstGeom prst="rect">
            <a:avLst/>
          </a:prstGeom>
        </p:spPr>
      </p:pic>
      <p:sp>
        <p:nvSpPr>
          <p:cNvPr id="24" name="text-178"/>
          <p:cNvSpPr txBox="1"/>
          <p:nvPr/>
        </p:nvSpPr>
        <p:spPr>
          <a:xfrm>
            <a:off x="1097280" y="3108960"/>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Shared load</a:t>
            </a:r>
            <a:endParaRPr lang="en-US" sz="1350" dirty="0"/>
          </a:p>
        </p:txBody>
      </p:sp>
      <p:sp>
        <p:nvSpPr>
          <p:cNvPr id="25" name="text-179"/>
          <p:cNvSpPr txBox="1"/>
          <p:nvPr/>
        </p:nvSpPr>
        <p:spPr>
          <a:xfrm>
            <a:off x="603504" y="3621024"/>
            <a:ext cx="2395728" cy="914400"/>
          </a:xfrm>
          <a:prstGeom prst="rect">
            <a:avLst/>
          </a:prstGeom>
          <a:noFill/>
          <a:ln/>
        </p:spPr>
        <p:txBody>
          <a:bodyPr wrap="square" lIns="0" tIns="0" rIns="0" bIns="0" rtlCol="0" anchor="t"/>
          <a:lstStyle/>
          <a:p>
            <a:pPr marL="0" indent="0">
              <a:buNone/>
            </a:pPr>
            <a:r>
              <a:rPr lang="en-US" sz="1100" dirty="0">
                <a:solidFill>
                  <a:schemeClr val="tx1"/>
                </a:solidFill>
              </a:rPr>
              <a:t>Reviews and integration are shared across the team, not owned by a single 'fixer'.</a:t>
            </a:r>
            <a:endParaRPr lang="en-US" sz="1100" dirty="0"/>
          </a:p>
        </p:txBody>
      </p:sp>
      <p:sp>
        <p:nvSpPr>
          <p:cNvPr id="26" name="card-180"/>
          <p:cNvSpPr/>
          <p:nvPr/>
        </p:nvSpPr>
        <p:spPr>
          <a:xfrm>
            <a:off x="3236976"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27" name="badge-181"/>
          <p:cNvSpPr/>
          <p:nvPr/>
        </p:nvSpPr>
        <p:spPr>
          <a:xfrm>
            <a:off x="3383280" y="3108960"/>
            <a:ext cx="402336" cy="402336"/>
          </a:xfrm>
          <a:prstGeom prst="ellipse">
            <a:avLst/>
          </a:prstGeom>
          <a:solidFill>
            <a:schemeClr val="accent2"/>
          </a:solidFill>
          <a:ln/>
        </p:spPr>
        <p:txBody>
          <a:bodyPr/>
          <a:lstStyle/>
          <a:p>
            <a:endParaRPr lang="en-US"/>
          </a:p>
        </p:txBody>
      </p:sp>
      <p:pic>
        <p:nvPicPr>
          <p:cNvPr id="28" name="icon-182" descr="preencoded.png"/>
          <p:cNvPicPr>
            <a:picLocks noChangeAspect="1"/>
          </p:cNvPicPr>
          <p:nvPr/>
        </p:nvPicPr>
        <p:blipFill>
          <a:blip r:embed="rId7"/>
          <a:stretch>
            <a:fillRect/>
          </a:stretch>
        </p:blipFill>
        <p:spPr>
          <a:xfrm>
            <a:off x="3471794" y="3197474"/>
            <a:ext cx="225308" cy="225308"/>
          </a:xfrm>
          <a:prstGeom prst="rect">
            <a:avLst/>
          </a:prstGeom>
        </p:spPr>
      </p:pic>
      <p:sp>
        <p:nvSpPr>
          <p:cNvPr id="29" name="text-183"/>
          <p:cNvSpPr txBox="1"/>
          <p:nvPr/>
        </p:nvSpPr>
        <p:spPr>
          <a:xfrm>
            <a:off x="3877056" y="3108960"/>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Reminders</a:t>
            </a:r>
            <a:endParaRPr lang="en-US" sz="1350" dirty="0"/>
          </a:p>
        </p:txBody>
      </p:sp>
      <p:sp>
        <p:nvSpPr>
          <p:cNvPr id="30" name="text-184"/>
          <p:cNvSpPr txBox="1"/>
          <p:nvPr/>
        </p:nvSpPr>
        <p:spPr>
          <a:xfrm>
            <a:off x="3383280" y="3621024"/>
            <a:ext cx="2395728" cy="914400"/>
          </a:xfrm>
          <a:prstGeom prst="rect">
            <a:avLst/>
          </a:prstGeom>
          <a:noFill/>
          <a:ln/>
        </p:spPr>
        <p:txBody>
          <a:bodyPr wrap="square" lIns="0" tIns="0" rIns="0" bIns="0" rtlCol="0" anchor="t"/>
          <a:lstStyle/>
          <a:p>
            <a:pPr marL="0" indent="0">
              <a:buNone/>
            </a:pPr>
            <a:r>
              <a:rPr lang="en-US" sz="1100" dirty="0">
                <a:solidFill>
                  <a:schemeClr val="tx1"/>
                </a:solidFill>
              </a:rPr>
              <a:t>Teammates give one friendly reminder before a deadline; after that, it is on the individual.</a:t>
            </a:r>
            <a:endParaRPr lang="en-US" sz="1100" dirty="0"/>
          </a:p>
        </p:txBody>
      </p:sp>
      <p:sp>
        <p:nvSpPr>
          <p:cNvPr id="31" name="card-185"/>
          <p:cNvSpPr/>
          <p:nvPr/>
        </p:nvSpPr>
        <p:spPr>
          <a:xfrm>
            <a:off x="6016752"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32" name="badge-186"/>
          <p:cNvSpPr/>
          <p:nvPr/>
        </p:nvSpPr>
        <p:spPr>
          <a:xfrm>
            <a:off x="6163056" y="3108960"/>
            <a:ext cx="402336" cy="402336"/>
          </a:xfrm>
          <a:prstGeom prst="ellipse">
            <a:avLst/>
          </a:prstGeom>
          <a:solidFill>
            <a:schemeClr val="accent2"/>
          </a:solidFill>
          <a:ln/>
        </p:spPr>
        <p:txBody>
          <a:bodyPr/>
          <a:lstStyle/>
          <a:p>
            <a:endParaRPr lang="en-US"/>
          </a:p>
        </p:txBody>
      </p:sp>
      <p:pic>
        <p:nvPicPr>
          <p:cNvPr id="33" name="icon-187" descr="preencoded.png"/>
          <p:cNvPicPr>
            <a:picLocks noChangeAspect="1"/>
          </p:cNvPicPr>
          <p:nvPr/>
        </p:nvPicPr>
        <p:blipFill>
          <a:blip r:embed="rId8"/>
          <a:stretch>
            <a:fillRect/>
          </a:stretch>
        </p:blipFill>
        <p:spPr>
          <a:xfrm>
            <a:off x="6251570" y="3197474"/>
            <a:ext cx="225308" cy="225308"/>
          </a:xfrm>
          <a:prstGeom prst="rect">
            <a:avLst/>
          </a:prstGeom>
        </p:spPr>
      </p:pic>
      <p:sp>
        <p:nvSpPr>
          <p:cNvPr id="34" name="text-188"/>
          <p:cNvSpPr txBox="1"/>
          <p:nvPr/>
        </p:nvSpPr>
        <p:spPr>
          <a:xfrm>
            <a:off x="6656832" y="3108960"/>
            <a:ext cx="1938528" cy="402336"/>
          </a:xfrm>
          <a:prstGeom prst="rect">
            <a:avLst/>
          </a:prstGeom>
          <a:noFill/>
          <a:ln/>
        </p:spPr>
        <p:txBody>
          <a:bodyPr wrap="square" lIns="0" tIns="0" rIns="0" bIns="0" rtlCol="0" anchor="ctr"/>
          <a:lstStyle/>
          <a:p>
            <a:pPr marL="0" indent="0">
              <a:buNone/>
            </a:pPr>
            <a:r>
              <a:rPr lang="en-US" sz="1350" b="1" dirty="0">
                <a:solidFill>
                  <a:schemeClr val="tx2"/>
                </a:solidFill>
              </a:rPr>
              <a:t>Conflict</a:t>
            </a:r>
            <a:endParaRPr lang="en-US" sz="1350" dirty="0"/>
          </a:p>
        </p:txBody>
      </p:sp>
      <p:sp>
        <p:nvSpPr>
          <p:cNvPr id="35" name="text-189"/>
          <p:cNvSpPr txBox="1"/>
          <p:nvPr/>
        </p:nvSpPr>
        <p:spPr>
          <a:xfrm>
            <a:off x="6163056" y="3621024"/>
            <a:ext cx="2395728" cy="914400"/>
          </a:xfrm>
          <a:prstGeom prst="rect">
            <a:avLst/>
          </a:prstGeom>
          <a:noFill/>
          <a:ln/>
        </p:spPr>
        <p:txBody>
          <a:bodyPr wrap="square" lIns="0" tIns="0" rIns="0" bIns="0" rtlCol="0" anchor="t"/>
          <a:lstStyle/>
          <a:p>
            <a:pPr marL="0" indent="0">
              <a:buNone/>
            </a:pPr>
            <a:r>
              <a:rPr lang="en-US" sz="1100" dirty="0">
                <a:solidFill>
                  <a:schemeClr val="tx1"/>
                </a:solidFill>
              </a:rPr>
              <a:t>Disagreements are raised in the team meeting, not worked around silently. Unresolved issues go to the Team Leader.</a:t>
            </a:r>
            <a:endParaRPr lang="en-US" sz="1100" dirty="0"/>
          </a:p>
        </p:txBody>
      </p:sp>
      <p:sp>
        <p:nvSpPr>
          <p:cNvPr id="36"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PRODUCT PERSONAS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Three people, three ways of working</a:t>
            </a:r>
            <a:endParaRPr lang="en-US" sz="2800" dirty="0"/>
          </a:p>
        </p:txBody>
      </p:sp>
      <p:sp>
        <p:nvSpPr>
          <p:cNvPr id="4" name="revised-tag-190"/>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191"/>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sp>
        <p:nvSpPr>
          <p:cNvPr id="6" name="card-192"/>
          <p:cNvSpPr/>
          <p:nvPr/>
        </p:nvSpPr>
        <p:spPr>
          <a:xfrm>
            <a:off x="457200"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pic>
        <p:nvPicPr>
          <p:cNvPr id="7" name="persona-photo-193" descr="/home/claude/work/assets/persona-priya.png"/>
          <p:cNvPicPr>
            <a:picLocks noChangeAspect="1"/>
          </p:cNvPicPr>
          <p:nvPr/>
        </p:nvPicPr>
        <p:blipFill>
          <a:blip r:embed="rId3"/>
          <a:stretch>
            <a:fillRect/>
          </a:stretch>
        </p:blipFill>
        <p:spPr>
          <a:xfrm>
            <a:off x="621792" y="1380744"/>
            <a:ext cx="603504" cy="603504"/>
          </a:xfrm>
          <a:prstGeom prst="rect">
            <a:avLst/>
          </a:prstGeom>
        </p:spPr>
      </p:pic>
      <p:sp>
        <p:nvSpPr>
          <p:cNvPr id="8" name="text-194"/>
          <p:cNvSpPr txBox="1"/>
          <p:nvPr/>
        </p:nvSpPr>
        <p:spPr>
          <a:xfrm>
            <a:off x="1335024" y="1417320"/>
            <a:ext cx="1664208" cy="27432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Priya, 34</a:t>
            </a:r>
            <a:endParaRPr lang="en-US" sz="1600" dirty="0"/>
          </a:p>
        </p:txBody>
      </p:sp>
      <p:sp>
        <p:nvSpPr>
          <p:cNvPr id="9" name="text-195"/>
          <p:cNvSpPr txBox="1"/>
          <p:nvPr/>
        </p:nvSpPr>
        <p:spPr>
          <a:xfrm>
            <a:off x="1335024" y="1691640"/>
            <a:ext cx="1664208" cy="274320"/>
          </a:xfrm>
          <a:prstGeom prst="rect">
            <a:avLst/>
          </a:prstGeom>
          <a:noFill/>
          <a:ln/>
        </p:spPr>
        <p:txBody>
          <a:bodyPr wrap="square" lIns="0" tIns="0" rIns="0" bIns="0" rtlCol="0" anchor="t">
            <a:normAutofit lnSpcReduction="10000"/>
          </a:bodyPr>
          <a:lstStyle/>
          <a:p>
            <a:pPr marL="0" indent="0">
              <a:buNone/>
            </a:pPr>
            <a:r>
              <a:rPr lang="en-US" sz="950" b="1" kern="0" spc="50" dirty="0">
                <a:solidFill>
                  <a:schemeClr val="accent1"/>
                </a:solidFill>
              </a:rPr>
              <a:t>SOFTWARE ENGINEERING LEAD</a:t>
            </a:r>
            <a:endParaRPr lang="en-US" sz="950" dirty="0"/>
          </a:p>
        </p:txBody>
      </p:sp>
      <p:sp>
        <p:nvSpPr>
          <p:cNvPr id="10" name="text-196"/>
          <p:cNvSpPr txBox="1"/>
          <p:nvPr/>
        </p:nvSpPr>
        <p:spPr>
          <a:xfrm>
            <a:off x="640080" y="2075688"/>
            <a:ext cx="2231136" cy="658368"/>
          </a:xfrm>
          <a:prstGeom prst="rect">
            <a:avLst/>
          </a:prstGeom>
          <a:noFill/>
          <a:ln/>
        </p:spPr>
        <p:txBody>
          <a:bodyPr wrap="square" lIns="0" tIns="0" rIns="0" bIns="0" rtlCol="0" anchor="t"/>
          <a:lstStyle/>
          <a:p>
            <a:pPr marL="0" indent="0">
              <a:buNone/>
            </a:pPr>
            <a:r>
              <a:rPr lang="en-US" sz="1100" i="1" dirty="0">
                <a:solidFill>
                  <a:schemeClr val="tx1"/>
                </a:solidFill>
              </a:rPr>
              <a:t>Wants one orchestrated pipeline that runs security review, code fixes and tests before every merge.</a:t>
            </a:r>
            <a:endParaRPr lang="en-US" sz="1100" dirty="0"/>
          </a:p>
        </p:txBody>
      </p:sp>
      <p:sp>
        <p:nvSpPr>
          <p:cNvPr id="11" name="text-197"/>
          <p:cNvSpPr txBox="1"/>
          <p:nvPr/>
        </p:nvSpPr>
        <p:spPr>
          <a:xfrm>
            <a:off x="640080" y="2788920"/>
            <a:ext cx="182880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GOALS</a:t>
            </a:r>
            <a:endParaRPr lang="en-US" sz="1000" dirty="0"/>
          </a:p>
        </p:txBody>
      </p:sp>
      <p:sp>
        <p:nvSpPr>
          <p:cNvPr id="12" name="text-198"/>
          <p:cNvSpPr txBox="1"/>
          <p:nvPr/>
        </p:nvSpPr>
        <p:spPr>
          <a:xfrm>
            <a:off x="640080" y="2999232"/>
            <a:ext cx="2276856" cy="731520"/>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One pipeline, end to end</a:t>
            </a:r>
            <a:endParaRPr lang="en-US" sz="1100" dirty="0"/>
          </a:p>
          <a:p>
            <a:pPr marL="152400" indent="-152400">
              <a:spcAft>
                <a:spcPts val="200"/>
              </a:spcAft>
              <a:buSzPct val="100000"/>
              <a:buChar char="•"/>
            </a:pPr>
            <a:r>
              <a:rPr lang="en-US" sz="1100" dirty="0">
                <a:solidFill>
                  <a:schemeClr val="tx1"/>
                </a:solidFill>
              </a:rPr>
              <a:t>Security review before merge</a:t>
            </a:r>
            <a:endParaRPr lang="en-US" sz="1100" dirty="0"/>
          </a:p>
          <a:p>
            <a:pPr marL="152400" indent="-152400">
              <a:spcAft>
                <a:spcPts val="200"/>
              </a:spcAft>
              <a:buSzPct val="100000"/>
              <a:buChar char="•"/>
            </a:pPr>
            <a:r>
              <a:rPr lang="en-US" sz="1100" dirty="0">
                <a:solidFill>
                  <a:schemeClr val="tx1"/>
                </a:solidFill>
              </a:rPr>
              <a:t>Automated fixes and tests</a:t>
            </a:r>
            <a:endParaRPr lang="en-US" sz="1100" dirty="0"/>
          </a:p>
        </p:txBody>
      </p:sp>
      <p:sp>
        <p:nvSpPr>
          <p:cNvPr id="13" name="text-199"/>
          <p:cNvSpPr txBox="1"/>
          <p:nvPr/>
        </p:nvSpPr>
        <p:spPr>
          <a:xfrm>
            <a:off x="640080" y="3776472"/>
            <a:ext cx="1828800" cy="201168"/>
          </a:xfrm>
          <a:prstGeom prst="rect">
            <a:avLst/>
          </a:prstGeom>
          <a:noFill/>
          <a:ln/>
        </p:spPr>
        <p:txBody>
          <a:bodyPr wrap="square" lIns="0" tIns="0" rIns="0" bIns="0" rtlCol="0" anchor="t"/>
          <a:lstStyle/>
          <a:p>
            <a:pPr marL="0" indent="0">
              <a:buNone/>
            </a:pPr>
            <a:r>
              <a:rPr lang="en-US" sz="1000" b="1" kern="0" spc="100" dirty="0">
                <a:solidFill>
                  <a:schemeClr val="accent6"/>
                </a:solidFill>
              </a:rPr>
              <a:t>PAIN POINTS</a:t>
            </a:r>
            <a:endParaRPr lang="en-US" sz="1000" dirty="0"/>
          </a:p>
        </p:txBody>
      </p:sp>
      <p:sp>
        <p:nvSpPr>
          <p:cNvPr id="14" name="text-200"/>
          <p:cNvSpPr txBox="1"/>
          <p:nvPr/>
        </p:nvSpPr>
        <p:spPr>
          <a:xfrm>
            <a:off x="640080" y="3977640"/>
            <a:ext cx="2276856" cy="658368"/>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Manually chaining AI tools</a:t>
            </a:r>
            <a:endParaRPr lang="en-US" sz="1100" dirty="0"/>
          </a:p>
          <a:p>
            <a:pPr marL="152400" indent="-152400">
              <a:spcAft>
                <a:spcPts val="200"/>
              </a:spcAft>
              <a:buSzPct val="100000"/>
              <a:buChar char="•"/>
            </a:pPr>
            <a:r>
              <a:rPr lang="en-US" sz="1100" dirty="0">
                <a:solidFill>
                  <a:schemeClr val="tx1"/>
                </a:solidFill>
              </a:rPr>
              <a:t>Slow, error-prone handoffs</a:t>
            </a:r>
            <a:endParaRPr lang="en-US" sz="1100" dirty="0"/>
          </a:p>
          <a:p>
            <a:pPr marL="152400" indent="-152400">
              <a:spcAft>
                <a:spcPts val="200"/>
              </a:spcAft>
              <a:buSzPct val="100000"/>
              <a:buChar char="•"/>
            </a:pPr>
            <a:r>
              <a:rPr lang="en-US" sz="1100" dirty="0">
                <a:solidFill>
                  <a:schemeClr val="tx1"/>
                </a:solidFill>
              </a:rPr>
              <a:t>Fragmented tool results</a:t>
            </a:r>
            <a:endParaRPr lang="en-US" sz="1100" dirty="0"/>
          </a:p>
        </p:txBody>
      </p:sp>
      <p:sp>
        <p:nvSpPr>
          <p:cNvPr id="15" name="card-201"/>
          <p:cNvSpPr/>
          <p:nvPr/>
        </p:nvSpPr>
        <p:spPr>
          <a:xfrm>
            <a:off x="3273552"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pic>
        <p:nvPicPr>
          <p:cNvPr id="16" name="persona-photo-202" descr="/home/claude/work/assets/persona-daniel.png"/>
          <p:cNvPicPr>
            <a:picLocks noChangeAspect="1"/>
          </p:cNvPicPr>
          <p:nvPr/>
        </p:nvPicPr>
        <p:blipFill>
          <a:blip r:embed="rId4"/>
          <a:stretch>
            <a:fillRect/>
          </a:stretch>
        </p:blipFill>
        <p:spPr>
          <a:xfrm>
            <a:off x="3438144" y="1380744"/>
            <a:ext cx="603504" cy="603504"/>
          </a:xfrm>
          <a:prstGeom prst="rect">
            <a:avLst/>
          </a:prstGeom>
        </p:spPr>
      </p:pic>
      <p:sp>
        <p:nvSpPr>
          <p:cNvPr id="17" name="text-203"/>
          <p:cNvSpPr txBox="1"/>
          <p:nvPr/>
        </p:nvSpPr>
        <p:spPr>
          <a:xfrm>
            <a:off x="4151376" y="1417320"/>
            <a:ext cx="1664208" cy="27432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Daniel, 29</a:t>
            </a:r>
            <a:endParaRPr lang="en-US" sz="1600" dirty="0"/>
          </a:p>
        </p:txBody>
      </p:sp>
      <p:sp>
        <p:nvSpPr>
          <p:cNvPr id="18" name="text-204"/>
          <p:cNvSpPr txBox="1"/>
          <p:nvPr/>
        </p:nvSpPr>
        <p:spPr>
          <a:xfrm>
            <a:off x="4151376" y="1691640"/>
            <a:ext cx="1664208" cy="274320"/>
          </a:xfrm>
          <a:prstGeom prst="rect">
            <a:avLst/>
          </a:prstGeom>
          <a:noFill/>
          <a:ln/>
        </p:spPr>
        <p:txBody>
          <a:bodyPr wrap="square" lIns="0" tIns="0" rIns="0" bIns="0" rtlCol="0" anchor="t">
            <a:normAutofit/>
          </a:bodyPr>
          <a:lstStyle/>
          <a:p>
            <a:pPr marL="0" indent="0">
              <a:buNone/>
            </a:pPr>
            <a:r>
              <a:rPr lang="en-US" sz="950" b="1" kern="0" spc="50" dirty="0">
                <a:solidFill>
                  <a:schemeClr val="accent1"/>
                </a:solidFill>
              </a:rPr>
              <a:t>DATA ANALYST</a:t>
            </a:r>
            <a:endParaRPr lang="en-US" sz="950" dirty="0"/>
          </a:p>
        </p:txBody>
      </p:sp>
      <p:sp>
        <p:nvSpPr>
          <p:cNvPr id="19" name="text-205"/>
          <p:cNvSpPr txBox="1"/>
          <p:nvPr/>
        </p:nvSpPr>
        <p:spPr>
          <a:xfrm>
            <a:off x="3456432" y="2075688"/>
            <a:ext cx="2231136" cy="658368"/>
          </a:xfrm>
          <a:prstGeom prst="rect">
            <a:avLst/>
          </a:prstGeom>
          <a:noFill/>
          <a:ln/>
        </p:spPr>
        <p:txBody>
          <a:bodyPr wrap="square" lIns="0" tIns="0" rIns="0" bIns="0" rtlCol="0" anchor="t"/>
          <a:lstStyle/>
          <a:p>
            <a:pPr marL="0" indent="0">
              <a:buNone/>
            </a:pPr>
            <a:r>
              <a:rPr lang="en-US" sz="1100" i="1" dirty="0">
                <a:solidFill>
                  <a:schemeClr val="tx1"/>
                </a:solidFill>
              </a:rPr>
              <a:t>Wants cleaning, analysis and reporting from a single plain-language request.</a:t>
            </a:r>
            <a:endParaRPr lang="en-US" sz="1100" dirty="0"/>
          </a:p>
        </p:txBody>
      </p:sp>
      <p:sp>
        <p:nvSpPr>
          <p:cNvPr id="20" name="text-206"/>
          <p:cNvSpPr txBox="1"/>
          <p:nvPr/>
        </p:nvSpPr>
        <p:spPr>
          <a:xfrm>
            <a:off x="3456432" y="2788920"/>
            <a:ext cx="182880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GOALS</a:t>
            </a:r>
            <a:endParaRPr lang="en-US" sz="1000" dirty="0"/>
          </a:p>
        </p:txBody>
      </p:sp>
      <p:sp>
        <p:nvSpPr>
          <p:cNvPr id="21" name="text-207"/>
          <p:cNvSpPr txBox="1"/>
          <p:nvPr/>
        </p:nvSpPr>
        <p:spPr>
          <a:xfrm>
            <a:off x="3456432" y="2999232"/>
            <a:ext cx="2276856" cy="731520"/>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One plain-language request</a:t>
            </a:r>
            <a:endParaRPr lang="en-US" sz="1100" dirty="0"/>
          </a:p>
          <a:p>
            <a:pPr marL="152400" indent="-152400">
              <a:spcAft>
                <a:spcPts val="200"/>
              </a:spcAft>
              <a:buSzPct val="100000"/>
              <a:buChar char="•"/>
            </a:pPr>
            <a:r>
              <a:rPr lang="en-US" sz="1100" dirty="0">
                <a:solidFill>
                  <a:schemeClr val="tx1"/>
                </a:solidFill>
              </a:rPr>
              <a:t>Cleaning, analysis, reporting</a:t>
            </a:r>
            <a:endParaRPr lang="en-US" sz="1100" dirty="0"/>
          </a:p>
          <a:p>
            <a:pPr marL="152400" indent="-152400">
              <a:spcAft>
                <a:spcPts val="200"/>
              </a:spcAft>
              <a:buSzPct val="100000"/>
              <a:buChar char="•"/>
            </a:pPr>
            <a:r>
              <a:rPr lang="en-US" sz="1100" dirty="0">
                <a:solidFill>
                  <a:schemeClr val="tx1"/>
                </a:solidFill>
              </a:rPr>
              <a:t>Clean structured data handoff</a:t>
            </a:r>
            <a:endParaRPr lang="en-US" sz="1100" dirty="0"/>
          </a:p>
        </p:txBody>
      </p:sp>
      <p:sp>
        <p:nvSpPr>
          <p:cNvPr id="22" name="text-208"/>
          <p:cNvSpPr txBox="1"/>
          <p:nvPr/>
        </p:nvSpPr>
        <p:spPr>
          <a:xfrm>
            <a:off x="3456432" y="3776472"/>
            <a:ext cx="1828800" cy="201168"/>
          </a:xfrm>
          <a:prstGeom prst="rect">
            <a:avLst/>
          </a:prstGeom>
          <a:noFill/>
          <a:ln/>
        </p:spPr>
        <p:txBody>
          <a:bodyPr wrap="square" lIns="0" tIns="0" rIns="0" bIns="0" rtlCol="0" anchor="t"/>
          <a:lstStyle/>
          <a:p>
            <a:pPr marL="0" indent="0">
              <a:buNone/>
            </a:pPr>
            <a:r>
              <a:rPr lang="en-US" sz="1000" b="1" kern="0" spc="100" dirty="0">
                <a:solidFill>
                  <a:schemeClr val="accent6"/>
                </a:solidFill>
              </a:rPr>
              <a:t>PAIN POINTS</a:t>
            </a:r>
            <a:endParaRPr lang="en-US" sz="1000" dirty="0"/>
          </a:p>
        </p:txBody>
      </p:sp>
      <p:sp>
        <p:nvSpPr>
          <p:cNvPr id="23" name="text-209"/>
          <p:cNvSpPr txBox="1"/>
          <p:nvPr/>
        </p:nvSpPr>
        <p:spPr>
          <a:xfrm>
            <a:off x="3456432" y="3977640"/>
            <a:ext cx="2276856" cy="658368"/>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Models lose track of steps</a:t>
            </a:r>
            <a:endParaRPr lang="en-US" sz="1100" dirty="0"/>
          </a:p>
          <a:p>
            <a:pPr marL="152400" indent="-152400">
              <a:spcAft>
                <a:spcPts val="200"/>
              </a:spcAft>
              <a:buSzPct val="100000"/>
              <a:buChar char="•"/>
            </a:pPr>
            <a:r>
              <a:rPr lang="en-US" sz="1100" dirty="0">
                <a:solidFill>
                  <a:schemeClr val="tx1"/>
                </a:solidFill>
              </a:rPr>
              <a:t>Messy stage-to-stage handoffs</a:t>
            </a:r>
            <a:endParaRPr lang="en-US" sz="1100" dirty="0"/>
          </a:p>
          <a:p>
            <a:pPr marL="152400" indent="-152400">
              <a:spcAft>
                <a:spcPts val="200"/>
              </a:spcAft>
              <a:buSzPct val="100000"/>
              <a:buChar char="•"/>
            </a:pPr>
            <a:r>
              <a:rPr lang="en-US" sz="1100" dirty="0">
                <a:solidFill>
                  <a:schemeClr val="tx1"/>
                </a:solidFill>
              </a:rPr>
              <a:t>Re-prompting at every stage</a:t>
            </a:r>
            <a:endParaRPr lang="en-US" sz="1100" dirty="0"/>
          </a:p>
        </p:txBody>
      </p:sp>
      <p:sp>
        <p:nvSpPr>
          <p:cNvPr id="24" name="card-210"/>
          <p:cNvSpPr/>
          <p:nvPr/>
        </p:nvSpPr>
        <p:spPr>
          <a:xfrm>
            <a:off x="6089904"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pic>
        <p:nvPicPr>
          <p:cNvPr id="25" name="persona-photo-211" descr="/home/claude/work/assets/persona-aisha.png"/>
          <p:cNvPicPr>
            <a:picLocks noChangeAspect="1"/>
          </p:cNvPicPr>
          <p:nvPr/>
        </p:nvPicPr>
        <p:blipFill>
          <a:blip r:embed="rId5"/>
          <a:stretch>
            <a:fillRect/>
          </a:stretch>
        </p:blipFill>
        <p:spPr>
          <a:xfrm>
            <a:off x="6254496" y="1380744"/>
            <a:ext cx="603504" cy="603504"/>
          </a:xfrm>
          <a:prstGeom prst="rect">
            <a:avLst/>
          </a:prstGeom>
        </p:spPr>
      </p:pic>
      <p:sp>
        <p:nvSpPr>
          <p:cNvPr id="26" name="text-212"/>
          <p:cNvSpPr txBox="1"/>
          <p:nvPr/>
        </p:nvSpPr>
        <p:spPr>
          <a:xfrm>
            <a:off x="6967728" y="1417320"/>
            <a:ext cx="1664208" cy="27432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Aisha, 31</a:t>
            </a:r>
            <a:endParaRPr lang="en-US" sz="1600" dirty="0"/>
          </a:p>
        </p:txBody>
      </p:sp>
      <p:sp>
        <p:nvSpPr>
          <p:cNvPr id="27" name="text-213"/>
          <p:cNvSpPr txBox="1"/>
          <p:nvPr/>
        </p:nvSpPr>
        <p:spPr>
          <a:xfrm>
            <a:off x="6967728" y="1691640"/>
            <a:ext cx="1664208" cy="274320"/>
          </a:xfrm>
          <a:prstGeom prst="rect">
            <a:avLst/>
          </a:prstGeom>
          <a:noFill/>
          <a:ln/>
        </p:spPr>
        <p:txBody>
          <a:bodyPr wrap="square" lIns="0" tIns="0" rIns="0" bIns="0" rtlCol="0" anchor="t">
            <a:normAutofit lnSpcReduction="10000"/>
          </a:bodyPr>
          <a:lstStyle/>
          <a:p>
            <a:pPr marL="0" indent="0">
              <a:buNone/>
            </a:pPr>
            <a:r>
              <a:rPr lang="en-US" sz="950" b="1" kern="0" spc="50" dirty="0">
                <a:solidFill>
                  <a:schemeClr val="accent1"/>
                </a:solidFill>
              </a:rPr>
              <a:t>TECHNICAL PRODUCT MANAGER</a:t>
            </a:r>
            <a:endParaRPr lang="en-US" sz="950" dirty="0"/>
          </a:p>
        </p:txBody>
      </p:sp>
      <p:sp>
        <p:nvSpPr>
          <p:cNvPr id="28" name="text-214"/>
          <p:cNvSpPr txBox="1"/>
          <p:nvPr/>
        </p:nvSpPr>
        <p:spPr>
          <a:xfrm>
            <a:off x="6272784" y="2075688"/>
            <a:ext cx="2231136" cy="658368"/>
          </a:xfrm>
          <a:prstGeom prst="rect">
            <a:avLst/>
          </a:prstGeom>
          <a:noFill/>
          <a:ln/>
        </p:spPr>
        <p:txBody>
          <a:bodyPr wrap="square" lIns="0" tIns="0" rIns="0" bIns="0" rtlCol="0" anchor="t"/>
          <a:lstStyle/>
          <a:p>
            <a:pPr marL="0" indent="0">
              <a:buNone/>
            </a:pPr>
            <a:r>
              <a:rPr lang="en-US" sz="1100" i="1" dirty="0">
                <a:solidFill>
                  <a:schemeClr val="tx1"/>
                </a:solidFill>
              </a:rPr>
              <a:t>Wants to see which capability ran, why it was chosen and what it cost, for every workflow.</a:t>
            </a:r>
            <a:endParaRPr lang="en-US" sz="1100" dirty="0"/>
          </a:p>
        </p:txBody>
      </p:sp>
      <p:sp>
        <p:nvSpPr>
          <p:cNvPr id="29" name="text-215"/>
          <p:cNvSpPr txBox="1"/>
          <p:nvPr/>
        </p:nvSpPr>
        <p:spPr>
          <a:xfrm>
            <a:off x="6272784" y="2788920"/>
            <a:ext cx="182880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GOALS</a:t>
            </a:r>
            <a:endParaRPr lang="en-US" sz="1000" dirty="0"/>
          </a:p>
        </p:txBody>
      </p:sp>
      <p:sp>
        <p:nvSpPr>
          <p:cNvPr id="30" name="text-216"/>
          <p:cNvSpPr txBox="1"/>
          <p:nvPr/>
        </p:nvSpPr>
        <p:spPr>
          <a:xfrm>
            <a:off x="6272784" y="2999232"/>
            <a:ext cx="2276856" cy="731520"/>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See which capability ran, and why</a:t>
            </a:r>
            <a:endParaRPr lang="en-US" sz="1100" dirty="0"/>
          </a:p>
          <a:p>
            <a:pPr marL="152400" indent="-152400">
              <a:spcAft>
                <a:spcPts val="200"/>
              </a:spcAft>
              <a:buSzPct val="100000"/>
              <a:buChar char="•"/>
            </a:pPr>
            <a:r>
              <a:rPr lang="en-US" sz="1100" dirty="0">
                <a:solidFill>
                  <a:schemeClr val="tx1"/>
                </a:solidFill>
              </a:rPr>
              <a:t>Cost visibility per workflow</a:t>
            </a:r>
            <a:endParaRPr lang="en-US" sz="1100" dirty="0"/>
          </a:p>
          <a:p>
            <a:pPr marL="152400" indent="-152400">
              <a:spcAft>
                <a:spcPts val="200"/>
              </a:spcAft>
              <a:buSzPct val="100000"/>
              <a:buChar char="•"/>
            </a:pPr>
            <a:r>
              <a:rPr lang="en-US" sz="1100" dirty="0">
                <a:solidFill>
                  <a:schemeClr val="tx1"/>
                </a:solidFill>
              </a:rPr>
              <a:t>Audit latency, decision quality</a:t>
            </a:r>
            <a:endParaRPr lang="en-US" sz="1100" dirty="0"/>
          </a:p>
        </p:txBody>
      </p:sp>
      <p:sp>
        <p:nvSpPr>
          <p:cNvPr id="31" name="text-217"/>
          <p:cNvSpPr txBox="1"/>
          <p:nvPr/>
        </p:nvSpPr>
        <p:spPr>
          <a:xfrm>
            <a:off x="6272784" y="3776472"/>
            <a:ext cx="1828800" cy="201168"/>
          </a:xfrm>
          <a:prstGeom prst="rect">
            <a:avLst/>
          </a:prstGeom>
          <a:noFill/>
          <a:ln/>
        </p:spPr>
        <p:txBody>
          <a:bodyPr wrap="square" lIns="0" tIns="0" rIns="0" bIns="0" rtlCol="0" anchor="t"/>
          <a:lstStyle/>
          <a:p>
            <a:pPr marL="0" indent="0">
              <a:buNone/>
            </a:pPr>
            <a:r>
              <a:rPr lang="en-US" sz="1000" b="1" kern="0" spc="100" dirty="0">
                <a:solidFill>
                  <a:schemeClr val="accent6"/>
                </a:solidFill>
              </a:rPr>
              <a:t>PAIN POINTS</a:t>
            </a:r>
            <a:endParaRPr lang="en-US" sz="1000" dirty="0"/>
          </a:p>
        </p:txBody>
      </p:sp>
      <p:sp>
        <p:nvSpPr>
          <p:cNvPr id="32" name="text-218"/>
          <p:cNvSpPr txBox="1"/>
          <p:nvPr/>
        </p:nvSpPr>
        <p:spPr>
          <a:xfrm>
            <a:off x="6272784" y="3977640"/>
            <a:ext cx="2276856" cy="658368"/>
          </a:xfrm>
          <a:prstGeom prst="rect">
            <a:avLst/>
          </a:prstGeom>
          <a:noFill/>
          <a:ln/>
        </p:spPr>
        <p:txBody>
          <a:bodyPr wrap="square" lIns="0" tIns="0" rIns="0" bIns="0" rtlCol="0" anchor="t"/>
          <a:lstStyle/>
          <a:p>
            <a:pPr marL="152400" indent="-152400">
              <a:spcAft>
                <a:spcPts val="200"/>
              </a:spcAft>
              <a:buSzPct val="100000"/>
              <a:buChar char="•"/>
            </a:pPr>
            <a:r>
              <a:rPr lang="en-US" sz="1100" dirty="0">
                <a:solidFill>
                  <a:schemeClr val="tx1"/>
                </a:solidFill>
              </a:rPr>
              <a:t>Black-box chatbot answers</a:t>
            </a:r>
            <a:endParaRPr lang="en-US" sz="1100" dirty="0"/>
          </a:p>
          <a:p>
            <a:pPr marL="152400" indent="-152400">
              <a:spcAft>
                <a:spcPts val="200"/>
              </a:spcAft>
              <a:buSzPct val="100000"/>
              <a:buChar char="•"/>
            </a:pPr>
            <a:r>
              <a:rPr lang="en-US" sz="1100" dirty="0">
                <a:solidFill>
                  <a:schemeClr val="tx1"/>
                </a:solidFill>
              </a:rPr>
              <a:t>No cost audit trail</a:t>
            </a:r>
            <a:endParaRPr lang="en-US" sz="1100" dirty="0"/>
          </a:p>
          <a:p>
            <a:pPr marL="152400" indent="-152400">
              <a:spcAft>
                <a:spcPts val="200"/>
              </a:spcAft>
              <a:buSzPct val="100000"/>
              <a:buChar char="•"/>
            </a:pPr>
            <a:r>
              <a:rPr lang="en-US" sz="1100" dirty="0">
                <a:solidFill>
                  <a:schemeClr val="tx1"/>
                </a:solidFill>
              </a:rPr>
              <a:t>Latency and quality unclear</a:t>
            </a:r>
            <a:endParaRPr lang="en-US" sz="1100" dirty="0"/>
          </a:p>
        </p:txBody>
      </p:sp>
      <p:sp>
        <p:nvSpPr>
          <p:cNvPr id="33"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MINIMAL VIABLE PRODUCT</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a user can actually do today</a:t>
            </a:r>
            <a:endParaRPr lang="en-US" sz="2800" dirty="0"/>
          </a:p>
        </p:txBody>
      </p:sp>
      <p:sp>
        <p:nvSpPr>
          <p:cNvPr id="4" name="card-219"/>
          <p:cNvSpPr/>
          <p:nvPr/>
        </p:nvSpPr>
        <p:spPr>
          <a:xfrm>
            <a:off x="457200" y="1188720"/>
            <a:ext cx="1463040" cy="1325880"/>
          </a:xfrm>
          <a:prstGeom prst="roundRect">
            <a:avLst>
              <a:gd name="adj" fmla="val 5517"/>
            </a:avLst>
          </a:prstGeom>
          <a:solidFill>
            <a:schemeClr val="bg1"/>
          </a:solidFill>
          <a:ln w="9525">
            <a:solidFill>
              <a:srgbClr val="E1E5F5"/>
            </a:solidFill>
            <a:prstDash val="solid"/>
          </a:ln>
        </p:spPr>
        <p:txBody>
          <a:bodyPr/>
          <a:lstStyle/>
          <a:p>
            <a:endParaRPr lang="en-US"/>
          </a:p>
        </p:txBody>
      </p:sp>
      <p:sp>
        <p:nvSpPr>
          <p:cNvPr id="5" name="badge-220"/>
          <p:cNvSpPr/>
          <p:nvPr/>
        </p:nvSpPr>
        <p:spPr>
          <a:xfrm>
            <a:off x="937260" y="1325880"/>
            <a:ext cx="502920" cy="502920"/>
          </a:xfrm>
          <a:prstGeom prst="ellipse">
            <a:avLst/>
          </a:prstGeom>
          <a:solidFill>
            <a:schemeClr val="accent1"/>
          </a:solidFill>
          <a:ln/>
        </p:spPr>
        <p:txBody>
          <a:bodyPr/>
          <a:lstStyle/>
          <a:p>
            <a:endParaRPr lang="en-US"/>
          </a:p>
        </p:txBody>
      </p:sp>
      <p:pic>
        <p:nvPicPr>
          <p:cNvPr id="6" name="icon-221" descr="preencoded.png"/>
          <p:cNvPicPr>
            <a:picLocks noChangeAspect="1"/>
          </p:cNvPicPr>
          <p:nvPr/>
        </p:nvPicPr>
        <p:blipFill>
          <a:blip r:embed="rId3"/>
          <a:stretch>
            <a:fillRect/>
          </a:stretch>
        </p:blipFill>
        <p:spPr>
          <a:xfrm>
            <a:off x="1047902" y="1436522"/>
            <a:ext cx="281635" cy="281635"/>
          </a:xfrm>
          <a:prstGeom prst="rect">
            <a:avLst/>
          </a:prstGeom>
        </p:spPr>
      </p:pic>
      <p:sp>
        <p:nvSpPr>
          <p:cNvPr id="7" name="text-222"/>
          <p:cNvSpPr txBox="1"/>
          <p:nvPr/>
        </p:nvSpPr>
        <p:spPr>
          <a:xfrm>
            <a:off x="502920" y="1901952"/>
            <a:ext cx="1371600" cy="256032"/>
          </a:xfrm>
          <a:prstGeom prst="rect">
            <a:avLst/>
          </a:prstGeom>
          <a:noFill/>
          <a:ln/>
        </p:spPr>
        <p:txBody>
          <a:bodyPr wrap="square" lIns="0" tIns="0" rIns="0" bIns="0" rtlCol="0" anchor="t"/>
          <a:lstStyle/>
          <a:p>
            <a:pPr marL="0" indent="0" algn="ctr">
              <a:buNone/>
            </a:pPr>
            <a:r>
              <a:rPr lang="en-US" sz="1350" b="1" dirty="0">
                <a:solidFill>
                  <a:schemeClr val="tx2"/>
                </a:solidFill>
              </a:rPr>
              <a:t>Sign in</a:t>
            </a:r>
            <a:endParaRPr lang="en-US" sz="1350" dirty="0"/>
          </a:p>
        </p:txBody>
      </p:sp>
      <p:sp>
        <p:nvSpPr>
          <p:cNvPr id="8" name="text-223"/>
          <p:cNvSpPr txBox="1"/>
          <p:nvPr/>
        </p:nvSpPr>
        <p:spPr>
          <a:xfrm>
            <a:off x="530352" y="2157984"/>
            <a:ext cx="1316736" cy="292608"/>
          </a:xfrm>
          <a:prstGeom prst="rect">
            <a:avLst/>
          </a:prstGeom>
          <a:noFill/>
          <a:ln/>
        </p:spPr>
        <p:txBody>
          <a:bodyPr wrap="square" lIns="0" tIns="0" rIns="0" bIns="0" rtlCol="0" anchor="t"/>
          <a:lstStyle/>
          <a:p>
            <a:pPr marL="0" indent="0" algn="ctr">
              <a:buNone/>
            </a:pPr>
            <a:r>
              <a:rPr lang="en-US" sz="1050" dirty="0">
                <a:solidFill>
                  <a:schemeClr val="tx1"/>
                </a:solidFill>
              </a:rPr>
              <a:t>with Google</a:t>
            </a:r>
            <a:endParaRPr lang="en-US" sz="1050" dirty="0"/>
          </a:p>
        </p:txBody>
      </p:sp>
      <p:sp>
        <p:nvSpPr>
          <p:cNvPr id="9" name="arrow-224"/>
          <p:cNvSpPr/>
          <p:nvPr/>
        </p:nvSpPr>
        <p:spPr>
          <a:xfrm rot="5400000">
            <a:off x="1952244" y="1783080"/>
            <a:ext cx="164592" cy="128016"/>
          </a:xfrm>
          <a:prstGeom prst="triangle">
            <a:avLst/>
          </a:prstGeom>
          <a:solidFill>
            <a:schemeClr val="accent2"/>
          </a:solidFill>
          <a:ln/>
        </p:spPr>
        <p:txBody>
          <a:bodyPr/>
          <a:lstStyle/>
          <a:p>
            <a:endParaRPr lang="en-US"/>
          </a:p>
        </p:txBody>
      </p:sp>
      <p:sp>
        <p:nvSpPr>
          <p:cNvPr id="10" name="card-225"/>
          <p:cNvSpPr/>
          <p:nvPr/>
        </p:nvSpPr>
        <p:spPr>
          <a:xfrm>
            <a:off x="2148840" y="1188720"/>
            <a:ext cx="1463040" cy="1325880"/>
          </a:xfrm>
          <a:prstGeom prst="roundRect">
            <a:avLst>
              <a:gd name="adj" fmla="val 5517"/>
            </a:avLst>
          </a:prstGeom>
          <a:solidFill>
            <a:schemeClr val="bg1"/>
          </a:solidFill>
          <a:ln w="9525">
            <a:solidFill>
              <a:srgbClr val="E1E5F5"/>
            </a:solidFill>
            <a:prstDash val="solid"/>
          </a:ln>
        </p:spPr>
        <p:txBody>
          <a:bodyPr/>
          <a:lstStyle/>
          <a:p>
            <a:endParaRPr lang="en-US"/>
          </a:p>
        </p:txBody>
      </p:sp>
      <p:sp>
        <p:nvSpPr>
          <p:cNvPr id="11" name="badge-226"/>
          <p:cNvSpPr/>
          <p:nvPr/>
        </p:nvSpPr>
        <p:spPr>
          <a:xfrm>
            <a:off x="2628900" y="1325880"/>
            <a:ext cx="502920" cy="502920"/>
          </a:xfrm>
          <a:prstGeom prst="ellipse">
            <a:avLst/>
          </a:prstGeom>
          <a:solidFill>
            <a:schemeClr val="accent1"/>
          </a:solidFill>
          <a:ln/>
        </p:spPr>
        <p:txBody>
          <a:bodyPr/>
          <a:lstStyle/>
          <a:p>
            <a:endParaRPr lang="en-US"/>
          </a:p>
        </p:txBody>
      </p:sp>
      <p:pic>
        <p:nvPicPr>
          <p:cNvPr id="12" name="icon-227" descr="preencoded.png"/>
          <p:cNvPicPr>
            <a:picLocks noChangeAspect="1"/>
          </p:cNvPicPr>
          <p:nvPr/>
        </p:nvPicPr>
        <p:blipFill>
          <a:blip r:embed="rId4"/>
          <a:stretch>
            <a:fillRect/>
          </a:stretch>
        </p:blipFill>
        <p:spPr>
          <a:xfrm>
            <a:off x="2739542" y="1436522"/>
            <a:ext cx="281635" cy="281635"/>
          </a:xfrm>
          <a:prstGeom prst="rect">
            <a:avLst/>
          </a:prstGeom>
        </p:spPr>
      </p:pic>
      <p:sp>
        <p:nvSpPr>
          <p:cNvPr id="13" name="text-228"/>
          <p:cNvSpPr txBox="1"/>
          <p:nvPr/>
        </p:nvSpPr>
        <p:spPr>
          <a:xfrm>
            <a:off x="2194560" y="1901952"/>
            <a:ext cx="1371600" cy="256032"/>
          </a:xfrm>
          <a:prstGeom prst="rect">
            <a:avLst/>
          </a:prstGeom>
          <a:noFill/>
          <a:ln/>
        </p:spPr>
        <p:txBody>
          <a:bodyPr wrap="square" lIns="0" tIns="0" rIns="0" bIns="0" rtlCol="0" anchor="t"/>
          <a:lstStyle/>
          <a:p>
            <a:pPr marL="0" indent="0" algn="ctr">
              <a:buNone/>
            </a:pPr>
            <a:r>
              <a:rPr lang="en-US" sz="1350" b="1" dirty="0">
                <a:solidFill>
                  <a:schemeClr val="tx2"/>
                </a:solidFill>
              </a:rPr>
              <a:t>Enroll</a:t>
            </a:r>
            <a:endParaRPr lang="en-US" sz="1350" dirty="0"/>
          </a:p>
        </p:txBody>
      </p:sp>
      <p:sp>
        <p:nvSpPr>
          <p:cNvPr id="14" name="text-229"/>
          <p:cNvSpPr txBox="1"/>
          <p:nvPr/>
        </p:nvSpPr>
        <p:spPr>
          <a:xfrm>
            <a:off x="2221992" y="2157984"/>
            <a:ext cx="1316736" cy="292608"/>
          </a:xfrm>
          <a:prstGeom prst="rect">
            <a:avLst/>
          </a:prstGeom>
          <a:noFill/>
          <a:ln/>
        </p:spPr>
        <p:txBody>
          <a:bodyPr wrap="square" lIns="0" tIns="0" rIns="0" bIns="0" rtlCol="0" anchor="t"/>
          <a:lstStyle/>
          <a:p>
            <a:pPr marL="0" indent="0" algn="ctr">
              <a:buNone/>
            </a:pPr>
            <a:r>
              <a:rPr lang="en-US" sz="1050" dirty="0">
                <a:solidFill>
                  <a:schemeClr val="tx1"/>
                </a:solidFill>
              </a:rPr>
              <a:t>a new agent, no code</a:t>
            </a:r>
            <a:endParaRPr lang="en-US" sz="1050" dirty="0"/>
          </a:p>
        </p:txBody>
      </p:sp>
      <p:sp>
        <p:nvSpPr>
          <p:cNvPr id="15" name="arrow-230"/>
          <p:cNvSpPr/>
          <p:nvPr/>
        </p:nvSpPr>
        <p:spPr>
          <a:xfrm rot="5400000">
            <a:off x="3643884" y="1783080"/>
            <a:ext cx="164592" cy="128016"/>
          </a:xfrm>
          <a:prstGeom prst="triangle">
            <a:avLst/>
          </a:prstGeom>
          <a:solidFill>
            <a:schemeClr val="accent2"/>
          </a:solidFill>
          <a:ln/>
        </p:spPr>
        <p:txBody>
          <a:bodyPr/>
          <a:lstStyle/>
          <a:p>
            <a:endParaRPr lang="en-US"/>
          </a:p>
        </p:txBody>
      </p:sp>
      <p:sp>
        <p:nvSpPr>
          <p:cNvPr id="16" name="card-231"/>
          <p:cNvSpPr/>
          <p:nvPr/>
        </p:nvSpPr>
        <p:spPr>
          <a:xfrm>
            <a:off x="3840480" y="1188720"/>
            <a:ext cx="1463040" cy="1325880"/>
          </a:xfrm>
          <a:prstGeom prst="roundRect">
            <a:avLst>
              <a:gd name="adj" fmla="val 5517"/>
            </a:avLst>
          </a:prstGeom>
          <a:solidFill>
            <a:schemeClr val="bg1"/>
          </a:solidFill>
          <a:ln w="9525">
            <a:solidFill>
              <a:srgbClr val="E1E5F5"/>
            </a:solidFill>
            <a:prstDash val="solid"/>
          </a:ln>
        </p:spPr>
        <p:txBody>
          <a:bodyPr/>
          <a:lstStyle/>
          <a:p>
            <a:endParaRPr lang="en-US"/>
          </a:p>
        </p:txBody>
      </p:sp>
      <p:sp>
        <p:nvSpPr>
          <p:cNvPr id="17" name="badge-232"/>
          <p:cNvSpPr/>
          <p:nvPr/>
        </p:nvSpPr>
        <p:spPr>
          <a:xfrm>
            <a:off x="4320540" y="1325880"/>
            <a:ext cx="502920" cy="502920"/>
          </a:xfrm>
          <a:prstGeom prst="ellipse">
            <a:avLst/>
          </a:prstGeom>
          <a:solidFill>
            <a:schemeClr val="accent1"/>
          </a:solidFill>
          <a:ln/>
        </p:spPr>
        <p:txBody>
          <a:bodyPr/>
          <a:lstStyle/>
          <a:p>
            <a:endParaRPr lang="en-US"/>
          </a:p>
        </p:txBody>
      </p:sp>
      <p:pic>
        <p:nvPicPr>
          <p:cNvPr id="18" name="icon-233" descr="preencoded.png"/>
          <p:cNvPicPr>
            <a:picLocks noChangeAspect="1"/>
          </p:cNvPicPr>
          <p:nvPr/>
        </p:nvPicPr>
        <p:blipFill>
          <a:blip r:embed="rId5"/>
          <a:stretch>
            <a:fillRect/>
          </a:stretch>
        </p:blipFill>
        <p:spPr>
          <a:xfrm>
            <a:off x="4431182" y="1436522"/>
            <a:ext cx="281635" cy="281635"/>
          </a:xfrm>
          <a:prstGeom prst="rect">
            <a:avLst/>
          </a:prstGeom>
        </p:spPr>
      </p:pic>
      <p:sp>
        <p:nvSpPr>
          <p:cNvPr id="19" name="text-234"/>
          <p:cNvSpPr txBox="1"/>
          <p:nvPr/>
        </p:nvSpPr>
        <p:spPr>
          <a:xfrm>
            <a:off x="3886200" y="1901952"/>
            <a:ext cx="1371600" cy="256032"/>
          </a:xfrm>
          <a:prstGeom prst="rect">
            <a:avLst/>
          </a:prstGeom>
          <a:noFill/>
          <a:ln/>
        </p:spPr>
        <p:txBody>
          <a:bodyPr wrap="square" lIns="0" tIns="0" rIns="0" bIns="0" rtlCol="0" anchor="t"/>
          <a:lstStyle/>
          <a:p>
            <a:pPr marL="0" indent="0" algn="ctr">
              <a:buNone/>
            </a:pPr>
            <a:r>
              <a:rPr lang="en-US" sz="1350" b="1" dirty="0">
                <a:solidFill>
                  <a:schemeClr val="tx2"/>
                </a:solidFill>
              </a:rPr>
              <a:t>Brief</a:t>
            </a:r>
            <a:endParaRPr lang="en-US" sz="1350" dirty="0"/>
          </a:p>
        </p:txBody>
      </p:sp>
      <p:sp>
        <p:nvSpPr>
          <p:cNvPr id="20" name="text-235"/>
          <p:cNvSpPr txBox="1"/>
          <p:nvPr/>
        </p:nvSpPr>
        <p:spPr>
          <a:xfrm>
            <a:off x="3913632" y="2157984"/>
            <a:ext cx="1316736" cy="292608"/>
          </a:xfrm>
          <a:prstGeom prst="rect">
            <a:avLst/>
          </a:prstGeom>
          <a:noFill/>
          <a:ln/>
        </p:spPr>
        <p:txBody>
          <a:bodyPr wrap="square" lIns="0" tIns="0" rIns="0" bIns="0" rtlCol="0" anchor="t"/>
          <a:lstStyle/>
          <a:p>
            <a:pPr marL="0" indent="0" algn="ctr">
              <a:buNone/>
            </a:pPr>
            <a:r>
              <a:rPr lang="en-US" sz="1050" dirty="0">
                <a:solidFill>
                  <a:schemeClr val="tx1"/>
                </a:solidFill>
              </a:rPr>
              <a:t>one request in /office</a:t>
            </a:r>
            <a:endParaRPr lang="en-US" sz="1050" dirty="0"/>
          </a:p>
        </p:txBody>
      </p:sp>
      <p:sp>
        <p:nvSpPr>
          <p:cNvPr id="21" name="arrow-236"/>
          <p:cNvSpPr/>
          <p:nvPr/>
        </p:nvSpPr>
        <p:spPr>
          <a:xfrm rot="5400000">
            <a:off x="5335524" y="1783080"/>
            <a:ext cx="164592" cy="128016"/>
          </a:xfrm>
          <a:prstGeom prst="triangle">
            <a:avLst/>
          </a:prstGeom>
          <a:solidFill>
            <a:schemeClr val="accent2"/>
          </a:solidFill>
          <a:ln/>
        </p:spPr>
        <p:txBody>
          <a:bodyPr/>
          <a:lstStyle/>
          <a:p>
            <a:endParaRPr lang="en-US"/>
          </a:p>
        </p:txBody>
      </p:sp>
      <p:sp>
        <p:nvSpPr>
          <p:cNvPr id="22" name="card-237"/>
          <p:cNvSpPr/>
          <p:nvPr/>
        </p:nvSpPr>
        <p:spPr>
          <a:xfrm>
            <a:off x="5532120" y="1188720"/>
            <a:ext cx="1463040" cy="1325880"/>
          </a:xfrm>
          <a:prstGeom prst="roundRect">
            <a:avLst>
              <a:gd name="adj" fmla="val 5517"/>
            </a:avLst>
          </a:prstGeom>
          <a:solidFill>
            <a:schemeClr val="bg1"/>
          </a:solidFill>
          <a:ln w="9525">
            <a:solidFill>
              <a:srgbClr val="E1E5F5"/>
            </a:solidFill>
            <a:prstDash val="solid"/>
          </a:ln>
        </p:spPr>
        <p:txBody>
          <a:bodyPr/>
          <a:lstStyle/>
          <a:p>
            <a:endParaRPr lang="en-US"/>
          </a:p>
        </p:txBody>
      </p:sp>
      <p:sp>
        <p:nvSpPr>
          <p:cNvPr id="23" name="badge-238"/>
          <p:cNvSpPr/>
          <p:nvPr/>
        </p:nvSpPr>
        <p:spPr>
          <a:xfrm>
            <a:off x="6012180" y="1325880"/>
            <a:ext cx="502920" cy="502920"/>
          </a:xfrm>
          <a:prstGeom prst="ellipse">
            <a:avLst/>
          </a:prstGeom>
          <a:solidFill>
            <a:schemeClr val="accent1"/>
          </a:solidFill>
          <a:ln/>
        </p:spPr>
        <p:txBody>
          <a:bodyPr/>
          <a:lstStyle/>
          <a:p>
            <a:endParaRPr lang="en-US"/>
          </a:p>
        </p:txBody>
      </p:sp>
      <p:pic>
        <p:nvPicPr>
          <p:cNvPr id="24" name="icon-239" descr="preencoded.png"/>
          <p:cNvPicPr>
            <a:picLocks noChangeAspect="1"/>
          </p:cNvPicPr>
          <p:nvPr/>
        </p:nvPicPr>
        <p:blipFill>
          <a:blip r:embed="rId6"/>
          <a:stretch>
            <a:fillRect/>
          </a:stretch>
        </p:blipFill>
        <p:spPr>
          <a:xfrm>
            <a:off x="6122822" y="1436522"/>
            <a:ext cx="281635" cy="281635"/>
          </a:xfrm>
          <a:prstGeom prst="rect">
            <a:avLst/>
          </a:prstGeom>
        </p:spPr>
      </p:pic>
      <p:sp>
        <p:nvSpPr>
          <p:cNvPr id="25" name="text-240"/>
          <p:cNvSpPr txBox="1"/>
          <p:nvPr/>
        </p:nvSpPr>
        <p:spPr>
          <a:xfrm>
            <a:off x="5577840" y="1901952"/>
            <a:ext cx="1371600" cy="256032"/>
          </a:xfrm>
          <a:prstGeom prst="rect">
            <a:avLst/>
          </a:prstGeom>
          <a:noFill/>
          <a:ln/>
        </p:spPr>
        <p:txBody>
          <a:bodyPr wrap="square" lIns="0" tIns="0" rIns="0" bIns="0" rtlCol="0" anchor="t"/>
          <a:lstStyle/>
          <a:p>
            <a:pPr marL="0" indent="0" algn="ctr">
              <a:buNone/>
            </a:pPr>
            <a:r>
              <a:rPr lang="en-US" sz="1350" b="1" dirty="0">
                <a:solidFill>
                  <a:schemeClr val="tx2"/>
                </a:solidFill>
              </a:rPr>
              <a:t>Spawn</a:t>
            </a:r>
            <a:endParaRPr lang="en-US" sz="1350" dirty="0"/>
          </a:p>
        </p:txBody>
      </p:sp>
      <p:sp>
        <p:nvSpPr>
          <p:cNvPr id="26" name="text-241"/>
          <p:cNvSpPr txBox="1"/>
          <p:nvPr/>
        </p:nvSpPr>
        <p:spPr>
          <a:xfrm>
            <a:off x="5605272" y="2157984"/>
            <a:ext cx="1316736" cy="292608"/>
          </a:xfrm>
          <a:prstGeom prst="rect">
            <a:avLst/>
          </a:prstGeom>
          <a:noFill/>
          <a:ln/>
        </p:spPr>
        <p:txBody>
          <a:bodyPr wrap="square" lIns="0" tIns="0" rIns="0" bIns="0" rtlCol="0" anchor="t"/>
          <a:lstStyle/>
          <a:p>
            <a:pPr marL="0" indent="0" algn="ctr">
              <a:buNone/>
            </a:pPr>
            <a:r>
              <a:rPr lang="en-US" sz="1050" dirty="0">
                <a:solidFill>
                  <a:schemeClr val="tx1"/>
                </a:solidFill>
              </a:rPr>
              <a:t>only the agents needed</a:t>
            </a:r>
            <a:endParaRPr lang="en-US" sz="1050" dirty="0"/>
          </a:p>
        </p:txBody>
      </p:sp>
      <p:sp>
        <p:nvSpPr>
          <p:cNvPr id="27" name="arrow-242"/>
          <p:cNvSpPr/>
          <p:nvPr/>
        </p:nvSpPr>
        <p:spPr>
          <a:xfrm rot="5400000">
            <a:off x="7027164" y="1783080"/>
            <a:ext cx="164592" cy="128016"/>
          </a:xfrm>
          <a:prstGeom prst="triangle">
            <a:avLst/>
          </a:prstGeom>
          <a:solidFill>
            <a:schemeClr val="accent2"/>
          </a:solidFill>
          <a:ln/>
        </p:spPr>
        <p:txBody>
          <a:bodyPr/>
          <a:lstStyle/>
          <a:p>
            <a:endParaRPr lang="en-US"/>
          </a:p>
        </p:txBody>
      </p:sp>
      <p:sp>
        <p:nvSpPr>
          <p:cNvPr id="28" name="card-243"/>
          <p:cNvSpPr/>
          <p:nvPr/>
        </p:nvSpPr>
        <p:spPr>
          <a:xfrm>
            <a:off x="7223760" y="1188720"/>
            <a:ext cx="1463040" cy="1325880"/>
          </a:xfrm>
          <a:prstGeom prst="roundRect">
            <a:avLst>
              <a:gd name="adj" fmla="val 5517"/>
            </a:avLst>
          </a:prstGeom>
          <a:solidFill>
            <a:schemeClr val="tx2"/>
          </a:solidFill>
          <a:ln/>
        </p:spPr>
        <p:txBody>
          <a:bodyPr/>
          <a:lstStyle/>
          <a:p>
            <a:endParaRPr lang="en-US"/>
          </a:p>
        </p:txBody>
      </p:sp>
      <p:sp>
        <p:nvSpPr>
          <p:cNvPr id="29" name="badge-244"/>
          <p:cNvSpPr/>
          <p:nvPr/>
        </p:nvSpPr>
        <p:spPr>
          <a:xfrm>
            <a:off x="7703820" y="1325880"/>
            <a:ext cx="502920" cy="502920"/>
          </a:xfrm>
          <a:prstGeom prst="ellipse">
            <a:avLst/>
          </a:prstGeom>
          <a:solidFill>
            <a:schemeClr val="accent2"/>
          </a:solidFill>
          <a:ln/>
        </p:spPr>
        <p:txBody>
          <a:bodyPr/>
          <a:lstStyle/>
          <a:p>
            <a:endParaRPr lang="en-US"/>
          </a:p>
        </p:txBody>
      </p:sp>
      <p:pic>
        <p:nvPicPr>
          <p:cNvPr id="30" name="icon-245" descr="preencoded.png"/>
          <p:cNvPicPr>
            <a:picLocks noChangeAspect="1"/>
          </p:cNvPicPr>
          <p:nvPr/>
        </p:nvPicPr>
        <p:blipFill>
          <a:blip r:embed="rId7"/>
          <a:stretch>
            <a:fillRect/>
          </a:stretch>
        </p:blipFill>
        <p:spPr>
          <a:xfrm>
            <a:off x="7814462" y="1436522"/>
            <a:ext cx="281635" cy="281635"/>
          </a:xfrm>
          <a:prstGeom prst="rect">
            <a:avLst/>
          </a:prstGeom>
        </p:spPr>
      </p:pic>
      <p:sp>
        <p:nvSpPr>
          <p:cNvPr id="31" name="text-246"/>
          <p:cNvSpPr txBox="1"/>
          <p:nvPr/>
        </p:nvSpPr>
        <p:spPr>
          <a:xfrm>
            <a:off x="7269480" y="1901952"/>
            <a:ext cx="1371600" cy="256032"/>
          </a:xfrm>
          <a:prstGeom prst="rect">
            <a:avLst/>
          </a:prstGeom>
          <a:noFill/>
          <a:ln/>
        </p:spPr>
        <p:txBody>
          <a:bodyPr wrap="square" lIns="0" tIns="0" rIns="0" bIns="0" rtlCol="0" anchor="t"/>
          <a:lstStyle/>
          <a:p>
            <a:pPr marL="0" indent="0" algn="ctr">
              <a:buNone/>
            </a:pPr>
            <a:r>
              <a:rPr lang="en-US" sz="1350" b="1" dirty="0">
                <a:solidFill>
                  <a:schemeClr val="bg1"/>
                </a:solidFill>
              </a:rPr>
              <a:t>Result</a:t>
            </a:r>
            <a:endParaRPr lang="en-US" sz="1350" dirty="0"/>
          </a:p>
        </p:txBody>
      </p:sp>
      <p:sp>
        <p:nvSpPr>
          <p:cNvPr id="32" name="text-247"/>
          <p:cNvSpPr txBox="1"/>
          <p:nvPr/>
        </p:nvSpPr>
        <p:spPr>
          <a:xfrm>
            <a:off x="7296912" y="2157984"/>
            <a:ext cx="1316736" cy="292608"/>
          </a:xfrm>
          <a:prstGeom prst="rect">
            <a:avLst/>
          </a:prstGeom>
          <a:noFill/>
          <a:ln/>
        </p:spPr>
        <p:txBody>
          <a:bodyPr wrap="square" lIns="0" tIns="0" rIns="0" bIns="0" rtlCol="0" anchor="t"/>
          <a:lstStyle/>
          <a:p>
            <a:pPr marL="0" indent="0" algn="ctr">
              <a:buNone/>
            </a:pPr>
            <a:r>
              <a:rPr lang="en-US" sz="1050" dirty="0">
                <a:solidFill>
                  <a:schemeClr val="bg2"/>
                </a:solidFill>
              </a:rPr>
              <a:t>validated, stored, shown</a:t>
            </a:r>
            <a:endParaRPr lang="en-US" sz="1050" dirty="0"/>
          </a:p>
        </p:txBody>
      </p:sp>
      <p:sp>
        <p:nvSpPr>
          <p:cNvPr id="33" name="card-248"/>
          <p:cNvSpPr/>
          <p:nvPr/>
        </p:nvSpPr>
        <p:spPr>
          <a:xfrm>
            <a:off x="457200" y="2743200"/>
            <a:ext cx="5120640" cy="1920240"/>
          </a:xfrm>
          <a:prstGeom prst="roundRect">
            <a:avLst>
              <a:gd name="adj" fmla="val 3810"/>
            </a:avLst>
          </a:prstGeom>
          <a:solidFill>
            <a:schemeClr val="bg1"/>
          </a:solidFill>
          <a:ln w="9525">
            <a:solidFill>
              <a:srgbClr val="E1E5F5"/>
            </a:solidFill>
            <a:prstDash val="solid"/>
          </a:ln>
        </p:spPr>
        <p:txBody>
          <a:bodyPr/>
          <a:lstStyle/>
          <a:p>
            <a:endParaRPr lang="en-US"/>
          </a:p>
        </p:txBody>
      </p:sp>
      <p:sp>
        <p:nvSpPr>
          <p:cNvPr id="34" name="text-249"/>
          <p:cNvSpPr txBox="1"/>
          <p:nvPr/>
        </p:nvSpPr>
        <p:spPr>
          <a:xfrm>
            <a:off x="640080" y="2852928"/>
            <a:ext cx="27432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IN THE MVP</a:t>
            </a:r>
            <a:endParaRPr lang="en-US" sz="1050" dirty="0"/>
          </a:p>
        </p:txBody>
      </p:sp>
      <p:sp>
        <p:nvSpPr>
          <p:cNvPr id="35" name="text-250"/>
          <p:cNvSpPr txBox="1"/>
          <p:nvPr/>
        </p:nvSpPr>
        <p:spPr>
          <a:xfrm>
            <a:off x="640080" y="3127248"/>
            <a:ext cx="4800600" cy="14630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Agent enrollment with a schema-validated results table per agent</a:t>
            </a:r>
            <a:endParaRPr lang="en-US" sz="1200" dirty="0"/>
          </a:p>
          <a:p>
            <a:pPr marL="152400" indent="-152400">
              <a:spcAft>
                <a:spcPts val="400"/>
              </a:spcAft>
              <a:buSzPct val="100000"/>
              <a:buChar char="•"/>
            </a:pPr>
            <a:r>
              <a:rPr lang="en-US" sz="1200" dirty="0">
                <a:solidFill>
                  <a:schemeClr val="tx1"/>
                </a:solidFill>
              </a:rPr>
              <a:t>Capability-based spawning with a reason for every pick and skip</a:t>
            </a:r>
            <a:endParaRPr lang="en-US" sz="1200" dirty="0"/>
          </a:p>
          <a:p>
            <a:pPr marL="152400" indent="-152400">
              <a:spcAft>
                <a:spcPts val="400"/>
              </a:spcAft>
              <a:buSzPct val="100000"/>
              <a:buChar char="•"/>
            </a:pPr>
            <a:r>
              <a:rPr lang="en-US" sz="1200" dirty="0">
                <a:solidFill>
                  <a:schemeClr val="tx1"/>
                </a:solidFill>
              </a:rPr>
              <a:t>Output validation before anything is stored or passed on</a:t>
            </a:r>
            <a:endParaRPr lang="en-US" sz="1200" dirty="0"/>
          </a:p>
          <a:p>
            <a:pPr marL="152400" indent="-152400">
              <a:spcAft>
                <a:spcPts val="400"/>
              </a:spcAft>
              <a:buSzPct val="100000"/>
              <a:buChar char="•"/>
            </a:pPr>
            <a:r>
              <a:rPr lang="en-US" sz="1200" dirty="0">
                <a:solidFill>
                  <a:schemeClr val="tx1"/>
                </a:solidFill>
              </a:rPr>
              <a:t>The /office workspace to brief, browse agents and watch progress</a:t>
            </a:r>
            <a:endParaRPr lang="en-US" sz="1200" dirty="0"/>
          </a:p>
        </p:txBody>
      </p:sp>
      <p:sp>
        <p:nvSpPr>
          <p:cNvPr id="36" name="card-251"/>
          <p:cNvSpPr/>
          <p:nvPr/>
        </p:nvSpPr>
        <p:spPr>
          <a:xfrm>
            <a:off x="5806440" y="2743200"/>
            <a:ext cx="2880360" cy="1920240"/>
          </a:xfrm>
          <a:prstGeom prst="roundRect">
            <a:avLst>
              <a:gd name="adj" fmla="val 3810"/>
            </a:avLst>
          </a:prstGeom>
          <a:solidFill>
            <a:schemeClr val="tx2"/>
          </a:solidFill>
          <a:ln/>
        </p:spPr>
        <p:txBody>
          <a:bodyPr/>
          <a:lstStyle/>
          <a:p>
            <a:endParaRPr lang="en-US"/>
          </a:p>
        </p:txBody>
      </p:sp>
      <p:sp>
        <p:nvSpPr>
          <p:cNvPr id="37" name="text-252"/>
          <p:cNvSpPr txBox="1"/>
          <p:nvPr/>
        </p:nvSpPr>
        <p:spPr>
          <a:xfrm>
            <a:off x="5989320" y="2852928"/>
            <a:ext cx="256032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WHY IT IS AN MVP</a:t>
            </a:r>
            <a:endParaRPr lang="en-US" sz="1050" dirty="0"/>
          </a:p>
        </p:txBody>
      </p:sp>
      <p:sp>
        <p:nvSpPr>
          <p:cNvPr id="38" name="text-253"/>
          <p:cNvSpPr txBox="1"/>
          <p:nvPr/>
        </p:nvSpPr>
        <p:spPr>
          <a:xfrm>
            <a:off x="5989320" y="3127248"/>
            <a:ext cx="2560320" cy="1463040"/>
          </a:xfrm>
          <a:prstGeom prst="rect">
            <a:avLst/>
          </a:prstGeom>
          <a:noFill/>
          <a:ln/>
        </p:spPr>
        <p:txBody>
          <a:bodyPr wrap="square" lIns="0" tIns="0" rIns="0" bIns="0" rtlCol="0" anchor="t"/>
          <a:lstStyle/>
          <a:p>
            <a:pPr marL="0" indent="0">
              <a:buNone/>
            </a:pPr>
            <a:r>
              <a:rPr lang="en-US" sz="1200" dirty="0">
                <a:solidFill>
                  <a:schemeClr val="bg1"/>
                </a:solidFill>
              </a:rPr>
              <a:t>A user goes from one plain-language brief to a coordinated, validated result without calling the API or writing code. That is the smallest version of AgentMesh that is useful on its own.</a:t>
            </a:r>
            <a:endParaRPr lang="en-US" sz="1200" dirty="0"/>
          </a:p>
        </p:txBody>
      </p:sp>
      <p:sp>
        <p:nvSpPr>
          <p:cNvPr id="39"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TECHNOLOGIES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The stack behind AgentMesh</a:t>
            </a:r>
            <a:endParaRPr lang="en-US" sz="2800" dirty="0"/>
          </a:p>
        </p:txBody>
      </p:sp>
      <p:sp>
        <p:nvSpPr>
          <p:cNvPr id="4" name="card-254"/>
          <p:cNvSpPr/>
          <p:nvPr/>
        </p:nvSpPr>
        <p:spPr>
          <a:xfrm>
            <a:off x="457200"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5" name="text-255"/>
          <p:cNvSpPr txBox="1"/>
          <p:nvPr/>
        </p:nvSpPr>
        <p:spPr>
          <a:xfrm>
            <a:off x="621792" y="1316736"/>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FRONTEND</a:t>
            </a:r>
            <a:endParaRPr lang="en-US" sz="1050" dirty="0"/>
          </a:p>
        </p:txBody>
      </p:sp>
      <p:sp>
        <p:nvSpPr>
          <p:cNvPr id="6" name="chip-256"/>
          <p:cNvSpPr/>
          <p:nvPr/>
        </p:nvSpPr>
        <p:spPr>
          <a:xfrm>
            <a:off x="621792" y="1645920"/>
            <a:ext cx="1161288" cy="457200"/>
          </a:xfrm>
          <a:prstGeom prst="roundRect">
            <a:avLst>
              <a:gd name="adj" fmla="val 16000"/>
            </a:avLst>
          </a:prstGeom>
          <a:solidFill>
            <a:schemeClr val="bg2"/>
          </a:solidFill>
          <a:ln/>
        </p:spPr>
        <p:txBody>
          <a:bodyPr/>
          <a:lstStyle/>
          <a:p>
            <a:endParaRPr lang="en-US"/>
          </a:p>
        </p:txBody>
      </p:sp>
      <p:pic>
        <p:nvPicPr>
          <p:cNvPr id="7" name="logo-257" descr="preencoded.png"/>
          <p:cNvPicPr>
            <a:picLocks noChangeAspect="1"/>
          </p:cNvPicPr>
          <p:nvPr/>
        </p:nvPicPr>
        <p:blipFill>
          <a:blip r:embed="rId3"/>
          <a:stretch>
            <a:fillRect/>
          </a:stretch>
        </p:blipFill>
        <p:spPr>
          <a:xfrm>
            <a:off x="713232" y="1746504"/>
            <a:ext cx="256032" cy="256032"/>
          </a:xfrm>
          <a:prstGeom prst="rect">
            <a:avLst/>
          </a:prstGeom>
        </p:spPr>
      </p:pic>
      <p:sp>
        <p:nvSpPr>
          <p:cNvPr id="8" name="text-258"/>
          <p:cNvSpPr txBox="1"/>
          <p:nvPr/>
        </p:nvSpPr>
        <p:spPr>
          <a:xfrm>
            <a:off x="1024128"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Next.js</a:t>
            </a:r>
            <a:endParaRPr lang="en-US" sz="1050" dirty="0"/>
          </a:p>
        </p:txBody>
      </p:sp>
      <p:sp>
        <p:nvSpPr>
          <p:cNvPr id="9" name="chip-259"/>
          <p:cNvSpPr/>
          <p:nvPr/>
        </p:nvSpPr>
        <p:spPr>
          <a:xfrm>
            <a:off x="1874520" y="1645920"/>
            <a:ext cx="1161288" cy="457200"/>
          </a:xfrm>
          <a:prstGeom prst="roundRect">
            <a:avLst>
              <a:gd name="adj" fmla="val 16000"/>
            </a:avLst>
          </a:prstGeom>
          <a:solidFill>
            <a:schemeClr val="bg2"/>
          </a:solidFill>
          <a:ln/>
        </p:spPr>
        <p:txBody>
          <a:bodyPr/>
          <a:lstStyle/>
          <a:p>
            <a:endParaRPr lang="en-US"/>
          </a:p>
        </p:txBody>
      </p:sp>
      <p:pic>
        <p:nvPicPr>
          <p:cNvPr id="10" name="logo-260" descr="preencoded.png"/>
          <p:cNvPicPr>
            <a:picLocks noChangeAspect="1"/>
          </p:cNvPicPr>
          <p:nvPr/>
        </p:nvPicPr>
        <p:blipFill>
          <a:blip r:embed="rId4"/>
          <a:stretch>
            <a:fillRect/>
          </a:stretch>
        </p:blipFill>
        <p:spPr>
          <a:xfrm>
            <a:off x="1965960" y="1746504"/>
            <a:ext cx="256032" cy="256032"/>
          </a:xfrm>
          <a:prstGeom prst="rect">
            <a:avLst/>
          </a:prstGeom>
        </p:spPr>
      </p:pic>
      <p:sp>
        <p:nvSpPr>
          <p:cNvPr id="11" name="text-261"/>
          <p:cNvSpPr txBox="1"/>
          <p:nvPr/>
        </p:nvSpPr>
        <p:spPr>
          <a:xfrm>
            <a:off x="2276856"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React</a:t>
            </a:r>
            <a:endParaRPr lang="en-US" sz="1050" dirty="0"/>
          </a:p>
        </p:txBody>
      </p:sp>
      <p:sp>
        <p:nvSpPr>
          <p:cNvPr id="12" name="chip-262"/>
          <p:cNvSpPr/>
          <p:nvPr/>
        </p:nvSpPr>
        <p:spPr>
          <a:xfrm>
            <a:off x="621792" y="2212848"/>
            <a:ext cx="1161288" cy="457200"/>
          </a:xfrm>
          <a:prstGeom prst="roundRect">
            <a:avLst>
              <a:gd name="adj" fmla="val 16000"/>
            </a:avLst>
          </a:prstGeom>
          <a:solidFill>
            <a:schemeClr val="bg2"/>
          </a:solidFill>
          <a:ln/>
        </p:spPr>
        <p:txBody>
          <a:bodyPr/>
          <a:lstStyle/>
          <a:p>
            <a:endParaRPr lang="en-US"/>
          </a:p>
        </p:txBody>
      </p:sp>
      <p:pic>
        <p:nvPicPr>
          <p:cNvPr id="13" name="logo-263" descr="preencoded.png"/>
          <p:cNvPicPr>
            <a:picLocks noChangeAspect="1"/>
          </p:cNvPicPr>
          <p:nvPr/>
        </p:nvPicPr>
        <p:blipFill>
          <a:blip r:embed="rId5"/>
          <a:stretch>
            <a:fillRect/>
          </a:stretch>
        </p:blipFill>
        <p:spPr>
          <a:xfrm>
            <a:off x="713232" y="2313432"/>
            <a:ext cx="256032" cy="256032"/>
          </a:xfrm>
          <a:prstGeom prst="rect">
            <a:avLst/>
          </a:prstGeom>
        </p:spPr>
      </p:pic>
      <p:sp>
        <p:nvSpPr>
          <p:cNvPr id="14" name="text-264"/>
          <p:cNvSpPr txBox="1"/>
          <p:nvPr/>
        </p:nvSpPr>
        <p:spPr>
          <a:xfrm>
            <a:off x="1024128" y="2212848"/>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TypeScript</a:t>
            </a:r>
            <a:endParaRPr lang="en-US" sz="1050" dirty="0"/>
          </a:p>
        </p:txBody>
      </p:sp>
      <p:sp>
        <p:nvSpPr>
          <p:cNvPr id="15" name="card-265"/>
          <p:cNvSpPr/>
          <p:nvPr/>
        </p:nvSpPr>
        <p:spPr>
          <a:xfrm>
            <a:off x="3236976"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16" name="text-266"/>
          <p:cNvSpPr txBox="1"/>
          <p:nvPr/>
        </p:nvSpPr>
        <p:spPr>
          <a:xfrm>
            <a:off x="3401568" y="1316736"/>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BACKEND</a:t>
            </a:r>
            <a:endParaRPr lang="en-US" sz="1050" dirty="0"/>
          </a:p>
        </p:txBody>
      </p:sp>
      <p:sp>
        <p:nvSpPr>
          <p:cNvPr id="17" name="chip-267"/>
          <p:cNvSpPr/>
          <p:nvPr/>
        </p:nvSpPr>
        <p:spPr>
          <a:xfrm>
            <a:off x="3401568" y="1645920"/>
            <a:ext cx="1161288" cy="457200"/>
          </a:xfrm>
          <a:prstGeom prst="roundRect">
            <a:avLst>
              <a:gd name="adj" fmla="val 16000"/>
            </a:avLst>
          </a:prstGeom>
          <a:solidFill>
            <a:schemeClr val="bg2"/>
          </a:solidFill>
          <a:ln/>
        </p:spPr>
        <p:txBody>
          <a:bodyPr/>
          <a:lstStyle/>
          <a:p>
            <a:endParaRPr lang="en-US"/>
          </a:p>
        </p:txBody>
      </p:sp>
      <p:pic>
        <p:nvPicPr>
          <p:cNvPr id="18" name="logo-268" descr="preencoded.png"/>
          <p:cNvPicPr>
            <a:picLocks noChangeAspect="1"/>
          </p:cNvPicPr>
          <p:nvPr/>
        </p:nvPicPr>
        <p:blipFill>
          <a:blip r:embed="rId6"/>
          <a:stretch>
            <a:fillRect/>
          </a:stretch>
        </p:blipFill>
        <p:spPr>
          <a:xfrm>
            <a:off x="3493008" y="1746504"/>
            <a:ext cx="256032" cy="256032"/>
          </a:xfrm>
          <a:prstGeom prst="rect">
            <a:avLst/>
          </a:prstGeom>
        </p:spPr>
      </p:pic>
      <p:sp>
        <p:nvSpPr>
          <p:cNvPr id="19" name="text-269"/>
          <p:cNvSpPr txBox="1"/>
          <p:nvPr/>
        </p:nvSpPr>
        <p:spPr>
          <a:xfrm>
            <a:off x="3803904"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Python</a:t>
            </a:r>
            <a:endParaRPr lang="en-US" sz="1050" dirty="0"/>
          </a:p>
        </p:txBody>
      </p:sp>
      <p:sp>
        <p:nvSpPr>
          <p:cNvPr id="20" name="chip-270"/>
          <p:cNvSpPr/>
          <p:nvPr/>
        </p:nvSpPr>
        <p:spPr>
          <a:xfrm>
            <a:off x="4654296" y="1645920"/>
            <a:ext cx="1161288" cy="457200"/>
          </a:xfrm>
          <a:prstGeom prst="roundRect">
            <a:avLst>
              <a:gd name="adj" fmla="val 16000"/>
            </a:avLst>
          </a:prstGeom>
          <a:solidFill>
            <a:schemeClr val="bg2"/>
          </a:solidFill>
          <a:ln/>
        </p:spPr>
        <p:txBody>
          <a:bodyPr/>
          <a:lstStyle/>
          <a:p>
            <a:endParaRPr lang="en-US"/>
          </a:p>
        </p:txBody>
      </p:sp>
      <p:pic>
        <p:nvPicPr>
          <p:cNvPr id="21" name="logo-271" descr="preencoded.png"/>
          <p:cNvPicPr>
            <a:picLocks noChangeAspect="1"/>
          </p:cNvPicPr>
          <p:nvPr/>
        </p:nvPicPr>
        <p:blipFill>
          <a:blip r:embed="rId7"/>
          <a:stretch>
            <a:fillRect/>
          </a:stretch>
        </p:blipFill>
        <p:spPr>
          <a:xfrm>
            <a:off x="4745736" y="1746504"/>
            <a:ext cx="256032" cy="256032"/>
          </a:xfrm>
          <a:prstGeom prst="rect">
            <a:avLst/>
          </a:prstGeom>
        </p:spPr>
      </p:pic>
      <p:sp>
        <p:nvSpPr>
          <p:cNvPr id="22" name="text-272"/>
          <p:cNvSpPr txBox="1"/>
          <p:nvPr/>
        </p:nvSpPr>
        <p:spPr>
          <a:xfrm>
            <a:off x="5056632"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FastAPI</a:t>
            </a:r>
            <a:endParaRPr lang="en-US" sz="1050" dirty="0"/>
          </a:p>
        </p:txBody>
      </p:sp>
      <p:sp>
        <p:nvSpPr>
          <p:cNvPr id="23" name="chip-273"/>
          <p:cNvSpPr/>
          <p:nvPr/>
        </p:nvSpPr>
        <p:spPr>
          <a:xfrm>
            <a:off x="3401568" y="2212848"/>
            <a:ext cx="1161288" cy="457200"/>
          </a:xfrm>
          <a:prstGeom prst="roundRect">
            <a:avLst>
              <a:gd name="adj" fmla="val 16000"/>
            </a:avLst>
          </a:prstGeom>
          <a:solidFill>
            <a:schemeClr val="bg2"/>
          </a:solidFill>
          <a:ln/>
        </p:spPr>
        <p:txBody>
          <a:bodyPr/>
          <a:lstStyle/>
          <a:p>
            <a:endParaRPr lang="en-US"/>
          </a:p>
        </p:txBody>
      </p:sp>
      <p:pic>
        <p:nvPicPr>
          <p:cNvPr id="24" name="logo-274" descr="preencoded.png"/>
          <p:cNvPicPr>
            <a:picLocks noChangeAspect="1"/>
          </p:cNvPicPr>
          <p:nvPr/>
        </p:nvPicPr>
        <p:blipFill>
          <a:blip r:embed="rId8"/>
          <a:stretch>
            <a:fillRect/>
          </a:stretch>
        </p:blipFill>
        <p:spPr>
          <a:xfrm>
            <a:off x="3493008" y="2313432"/>
            <a:ext cx="256032" cy="256032"/>
          </a:xfrm>
          <a:prstGeom prst="rect">
            <a:avLst/>
          </a:prstGeom>
        </p:spPr>
      </p:pic>
      <p:sp>
        <p:nvSpPr>
          <p:cNvPr id="25" name="text-275"/>
          <p:cNvSpPr txBox="1"/>
          <p:nvPr/>
        </p:nvSpPr>
        <p:spPr>
          <a:xfrm>
            <a:off x="3803904" y="2212848"/>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SQLAlchemy</a:t>
            </a:r>
            <a:endParaRPr lang="en-US" sz="1050" dirty="0"/>
          </a:p>
        </p:txBody>
      </p:sp>
      <p:sp>
        <p:nvSpPr>
          <p:cNvPr id="26" name="chip-276"/>
          <p:cNvSpPr/>
          <p:nvPr/>
        </p:nvSpPr>
        <p:spPr>
          <a:xfrm>
            <a:off x="4654296" y="2212848"/>
            <a:ext cx="1161288" cy="457200"/>
          </a:xfrm>
          <a:prstGeom prst="roundRect">
            <a:avLst>
              <a:gd name="adj" fmla="val 16000"/>
            </a:avLst>
          </a:prstGeom>
          <a:solidFill>
            <a:schemeClr val="bg2"/>
          </a:solidFill>
          <a:ln/>
        </p:spPr>
        <p:txBody>
          <a:bodyPr/>
          <a:lstStyle/>
          <a:p>
            <a:endParaRPr lang="en-US"/>
          </a:p>
        </p:txBody>
      </p:sp>
      <p:pic>
        <p:nvPicPr>
          <p:cNvPr id="27" name="logo-277" descr="preencoded.png"/>
          <p:cNvPicPr>
            <a:picLocks noChangeAspect="1"/>
          </p:cNvPicPr>
          <p:nvPr/>
        </p:nvPicPr>
        <p:blipFill>
          <a:blip r:embed="rId9"/>
          <a:stretch>
            <a:fillRect/>
          </a:stretch>
        </p:blipFill>
        <p:spPr>
          <a:xfrm>
            <a:off x="4745736" y="2313432"/>
            <a:ext cx="256032" cy="256032"/>
          </a:xfrm>
          <a:prstGeom prst="rect">
            <a:avLst/>
          </a:prstGeom>
        </p:spPr>
      </p:pic>
      <p:sp>
        <p:nvSpPr>
          <p:cNvPr id="28" name="text-278"/>
          <p:cNvSpPr txBox="1"/>
          <p:nvPr/>
        </p:nvSpPr>
        <p:spPr>
          <a:xfrm>
            <a:off x="5056632" y="2212848"/>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Pydantic</a:t>
            </a:r>
            <a:endParaRPr lang="en-US" sz="1050" dirty="0"/>
          </a:p>
        </p:txBody>
      </p:sp>
      <p:sp>
        <p:nvSpPr>
          <p:cNvPr id="29" name="card-279"/>
          <p:cNvSpPr/>
          <p:nvPr/>
        </p:nvSpPr>
        <p:spPr>
          <a:xfrm>
            <a:off x="6016752" y="1188720"/>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30" name="text-280"/>
          <p:cNvSpPr txBox="1"/>
          <p:nvPr/>
        </p:nvSpPr>
        <p:spPr>
          <a:xfrm>
            <a:off x="6181344" y="1316736"/>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DATA</a:t>
            </a:r>
            <a:endParaRPr lang="en-US" sz="1050" dirty="0"/>
          </a:p>
        </p:txBody>
      </p:sp>
      <p:sp>
        <p:nvSpPr>
          <p:cNvPr id="31" name="chip-281"/>
          <p:cNvSpPr/>
          <p:nvPr/>
        </p:nvSpPr>
        <p:spPr>
          <a:xfrm>
            <a:off x="6181344" y="1645920"/>
            <a:ext cx="1161288" cy="457200"/>
          </a:xfrm>
          <a:prstGeom prst="roundRect">
            <a:avLst>
              <a:gd name="adj" fmla="val 16000"/>
            </a:avLst>
          </a:prstGeom>
          <a:solidFill>
            <a:schemeClr val="bg2"/>
          </a:solidFill>
          <a:ln/>
        </p:spPr>
        <p:txBody>
          <a:bodyPr/>
          <a:lstStyle/>
          <a:p>
            <a:endParaRPr lang="en-US"/>
          </a:p>
        </p:txBody>
      </p:sp>
      <p:pic>
        <p:nvPicPr>
          <p:cNvPr id="32" name="logo-282" descr="preencoded.png"/>
          <p:cNvPicPr>
            <a:picLocks noChangeAspect="1"/>
          </p:cNvPicPr>
          <p:nvPr/>
        </p:nvPicPr>
        <p:blipFill>
          <a:blip r:embed="rId10"/>
          <a:stretch>
            <a:fillRect/>
          </a:stretch>
        </p:blipFill>
        <p:spPr>
          <a:xfrm>
            <a:off x="6272784" y="1746504"/>
            <a:ext cx="256032" cy="256032"/>
          </a:xfrm>
          <a:prstGeom prst="rect">
            <a:avLst/>
          </a:prstGeom>
        </p:spPr>
      </p:pic>
      <p:sp>
        <p:nvSpPr>
          <p:cNvPr id="33" name="text-283"/>
          <p:cNvSpPr txBox="1"/>
          <p:nvPr/>
        </p:nvSpPr>
        <p:spPr>
          <a:xfrm>
            <a:off x="6583680"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PostgreSQL</a:t>
            </a:r>
            <a:endParaRPr lang="en-US" sz="1050" dirty="0"/>
          </a:p>
        </p:txBody>
      </p:sp>
      <p:sp>
        <p:nvSpPr>
          <p:cNvPr id="34" name="chip-284"/>
          <p:cNvSpPr/>
          <p:nvPr/>
        </p:nvSpPr>
        <p:spPr>
          <a:xfrm>
            <a:off x="7434072" y="1645920"/>
            <a:ext cx="1161288" cy="457200"/>
          </a:xfrm>
          <a:prstGeom prst="roundRect">
            <a:avLst>
              <a:gd name="adj" fmla="val 16000"/>
            </a:avLst>
          </a:prstGeom>
          <a:solidFill>
            <a:schemeClr val="bg2"/>
          </a:solidFill>
          <a:ln/>
        </p:spPr>
        <p:txBody>
          <a:bodyPr/>
          <a:lstStyle/>
          <a:p>
            <a:endParaRPr lang="en-US"/>
          </a:p>
        </p:txBody>
      </p:sp>
      <p:pic>
        <p:nvPicPr>
          <p:cNvPr id="35" name="logo-285" descr="preencoded.png"/>
          <p:cNvPicPr>
            <a:picLocks noChangeAspect="1"/>
          </p:cNvPicPr>
          <p:nvPr/>
        </p:nvPicPr>
        <p:blipFill>
          <a:blip r:embed="rId11"/>
          <a:stretch>
            <a:fillRect/>
          </a:stretch>
        </p:blipFill>
        <p:spPr>
          <a:xfrm>
            <a:off x="7525512" y="1746504"/>
            <a:ext cx="256032" cy="256032"/>
          </a:xfrm>
          <a:prstGeom prst="rect">
            <a:avLst/>
          </a:prstGeom>
        </p:spPr>
      </p:pic>
      <p:sp>
        <p:nvSpPr>
          <p:cNvPr id="36" name="text-286"/>
          <p:cNvSpPr txBox="1"/>
          <p:nvPr/>
        </p:nvSpPr>
        <p:spPr>
          <a:xfrm>
            <a:off x="7836408" y="1645920"/>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Redis 8</a:t>
            </a:r>
            <a:endParaRPr lang="en-US" sz="1050" dirty="0"/>
          </a:p>
        </p:txBody>
      </p:sp>
      <p:sp>
        <p:nvSpPr>
          <p:cNvPr id="37" name="card-287"/>
          <p:cNvSpPr/>
          <p:nvPr/>
        </p:nvSpPr>
        <p:spPr>
          <a:xfrm>
            <a:off x="457200"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38" name="text-288"/>
          <p:cNvSpPr txBox="1"/>
          <p:nvPr/>
        </p:nvSpPr>
        <p:spPr>
          <a:xfrm>
            <a:off x="621792" y="3090672"/>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AI PROVIDERS</a:t>
            </a:r>
            <a:endParaRPr lang="en-US" sz="1050" dirty="0"/>
          </a:p>
        </p:txBody>
      </p:sp>
      <p:sp>
        <p:nvSpPr>
          <p:cNvPr id="39" name="chip-289"/>
          <p:cNvSpPr/>
          <p:nvPr/>
        </p:nvSpPr>
        <p:spPr>
          <a:xfrm>
            <a:off x="621792" y="3419856"/>
            <a:ext cx="1161288" cy="457200"/>
          </a:xfrm>
          <a:prstGeom prst="roundRect">
            <a:avLst>
              <a:gd name="adj" fmla="val 16000"/>
            </a:avLst>
          </a:prstGeom>
          <a:solidFill>
            <a:schemeClr val="bg2"/>
          </a:solidFill>
          <a:ln/>
        </p:spPr>
        <p:txBody>
          <a:bodyPr/>
          <a:lstStyle/>
          <a:p>
            <a:endParaRPr lang="en-US"/>
          </a:p>
        </p:txBody>
      </p:sp>
      <p:pic>
        <p:nvPicPr>
          <p:cNvPr id="40" name="logo-290" descr="preencoded.png"/>
          <p:cNvPicPr>
            <a:picLocks noChangeAspect="1"/>
          </p:cNvPicPr>
          <p:nvPr/>
        </p:nvPicPr>
        <p:blipFill>
          <a:blip r:embed="rId12"/>
          <a:stretch>
            <a:fillRect/>
          </a:stretch>
        </p:blipFill>
        <p:spPr>
          <a:xfrm>
            <a:off x="713232" y="3520440"/>
            <a:ext cx="256032" cy="256032"/>
          </a:xfrm>
          <a:prstGeom prst="rect">
            <a:avLst/>
          </a:prstGeom>
        </p:spPr>
      </p:pic>
      <p:sp>
        <p:nvSpPr>
          <p:cNvPr id="41" name="text-291"/>
          <p:cNvSpPr txBox="1"/>
          <p:nvPr/>
        </p:nvSpPr>
        <p:spPr>
          <a:xfrm>
            <a:off x="1024128"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OpenAI</a:t>
            </a:r>
            <a:endParaRPr lang="en-US" sz="1050" dirty="0"/>
          </a:p>
        </p:txBody>
      </p:sp>
      <p:sp>
        <p:nvSpPr>
          <p:cNvPr id="42" name="chip-292"/>
          <p:cNvSpPr/>
          <p:nvPr/>
        </p:nvSpPr>
        <p:spPr>
          <a:xfrm>
            <a:off x="1874520" y="3419856"/>
            <a:ext cx="1161288" cy="457200"/>
          </a:xfrm>
          <a:prstGeom prst="roundRect">
            <a:avLst>
              <a:gd name="adj" fmla="val 16000"/>
            </a:avLst>
          </a:prstGeom>
          <a:solidFill>
            <a:schemeClr val="bg2"/>
          </a:solidFill>
          <a:ln/>
        </p:spPr>
        <p:txBody>
          <a:bodyPr/>
          <a:lstStyle/>
          <a:p>
            <a:endParaRPr lang="en-US"/>
          </a:p>
        </p:txBody>
      </p:sp>
      <p:pic>
        <p:nvPicPr>
          <p:cNvPr id="43" name="logo-293" descr="preencoded.png"/>
          <p:cNvPicPr>
            <a:picLocks noChangeAspect="1"/>
          </p:cNvPicPr>
          <p:nvPr/>
        </p:nvPicPr>
        <p:blipFill>
          <a:blip r:embed="rId13"/>
          <a:stretch>
            <a:fillRect/>
          </a:stretch>
        </p:blipFill>
        <p:spPr>
          <a:xfrm>
            <a:off x="1965960" y="3520440"/>
            <a:ext cx="256032" cy="256032"/>
          </a:xfrm>
          <a:prstGeom prst="rect">
            <a:avLst/>
          </a:prstGeom>
        </p:spPr>
      </p:pic>
      <p:sp>
        <p:nvSpPr>
          <p:cNvPr id="44" name="text-294"/>
          <p:cNvSpPr txBox="1"/>
          <p:nvPr/>
        </p:nvSpPr>
        <p:spPr>
          <a:xfrm>
            <a:off x="2276856"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Anthropic</a:t>
            </a:r>
            <a:endParaRPr lang="en-US" sz="1050" dirty="0"/>
          </a:p>
        </p:txBody>
      </p:sp>
      <p:sp>
        <p:nvSpPr>
          <p:cNvPr id="45" name="chip-295"/>
          <p:cNvSpPr/>
          <p:nvPr/>
        </p:nvSpPr>
        <p:spPr>
          <a:xfrm>
            <a:off x="621792" y="3986784"/>
            <a:ext cx="1161288" cy="457200"/>
          </a:xfrm>
          <a:prstGeom prst="roundRect">
            <a:avLst>
              <a:gd name="adj" fmla="val 16000"/>
            </a:avLst>
          </a:prstGeom>
          <a:solidFill>
            <a:schemeClr val="bg2"/>
          </a:solidFill>
          <a:ln/>
        </p:spPr>
        <p:txBody>
          <a:bodyPr/>
          <a:lstStyle/>
          <a:p>
            <a:endParaRPr lang="en-US"/>
          </a:p>
        </p:txBody>
      </p:sp>
      <p:pic>
        <p:nvPicPr>
          <p:cNvPr id="46" name="logo-296" descr="preencoded.png"/>
          <p:cNvPicPr>
            <a:picLocks noChangeAspect="1"/>
          </p:cNvPicPr>
          <p:nvPr/>
        </p:nvPicPr>
        <p:blipFill>
          <a:blip r:embed="rId14"/>
          <a:stretch>
            <a:fillRect/>
          </a:stretch>
        </p:blipFill>
        <p:spPr>
          <a:xfrm>
            <a:off x="713232" y="4087368"/>
            <a:ext cx="256032" cy="256032"/>
          </a:xfrm>
          <a:prstGeom prst="rect">
            <a:avLst/>
          </a:prstGeom>
        </p:spPr>
      </p:pic>
      <p:sp>
        <p:nvSpPr>
          <p:cNvPr id="47" name="text-297"/>
          <p:cNvSpPr txBox="1"/>
          <p:nvPr/>
        </p:nvSpPr>
        <p:spPr>
          <a:xfrm>
            <a:off x="1024128"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Gemini</a:t>
            </a:r>
            <a:endParaRPr lang="en-US" sz="1050" dirty="0"/>
          </a:p>
        </p:txBody>
      </p:sp>
      <p:sp>
        <p:nvSpPr>
          <p:cNvPr id="48" name="chip-298"/>
          <p:cNvSpPr/>
          <p:nvPr/>
        </p:nvSpPr>
        <p:spPr>
          <a:xfrm>
            <a:off x="1874520" y="3986784"/>
            <a:ext cx="1161288" cy="457200"/>
          </a:xfrm>
          <a:prstGeom prst="roundRect">
            <a:avLst>
              <a:gd name="adj" fmla="val 16000"/>
            </a:avLst>
          </a:prstGeom>
          <a:solidFill>
            <a:schemeClr val="bg2"/>
          </a:solidFill>
          <a:ln/>
        </p:spPr>
        <p:txBody>
          <a:bodyPr/>
          <a:lstStyle/>
          <a:p>
            <a:endParaRPr lang="en-US"/>
          </a:p>
        </p:txBody>
      </p:sp>
      <p:pic>
        <p:nvPicPr>
          <p:cNvPr id="49" name="logo-299" descr="preencoded.png"/>
          <p:cNvPicPr>
            <a:picLocks noChangeAspect="1"/>
          </p:cNvPicPr>
          <p:nvPr/>
        </p:nvPicPr>
        <p:blipFill>
          <a:blip r:embed="rId15"/>
          <a:stretch>
            <a:fillRect/>
          </a:stretch>
        </p:blipFill>
        <p:spPr>
          <a:xfrm>
            <a:off x="1965960" y="4087368"/>
            <a:ext cx="256032" cy="256032"/>
          </a:xfrm>
          <a:prstGeom prst="rect">
            <a:avLst/>
          </a:prstGeom>
        </p:spPr>
      </p:pic>
      <p:sp>
        <p:nvSpPr>
          <p:cNvPr id="50" name="text-300"/>
          <p:cNvSpPr txBox="1"/>
          <p:nvPr/>
        </p:nvSpPr>
        <p:spPr>
          <a:xfrm>
            <a:off x="2276856"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Hugging Face</a:t>
            </a:r>
            <a:endParaRPr lang="en-US" sz="1050" dirty="0"/>
          </a:p>
        </p:txBody>
      </p:sp>
      <p:sp>
        <p:nvSpPr>
          <p:cNvPr id="51" name="card-301"/>
          <p:cNvSpPr/>
          <p:nvPr/>
        </p:nvSpPr>
        <p:spPr>
          <a:xfrm>
            <a:off x="3236976"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52" name="text-302"/>
          <p:cNvSpPr txBox="1"/>
          <p:nvPr/>
        </p:nvSpPr>
        <p:spPr>
          <a:xfrm>
            <a:off x="3401568" y="3090672"/>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DEVOPS AND MONITORING</a:t>
            </a:r>
            <a:endParaRPr lang="en-US" sz="1050" dirty="0"/>
          </a:p>
        </p:txBody>
      </p:sp>
      <p:sp>
        <p:nvSpPr>
          <p:cNvPr id="53" name="chip-303"/>
          <p:cNvSpPr/>
          <p:nvPr/>
        </p:nvSpPr>
        <p:spPr>
          <a:xfrm>
            <a:off x="3401568" y="3419856"/>
            <a:ext cx="1161288" cy="457200"/>
          </a:xfrm>
          <a:prstGeom prst="roundRect">
            <a:avLst>
              <a:gd name="adj" fmla="val 16000"/>
            </a:avLst>
          </a:prstGeom>
          <a:solidFill>
            <a:schemeClr val="bg2"/>
          </a:solidFill>
          <a:ln/>
        </p:spPr>
        <p:txBody>
          <a:bodyPr/>
          <a:lstStyle/>
          <a:p>
            <a:endParaRPr lang="en-US"/>
          </a:p>
        </p:txBody>
      </p:sp>
      <p:pic>
        <p:nvPicPr>
          <p:cNvPr id="54" name="logo-304" descr="preencoded.png"/>
          <p:cNvPicPr>
            <a:picLocks noChangeAspect="1"/>
          </p:cNvPicPr>
          <p:nvPr/>
        </p:nvPicPr>
        <p:blipFill>
          <a:blip r:embed="rId16"/>
          <a:stretch>
            <a:fillRect/>
          </a:stretch>
        </p:blipFill>
        <p:spPr>
          <a:xfrm>
            <a:off x="3493008" y="3520440"/>
            <a:ext cx="256032" cy="256032"/>
          </a:xfrm>
          <a:prstGeom prst="rect">
            <a:avLst/>
          </a:prstGeom>
        </p:spPr>
      </p:pic>
      <p:sp>
        <p:nvSpPr>
          <p:cNvPr id="55" name="text-305"/>
          <p:cNvSpPr txBox="1"/>
          <p:nvPr/>
        </p:nvSpPr>
        <p:spPr>
          <a:xfrm>
            <a:off x="3803904"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Docker</a:t>
            </a:r>
            <a:endParaRPr lang="en-US" sz="1050" dirty="0"/>
          </a:p>
        </p:txBody>
      </p:sp>
      <p:sp>
        <p:nvSpPr>
          <p:cNvPr id="56" name="chip-306"/>
          <p:cNvSpPr/>
          <p:nvPr/>
        </p:nvSpPr>
        <p:spPr>
          <a:xfrm>
            <a:off x="4654296" y="3419856"/>
            <a:ext cx="1161288" cy="457200"/>
          </a:xfrm>
          <a:prstGeom prst="roundRect">
            <a:avLst>
              <a:gd name="adj" fmla="val 16000"/>
            </a:avLst>
          </a:prstGeom>
          <a:solidFill>
            <a:schemeClr val="bg2"/>
          </a:solidFill>
          <a:ln/>
        </p:spPr>
        <p:txBody>
          <a:bodyPr/>
          <a:lstStyle/>
          <a:p>
            <a:endParaRPr lang="en-US"/>
          </a:p>
        </p:txBody>
      </p:sp>
      <p:pic>
        <p:nvPicPr>
          <p:cNvPr id="57" name="logo-307" descr="preencoded.png"/>
          <p:cNvPicPr>
            <a:picLocks noChangeAspect="1"/>
          </p:cNvPicPr>
          <p:nvPr/>
        </p:nvPicPr>
        <p:blipFill>
          <a:blip r:embed="rId17"/>
          <a:stretch>
            <a:fillRect/>
          </a:stretch>
        </p:blipFill>
        <p:spPr>
          <a:xfrm>
            <a:off x="4745736" y="3520440"/>
            <a:ext cx="256032" cy="256032"/>
          </a:xfrm>
          <a:prstGeom prst="rect">
            <a:avLst/>
          </a:prstGeom>
        </p:spPr>
      </p:pic>
      <p:sp>
        <p:nvSpPr>
          <p:cNvPr id="58" name="text-308"/>
          <p:cNvSpPr txBox="1"/>
          <p:nvPr/>
        </p:nvSpPr>
        <p:spPr>
          <a:xfrm>
            <a:off x="5056632"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GitHub Actions</a:t>
            </a:r>
            <a:endParaRPr lang="en-US" sz="1050" dirty="0"/>
          </a:p>
        </p:txBody>
      </p:sp>
      <p:sp>
        <p:nvSpPr>
          <p:cNvPr id="59" name="chip-309"/>
          <p:cNvSpPr/>
          <p:nvPr/>
        </p:nvSpPr>
        <p:spPr>
          <a:xfrm>
            <a:off x="3401568" y="3986784"/>
            <a:ext cx="1161288" cy="457200"/>
          </a:xfrm>
          <a:prstGeom prst="roundRect">
            <a:avLst>
              <a:gd name="adj" fmla="val 16000"/>
            </a:avLst>
          </a:prstGeom>
          <a:solidFill>
            <a:schemeClr val="bg2"/>
          </a:solidFill>
          <a:ln/>
        </p:spPr>
        <p:txBody>
          <a:bodyPr/>
          <a:lstStyle/>
          <a:p>
            <a:endParaRPr lang="en-US"/>
          </a:p>
        </p:txBody>
      </p:sp>
      <p:pic>
        <p:nvPicPr>
          <p:cNvPr id="60" name="logo-310" descr="preencoded.png"/>
          <p:cNvPicPr>
            <a:picLocks noChangeAspect="1"/>
          </p:cNvPicPr>
          <p:nvPr/>
        </p:nvPicPr>
        <p:blipFill>
          <a:blip r:embed="rId18"/>
          <a:stretch>
            <a:fillRect/>
          </a:stretch>
        </p:blipFill>
        <p:spPr>
          <a:xfrm>
            <a:off x="3493008" y="4087368"/>
            <a:ext cx="256032" cy="256032"/>
          </a:xfrm>
          <a:prstGeom prst="rect">
            <a:avLst/>
          </a:prstGeom>
        </p:spPr>
      </p:pic>
      <p:sp>
        <p:nvSpPr>
          <p:cNvPr id="61" name="text-311"/>
          <p:cNvSpPr txBox="1"/>
          <p:nvPr/>
        </p:nvSpPr>
        <p:spPr>
          <a:xfrm>
            <a:off x="3803904"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Prometheus</a:t>
            </a:r>
            <a:endParaRPr lang="en-US" sz="1050" dirty="0"/>
          </a:p>
        </p:txBody>
      </p:sp>
      <p:sp>
        <p:nvSpPr>
          <p:cNvPr id="62" name="chip-312"/>
          <p:cNvSpPr/>
          <p:nvPr/>
        </p:nvSpPr>
        <p:spPr>
          <a:xfrm>
            <a:off x="4654296" y="3986784"/>
            <a:ext cx="1161288" cy="457200"/>
          </a:xfrm>
          <a:prstGeom prst="roundRect">
            <a:avLst>
              <a:gd name="adj" fmla="val 16000"/>
            </a:avLst>
          </a:prstGeom>
          <a:solidFill>
            <a:schemeClr val="bg2"/>
          </a:solidFill>
          <a:ln/>
        </p:spPr>
        <p:txBody>
          <a:bodyPr/>
          <a:lstStyle/>
          <a:p>
            <a:endParaRPr lang="en-US"/>
          </a:p>
        </p:txBody>
      </p:sp>
      <p:pic>
        <p:nvPicPr>
          <p:cNvPr id="63" name="logo-313" descr="preencoded.png"/>
          <p:cNvPicPr>
            <a:picLocks noChangeAspect="1"/>
          </p:cNvPicPr>
          <p:nvPr/>
        </p:nvPicPr>
        <p:blipFill>
          <a:blip r:embed="rId19"/>
          <a:stretch>
            <a:fillRect/>
          </a:stretch>
        </p:blipFill>
        <p:spPr>
          <a:xfrm>
            <a:off x="4745736" y="4087368"/>
            <a:ext cx="256032" cy="256032"/>
          </a:xfrm>
          <a:prstGeom prst="rect">
            <a:avLst/>
          </a:prstGeom>
        </p:spPr>
      </p:pic>
      <p:sp>
        <p:nvSpPr>
          <p:cNvPr id="64" name="text-314"/>
          <p:cNvSpPr txBox="1"/>
          <p:nvPr/>
        </p:nvSpPr>
        <p:spPr>
          <a:xfrm>
            <a:off x="5056632"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Grafana</a:t>
            </a:r>
            <a:endParaRPr lang="en-US" sz="1050" dirty="0"/>
          </a:p>
        </p:txBody>
      </p:sp>
      <p:sp>
        <p:nvSpPr>
          <p:cNvPr id="65" name="card-315"/>
          <p:cNvSpPr/>
          <p:nvPr/>
        </p:nvSpPr>
        <p:spPr>
          <a:xfrm>
            <a:off x="6016752" y="2962656"/>
            <a:ext cx="2670048" cy="1664208"/>
          </a:xfrm>
          <a:prstGeom prst="roundRect">
            <a:avLst>
              <a:gd name="adj" fmla="val 4396"/>
            </a:avLst>
          </a:prstGeom>
          <a:solidFill>
            <a:schemeClr val="bg1"/>
          </a:solidFill>
          <a:ln w="9525">
            <a:solidFill>
              <a:srgbClr val="E1E5F5"/>
            </a:solidFill>
            <a:prstDash val="solid"/>
          </a:ln>
        </p:spPr>
        <p:txBody>
          <a:bodyPr/>
          <a:lstStyle/>
          <a:p>
            <a:endParaRPr lang="en-US"/>
          </a:p>
        </p:txBody>
      </p:sp>
      <p:sp>
        <p:nvSpPr>
          <p:cNvPr id="66" name="text-316"/>
          <p:cNvSpPr txBox="1"/>
          <p:nvPr/>
        </p:nvSpPr>
        <p:spPr>
          <a:xfrm>
            <a:off x="6181344" y="3090672"/>
            <a:ext cx="2395728"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AUTH AND QUALITY</a:t>
            </a:r>
            <a:endParaRPr lang="en-US" sz="1050" dirty="0"/>
          </a:p>
        </p:txBody>
      </p:sp>
      <p:sp>
        <p:nvSpPr>
          <p:cNvPr id="67" name="chip-317"/>
          <p:cNvSpPr/>
          <p:nvPr/>
        </p:nvSpPr>
        <p:spPr>
          <a:xfrm>
            <a:off x="6181344" y="3419856"/>
            <a:ext cx="1161288" cy="457200"/>
          </a:xfrm>
          <a:prstGeom prst="roundRect">
            <a:avLst>
              <a:gd name="adj" fmla="val 16000"/>
            </a:avLst>
          </a:prstGeom>
          <a:solidFill>
            <a:schemeClr val="bg2"/>
          </a:solidFill>
          <a:ln/>
        </p:spPr>
        <p:txBody>
          <a:bodyPr/>
          <a:lstStyle/>
          <a:p>
            <a:endParaRPr lang="en-US"/>
          </a:p>
        </p:txBody>
      </p:sp>
      <p:pic>
        <p:nvPicPr>
          <p:cNvPr id="68" name="logo-318" descr="preencoded.png"/>
          <p:cNvPicPr>
            <a:picLocks noChangeAspect="1"/>
          </p:cNvPicPr>
          <p:nvPr/>
        </p:nvPicPr>
        <p:blipFill>
          <a:blip r:embed="rId20"/>
          <a:stretch>
            <a:fillRect/>
          </a:stretch>
        </p:blipFill>
        <p:spPr>
          <a:xfrm>
            <a:off x="6272784" y="3520440"/>
            <a:ext cx="256032" cy="256032"/>
          </a:xfrm>
          <a:prstGeom prst="rect">
            <a:avLst/>
          </a:prstGeom>
        </p:spPr>
      </p:pic>
      <p:sp>
        <p:nvSpPr>
          <p:cNvPr id="69" name="text-319"/>
          <p:cNvSpPr txBox="1"/>
          <p:nvPr/>
        </p:nvSpPr>
        <p:spPr>
          <a:xfrm>
            <a:off x="6583680"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Google</a:t>
            </a:r>
            <a:endParaRPr lang="en-US" sz="1050" dirty="0"/>
          </a:p>
        </p:txBody>
      </p:sp>
      <p:sp>
        <p:nvSpPr>
          <p:cNvPr id="70" name="chip-320"/>
          <p:cNvSpPr/>
          <p:nvPr/>
        </p:nvSpPr>
        <p:spPr>
          <a:xfrm>
            <a:off x="7434072" y="3419856"/>
            <a:ext cx="1161288" cy="457200"/>
          </a:xfrm>
          <a:prstGeom prst="roundRect">
            <a:avLst>
              <a:gd name="adj" fmla="val 16000"/>
            </a:avLst>
          </a:prstGeom>
          <a:solidFill>
            <a:schemeClr val="bg2"/>
          </a:solidFill>
          <a:ln/>
        </p:spPr>
        <p:txBody>
          <a:bodyPr/>
          <a:lstStyle/>
          <a:p>
            <a:endParaRPr lang="en-US"/>
          </a:p>
        </p:txBody>
      </p:sp>
      <p:pic>
        <p:nvPicPr>
          <p:cNvPr id="71" name="logo-321" descr="preencoded.png"/>
          <p:cNvPicPr>
            <a:picLocks noChangeAspect="1"/>
          </p:cNvPicPr>
          <p:nvPr/>
        </p:nvPicPr>
        <p:blipFill>
          <a:blip r:embed="rId21"/>
          <a:stretch>
            <a:fillRect/>
          </a:stretch>
        </p:blipFill>
        <p:spPr>
          <a:xfrm>
            <a:off x="7525512" y="3520440"/>
            <a:ext cx="256032" cy="256032"/>
          </a:xfrm>
          <a:prstGeom prst="rect">
            <a:avLst/>
          </a:prstGeom>
        </p:spPr>
      </p:pic>
      <p:sp>
        <p:nvSpPr>
          <p:cNvPr id="72" name="text-322"/>
          <p:cNvSpPr txBox="1"/>
          <p:nvPr/>
        </p:nvSpPr>
        <p:spPr>
          <a:xfrm>
            <a:off x="7836408" y="3419856"/>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JWT</a:t>
            </a:r>
            <a:endParaRPr lang="en-US" sz="1050" dirty="0"/>
          </a:p>
        </p:txBody>
      </p:sp>
      <p:sp>
        <p:nvSpPr>
          <p:cNvPr id="73" name="chip-323"/>
          <p:cNvSpPr/>
          <p:nvPr/>
        </p:nvSpPr>
        <p:spPr>
          <a:xfrm>
            <a:off x="6181344" y="3986784"/>
            <a:ext cx="1161288" cy="457200"/>
          </a:xfrm>
          <a:prstGeom prst="roundRect">
            <a:avLst>
              <a:gd name="adj" fmla="val 16000"/>
            </a:avLst>
          </a:prstGeom>
          <a:solidFill>
            <a:schemeClr val="bg2"/>
          </a:solidFill>
          <a:ln/>
        </p:spPr>
        <p:txBody>
          <a:bodyPr/>
          <a:lstStyle/>
          <a:p>
            <a:endParaRPr lang="en-US"/>
          </a:p>
        </p:txBody>
      </p:sp>
      <p:pic>
        <p:nvPicPr>
          <p:cNvPr id="74" name="logo-324" descr="preencoded.png"/>
          <p:cNvPicPr>
            <a:picLocks noChangeAspect="1"/>
          </p:cNvPicPr>
          <p:nvPr/>
        </p:nvPicPr>
        <p:blipFill>
          <a:blip r:embed="rId22"/>
          <a:stretch>
            <a:fillRect/>
          </a:stretch>
        </p:blipFill>
        <p:spPr>
          <a:xfrm>
            <a:off x="6272784" y="4087368"/>
            <a:ext cx="256032" cy="256032"/>
          </a:xfrm>
          <a:prstGeom prst="rect">
            <a:avLst/>
          </a:prstGeom>
        </p:spPr>
      </p:pic>
      <p:sp>
        <p:nvSpPr>
          <p:cNvPr id="75" name="text-325"/>
          <p:cNvSpPr txBox="1"/>
          <p:nvPr/>
        </p:nvSpPr>
        <p:spPr>
          <a:xfrm>
            <a:off x="6583680"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pytest</a:t>
            </a:r>
            <a:endParaRPr lang="en-US" sz="1050" dirty="0"/>
          </a:p>
        </p:txBody>
      </p:sp>
      <p:sp>
        <p:nvSpPr>
          <p:cNvPr id="76" name="chip-326"/>
          <p:cNvSpPr/>
          <p:nvPr/>
        </p:nvSpPr>
        <p:spPr>
          <a:xfrm>
            <a:off x="7434072" y="3986784"/>
            <a:ext cx="1161288" cy="457200"/>
          </a:xfrm>
          <a:prstGeom prst="roundRect">
            <a:avLst>
              <a:gd name="adj" fmla="val 16000"/>
            </a:avLst>
          </a:prstGeom>
          <a:solidFill>
            <a:schemeClr val="bg2"/>
          </a:solidFill>
          <a:ln/>
        </p:spPr>
        <p:txBody>
          <a:bodyPr/>
          <a:lstStyle/>
          <a:p>
            <a:endParaRPr lang="en-US"/>
          </a:p>
        </p:txBody>
      </p:sp>
      <p:pic>
        <p:nvPicPr>
          <p:cNvPr id="77" name="logo-327" descr="preencoded.png"/>
          <p:cNvPicPr>
            <a:picLocks noChangeAspect="1"/>
          </p:cNvPicPr>
          <p:nvPr/>
        </p:nvPicPr>
        <p:blipFill>
          <a:blip r:embed="rId23"/>
          <a:stretch>
            <a:fillRect/>
          </a:stretch>
        </p:blipFill>
        <p:spPr>
          <a:xfrm>
            <a:off x="7525512" y="4087368"/>
            <a:ext cx="256032" cy="256032"/>
          </a:xfrm>
          <a:prstGeom prst="rect">
            <a:avLst/>
          </a:prstGeom>
        </p:spPr>
      </p:pic>
      <p:sp>
        <p:nvSpPr>
          <p:cNvPr id="78" name="text-328"/>
          <p:cNvSpPr txBox="1"/>
          <p:nvPr/>
        </p:nvSpPr>
        <p:spPr>
          <a:xfrm>
            <a:off x="7836408" y="3986784"/>
            <a:ext cx="749808" cy="457200"/>
          </a:xfrm>
          <a:prstGeom prst="rect">
            <a:avLst/>
          </a:prstGeom>
          <a:noFill/>
          <a:ln/>
        </p:spPr>
        <p:txBody>
          <a:bodyPr wrap="square" lIns="0" tIns="0" rIns="0" bIns="0" rtlCol="0" anchor="ctr">
            <a:normAutofit/>
          </a:bodyPr>
          <a:lstStyle/>
          <a:p>
            <a:pPr marL="0" indent="0">
              <a:buNone/>
            </a:pPr>
            <a:r>
              <a:rPr lang="en-US" sz="1050" b="1" dirty="0">
                <a:solidFill>
                  <a:schemeClr val="tx2"/>
                </a:solidFill>
              </a:rPr>
              <a:t>Playwright</a:t>
            </a:r>
            <a:endParaRPr lang="en-US" sz="1050" dirty="0"/>
          </a:p>
        </p:txBody>
      </p:sp>
      <p:sp>
        <p:nvSpPr>
          <p:cNvPr id="79"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ALGORITHMS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The logic behind the orchestrator</a:t>
            </a:r>
            <a:endParaRPr lang="en-US" sz="2800" dirty="0"/>
          </a:p>
        </p:txBody>
      </p:sp>
      <p:sp>
        <p:nvSpPr>
          <p:cNvPr id="4" name="card-329"/>
          <p:cNvSpPr/>
          <p:nvPr/>
        </p:nvSpPr>
        <p:spPr>
          <a:xfrm>
            <a:off x="457200" y="1188720"/>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5" name="badge-330"/>
          <p:cNvSpPr/>
          <p:nvPr/>
        </p:nvSpPr>
        <p:spPr>
          <a:xfrm>
            <a:off x="603504" y="1353312"/>
            <a:ext cx="457200" cy="457200"/>
          </a:xfrm>
          <a:prstGeom prst="ellipse">
            <a:avLst/>
          </a:prstGeom>
          <a:solidFill>
            <a:schemeClr val="accent1"/>
          </a:solidFill>
          <a:ln/>
        </p:spPr>
        <p:txBody>
          <a:bodyPr/>
          <a:lstStyle/>
          <a:p>
            <a:endParaRPr lang="en-US"/>
          </a:p>
        </p:txBody>
      </p:sp>
      <p:pic>
        <p:nvPicPr>
          <p:cNvPr id="6" name="icon-331" descr="preencoded.png"/>
          <p:cNvPicPr>
            <a:picLocks noChangeAspect="1"/>
          </p:cNvPicPr>
          <p:nvPr/>
        </p:nvPicPr>
        <p:blipFill>
          <a:blip r:embed="rId3"/>
          <a:stretch>
            <a:fillRect/>
          </a:stretch>
        </p:blipFill>
        <p:spPr>
          <a:xfrm>
            <a:off x="704088" y="1453896"/>
            <a:ext cx="256032" cy="256032"/>
          </a:xfrm>
          <a:prstGeom prst="rect">
            <a:avLst/>
          </a:prstGeom>
        </p:spPr>
      </p:pic>
      <p:sp>
        <p:nvSpPr>
          <p:cNvPr id="7" name="text-332"/>
          <p:cNvSpPr txBox="1"/>
          <p:nvPr/>
        </p:nvSpPr>
        <p:spPr>
          <a:xfrm>
            <a:off x="1188720" y="1298448"/>
            <a:ext cx="3191256" cy="256032"/>
          </a:xfrm>
          <a:prstGeom prst="rect">
            <a:avLst/>
          </a:prstGeom>
          <a:noFill/>
          <a:ln/>
        </p:spPr>
        <p:txBody>
          <a:bodyPr wrap="square" lIns="0" tIns="0" rIns="0" bIns="0" rtlCol="0" anchor="t"/>
          <a:lstStyle/>
          <a:p>
            <a:pPr marL="0" indent="0">
              <a:buNone/>
            </a:pPr>
            <a:r>
              <a:rPr lang="en-US" sz="1300" b="1" dirty="0">
                <a:solidFill>
                  <a:schemeClr val="tx2"/>
                </a:solidFill>
              </a:rPr>
              <a:t>Capability classification</a:t>
            </a:r>
            <a:endParaRPr lang="en-US" sz="1300" dirty="0"/>
          </a:p>
        </p:txBody>
      </p:sp>
      <p:sp>
        <p:nvSpPr>
          <p:cNvPr id="8" name="text-333"/>
          <p:cNvSpPr txBox="1"/>
          <p:nvPr/>
        </p:nvSpPr>
        <p:spPr>
          <a:xfrm>
            <a:off x="1188720" y="1572768"/>
            <a:ext cx="3191256" cy="640080"/>
          </a:xfrm>
          <a:prstGeom prst="rect">
            <a:avLst/>
          </a:prstGeom>
          <a:noFill/>
          <a:ln/>
        </p:spPr>
        <p:txBody>
          <a:bodyPr wrap="square" lIns="0" tIns="0" rIns="0" bIns="0" rtlCol="0" anchor="t"/>
          <a:lstStyle/>
          <a:p>
            <a:pPr marL="0" indent="0">
              <a:buNone/>
            </a:pPr>
            <a:r>
              <a:rPr lang="en-US" sz="1050" dirty="0">
                <a:solidFill>
                  <a:schemeClr val="tx1"/>
                </a:solidFill>
              </a:rPr>
              <a:t>Heuristic or LLM analysis maps a brief to the capabilities it needs, with a clarity check for vague briefs.</a:t>
            </a:r>
            <a:endParaRPr lang="en-US" sz="1050" dirty="0"/>
          </a:p>
        </p:txBody>
      </p:sp>
      <p:sp>
        <p:nvSpPr>
          <p:cNvPr id="9" name="card-334"/>
          <p:cNvSpPr/>
          <p:nvPr/>
        </p:nvSpPr>
        <p:spPr>
          <a:xfrm>
            <a:off x="4626864" y="1188720"/>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10" name="badge-335"/>
          <p:cNvSpPr/>
          <p:nvPr/>
        </p:nvSpPr>
        <p:spPr>
          <a:xfrm>
            <a:off x="4773168" y="1353312"/>
            <a:ext cx="457200" cy="457200"/>
          </a:xfrm>
          <a:prstGeom prst="ellipse">
            <a:avLst/>
          </a:prstGeom>
          <a:solidFill>
            <a:schemeClr val="accent2"/>
          </a:solidFill>
          <a:ln/>
        </p:spPr>
        <p:txBody>
          <a:bodyPr/>
          <a:lstStyle/>
          <a:p>
            <a:endParaRPr lang="en-US"/>
          </a:p>
        </p:txBody>
      </p:sp>
      <p:pic>
        <p:nvPicPr>
          <p:cNvPr id="11" name="icon-336" descr="preencoded.png"/>
          <p:cNvPicPr>
            <a:picLocks noChangeAspect="1"/>
          </p:cNvPicPr>
          <p:nvPr/>
        </p:nvPicPr>
        <p:blipFill>
          <a:blip r:embed="rId4"/>
          <a:stretch>
            <a:fillRect/>
          </a:stretch>
        </p:blipFill>
        <p:spPr>
          <a:xfrm>
            <a:off x="4873752" y="1453896"/>
            <a:ext cx="256032" cy="256032"/>
          </a:xfrm>
          <a:prstGeom prst="rect">
            <a:avLst/>
          </a:prstGeom>
        </p:spPr>
      </p:pic>
      <p:sp>
        <p:nvSpPr>
          <p:cNvPr id="12" name="text-337"/>
          <p:cNvSpPr txBox="1"/>
          <p:nvPr/>
        </p:nvSpPr>
        <p:spPr>
          <a:xfrm>
            <a:off x="5358384" y="1298448"/>
            <a:ext cx="3191256" cy="256032"/>
          </a:xfrm>
          <a:prstGeom prst="rect">
            <a:avLst/>
          </a:prstGeom>
          <a:noFill/>
          <a:ln/>
        </p:spPr>
        <p:txBody>
          <a:bodyPr wrap="square" lIns="0" tIns="0" rIns="0" bIns="0" rtlCol="0" anchor="t"/>
          <a:lstStyle/>
          <a:p>
            <a:pPr marL="0" indent="0">
              <a:buNone/>
            </a:pPr>
            <a:r>
              <a:rPr lang="en-US" sz="1300" b="1" dirty="0">
                <a:solidFill>
                  <a:schemeClr val="tx2"/>
                </a:solidFill>
              </a:rPr>
              <a:t>Minimal covering set</a:t>
            </a:r>
            <a:endParaRPr lang="en-US" sz="1300" dirty="0"/>
          </a:p>
        </p:txBody>
      </p:sp>
      <p:sp>
        <p:nvSpPr>
          <p:cNvPr id="13" name="text-338"/>
          <p:cNvSpPr txBox="1"/>
          <p:nvPr/>
        </p:nvSpPr>
        <p:spPr>
          <a:xfrm>
            <a:off x="5358384" y="1572768"/>
            <a:ext cx="3191256" cy="640080"/>
          </a:xfrm>
          <a:prstGeom prst="rect">
            <a:avLst/>
          </a:prstGeom>
          <a:noFill/>
          <a:ln/>
        </p:spPr>
        <p:txBody>
          <a:bodyPr wrap="square" lIns="0" tIns="0" rIns="0" bIns="0" rtlCol="0" anchor="t"/>
          <a:lstStyle/>
          <a:p>
            <a:pPr marL="0" indent="0">
              <a:buNone/>
            </a:pPr>
            <a:r>
              <a:rPr lang="en-US" sz="1050" dirty="0">
                <a:solidFill>
                  <a:schemeClr val="tx1"/>
                </a:solidFill>
              </a:rPr>
              <a:t>The selector spawns the fewest enabled agents that cover every capability and records why each other agent was skipped.</a:t>
            </a:r>
            <a:endParaRPr lang="en-US" sz="1050" dirty="0"/>
          </a:p>
        </p:txBody>
      </p:sp>
      <p:sp>
        <p:nvSpPr>
          <p:cNvPr id="14" name="card-339"/>
          <p:cNvSpPr/>
          <p:nvPr/>
        </p:nvSpPr>
        <p:spPr>
          <a:xfrm>
            <a:off x="457200" y="2359152"/>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15" name="badge-340"/>
          <p:cNvSpPr/>
          <p:nvPr/>
        </p:nvSpPr>
        <p:spPr>
          <a:xfrm>
            <a:off x="603504" y="2523744"/>
            <a:ext cx="457200" cy="457200"/>
          </a:xfrm>
          <a:prstGeom prst="ellipse">
            <a:avLst/>
          </a:prstGeom>
          <a:solidFill>
            <a:schemeClr val="accent1"/>
          </a:solidFill>
          <a:ln/>
        </p:spPr>
        <p:txBody>
          <a:bodyPr/>
          <a:lstStyle/>
          <a:p>
            <a:endParaRPr lang="en-US"/>
          </a:p>
        </p:txBody>
      </p:sp>
      <p:pic>
        <p:nvPicPr>
          <p:cNvPr id="16" name="icon-341" descr="preencoded.png"/>
          <p:cNvPicPr>
            <a:picLocks noChangeAspect="1"/>
          </p:cNvPicPr>
          <p:nvPr/>
        </p:nvPicPr>
        <p:blipFill>
          <a:blip r:embed="rId5"/>
          <a:stretch>
            <a:fillRect/>
          </a:stretch>
        </p:blipFill>
        <p:spPr>
          <a:xfrm>
            <a:off x="704088" y="2624328"/>
            <a:ext cx="256032" cy="256032"/>
          </a:xfrm>
          <a:prstGeom prst="rect">
            <a:avLst/>
          </a:prstGeom>
        </p:spPr>
      </p:pic>
      <p:sp>
        <p:nvSpPr>
          <p:cNvPr id="17" name="text-342"/>
          <p:cNvSpPr txBox="1"/>
          <p:nvPr/>
        </p:nvSpPr>
        <p:spPr>
          <a:xfrm>
            <a:off x="1188720" y="2468880"/>
            <a:ext cx="3191256" cy="256032"/>
          </a:xfrm>
          <a:prstGeom prst="rect">
            <a:avLst/>
          </a:prstGeom>
          <a:noFill/>
          <a:ln/>
        </p:spPr>
        <p:txBody>
          <a:bodyPr wrap="square" lIns="0" tIns="0" rIns="0" bIns="0" rtlCol="0" anchor="t"/>
          <a:lstStyle/>
          <a:p>
            <a:pPr marL="0" indent="0">
              <a:buNone/>
            </a:pPr>
            <a:r>
              <a:rPr lang="en-US" sz="1300" b="1" dirty="0">
                <a:solidFill>
                  <a:schemeClr val="tx2"/>
                </a:solidFill>
              </a:rPr>
              <a:t>DAG planning</a:t>
            </a:r>
            <a:endParaRPr lang="en-US" sz="1300" dirty="0"/>
          </a:p>
        </p:txBody>
      </p:sp>
      <p:sp>
        <p:nvSpPr>
          <p:cNvPr id="18" name="text-343"/>
          <p:cNvSpPr txBox="1"/>
          <p:nvPr/>
        </p:nvSpPr>
        <p:spPr>
          <a:xfrm>
            <a:off x="1188720" y="2743200"/>
            <a:ext cx="3191256" cy="640080"/>
          </a:xfrm>
          <a:prstGeom prst="rect">
            <a:avLst/>
          </a:prstGeom>
          <a:noFill/>
          <a:ln/>
        </p:spPr>
        <p:txBody>
          <a:bodyPr wrap="square" lIns="0" tIns="0" rIns="0" bIns="0" rtlCol="0" anchor="t"/>
          <a:lstStyle/>
          <a:p>
            <a:pPr marL="0" indent="0">
              <a:buNone/>
            </a:pPr>
            <a:r>
              <a:rPr lang="en-US" sz="1050" dirty="0">
                <a:solidFill>
                  <a:schemeClr val="tx1"/>
                </a:solidFill>
              </a:rPr>
              <a:t>Topological ordering builds sequential, parallel and conditional steps; plans with cycles are rejected.</a:t>
            </a:r>
            <a:endParaRPr lang="en-US" sz="1050" dirty="0"/>
          </a:p>
        </p:txBody>
      </p:sp>
      <p:sp>
        <p:nvSpPr>
          <p:cNvPr id="19" name="card-344"/>
          <p:cNvSpPr/>
          <p:nvPr/>
        </p:nvSpPr>
        <p:spPr>
          <a:xfrm>
            <a:off x="4626864" y="2359152"/>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20" name="badge-345"/>
          <p:cNvSpPr/>
          <p:nvPr/>
        </p:nvSpPr>
        <p:spPr>
          <a:xfrm>
            <a:off x="4773168" y="2523744"/>
            <a:ext cx="457200" cy="457200"/>
          </a:xfrm>
          <a:prstGeom prst="ellipse">
            <a:avLst/>
          </a:prstGeom>
          <a:solidFill>
            <a:schemeClr val="accent2"/>
          </a:solidFill>
          <a:ln/>
        </p:spPr>
        <p:txBody>
          <a:bodyPr/>
          <a:lstStyle/>
          <a:p>
            <a:endParaRPr lang="en-US"/>
          </a:p>
        </p:txBody>
      </p:sp>
      <p:pic>
        <p:nvPicPr>
          <p:cNvPr id="21" name="icon-346" descr="preencoded.png"/>
          <p:cNvPicPr>
            <a:picLocks noChangeAspect="1"/>
          </p:cNvPicPr>
          <p:nvPr/>
        </p:nvPicPr>
        <p:blipFill>
          <a:blip r:embed="rId6"/>
          <a:stretch>
            <a:fillRect/>
          </a:stretch>
        </p:blipFill>
        <p:spPr>
          <a:xfrm>
            <a:off x="4873752" y="2624328"/>
            <a:ext cx="256032" cy="256032"/>
          </a:xfrm>
          <a:prstGeom prst="rect">
            <a:avLst/>
          </a:prstGeom>
        </p:spPr>
      </p:pic>
      <p:sp>
        <p:nvSpPr>
          <p:cNvPr id="22" name="text-347"/>
          <p:cNvSpPr txBox="1"/>
          <p:nvPr/>
        </p:nvSpPr>
        <p:spPr>
          <a:xfrm>
            <a:off x="5358384" y="2468880"/>
            <a:ext cx="3191256" cy="256032"/>
          </a:xfrm>
          <a:prstGeom prst="rect">
            <a:avLst/>
          </a:prstGeom>
          <a:noFill/>
          <a:ln/>
        </p:spPr>
        <p:txBody>
          <a:bodyPr wrap="square" lIns="0" tIns="0" rIns="0" bIns="0" rtlCol="0" anchor="t"/>
          <a:lstStyle/>
          <a:p>
            <a:pPr marL="0" indent="0">
              <a:buNone/>
            </a:pPr>
            <a:r>
              <a:rPr lang="en-US" sz="1300" b="1" dirty="0">
                <a:solidFill>
                  <a:schemeClr val="tx2"/>
                </a:solidFill>
              </a:rPr>
              <a:t>Conditional branching</a:t>
            </a:r>
            <a:endParaRPr lang="en-US" sz="1300" dirty="0"/>
          </a:p>
        </p:txBody>
      </p:sp>
      <p:sp>
        <p:nvSpPr>
          <p:cNvPr id="23" name="text-348"/>
          <p:cNvSpPr txBox="1"/>
          <p:nvPr/>
        </p:nvSpPr>
        <p:spPr>
          <a:xfrm>
            <a:off x="5358384" y="2743200"/>
            <a:ext cx="3191256" cy="640080"/>
          </a:xfrm>
          <a:prstGeom prst="rect">
            <a:avLst/>
          </a:prstGeom>
          <a:noFill/>
          <a:ln/>
        </p:spPr>
        <p:txBody>
          <a:bodyPr wrap="square" lIns="0" tIns="0" rIns="0" bIns="0" rtlCol="0" anchor="t"/>
          <a:lstStyle/>
          <a:p>
            <a:pPr marL="0" indent="0">
              <a:buNone/>
            </a:pPr>
            <a:r>
              <a:rPr lang="en-US" sz="1050" dirty="0">
                <a:solidFill>
                  <a:schemeClr val="tx1"/>
                </a:solidFill>
              </a:rPr>
              <a:t>Edge conditions read intermediate results, for example skipping the coding step when no vulnerability is found.</a:t>
            </a:r>
            <a:endParaRPr lang="en-US" sz="1050" dirty="0"/>
          </a:p>
        </p:txBody>
      </p:sp>
      <p:sp>
        <p:nvSpPr>
          <p:cNvPr id="24" name="card-349"/>
          <p:cNvSpPr/>
          <p:nvPr/>
        </p:nvSpPr>
        <p:spPr>
          <a:xfrm>
            <a:off x="457200" y="3529584"/>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25" name="badge-350"/>
          <p:cNvSpPr/>
          <p:nvPr/>
        </p:nvSpPr>
        <p:spPr>
          <a:xfrm>
            <a:off x="603504" y="3694176"/>
            <a:ext cx="457200" cy="457200"/>
          </a:xfrm>
          <a:prstGeom prst="ellipse">
            <a:avLst/>
          </a:prstGeom>
          <a:solidFill>
            <a:schemeClr val="accent1"/>
          </a:solidFill>
          <a:ln/>
        </p:spPr>
        <p:txBody>
          <a:bodyPr/>
          <a:lstStyle/>
          <a:p>
            <a:endParaRPr lang="en-US"/>
          </a:p>
        </p:txBody>
      </p:sp>
      <p:pic>
        <p:nvPicPr>
          <p:cNvPr id="26" name="icon-351" descr="preencoded.png"/>
          <p:cNvPicPr>
            <a:picLocks noChangeAspect="1"/>
          </p:cNvPicPr>
          <p:nvPr/>
        </p:nvPicPr>
        <p:blipFill>
          <a:blip r:embed="rId7"/>
          <a:stretch>
            <a:fillRect/>
          </a:stretch>
        </p:blipFill>
        <p:spPr>
          <a:xfrm>
            <a:off x="704088" y="3794760"/>
            <a:ext cx="256032" cy="256032"/>
          </a:xfrm>
          <a:prstGeom prst="rect">
            <a:avLst/>
          </a:prstGeom>
        </p:spPr>
      </p:pic>
      <p:sp>
        <p:nvSpPr>
          <p:cNvPr id="27" name="text-352"/>
          <p:cNvSpPr txBox="1"/>
          <p:nvPr/>
        </p:nvSpPr>
        <p:spPr>
          <a:xfrm>
            <a:off x="1188720" y="3639312"/>
            <a:ext cx="3191256" cy="256032"/>
          </a:xfrm>
          <a:prstGeom prst="rect">
            <a:avLst/>
          </a:prstGeom>
          <a:noFill/>
          <a:ln/>
        </p:spPr>
        <p:txBody>
          <a:bodyPr wrap="square" lIns="0" tIns="0" rIns="0" bIns="0" rtlCol="0" anchor="t"/>
          <a:lstStyle/>
          <a:p>
            <a:pPr marL="0" indent="0">
              <a:buNone/>
            </a:pPr>
            <a:r>
              <a:rPr lang="en-US" sz="1300" b="1" dirty="0">
                <a:solidFill>
                  <a:schemeClr val="tx2"/>
                </a:solidFill>
              </a:rPr>
              <a:t>Cost-aware routing</a:t>
            </a:r>
            <a:endParaRPr lang="en-US" sz="1300" dirty="0"/>
          </a:p>
        </p:txBody>
      </p:sp>
      <p:sp>
        <p:nvSpPr>
          <p:cNvPr id="28" name="text-353"/>
          <p:cNvSpPr txBox="1"/>
          <p:nvPr/>
        </p:nvSpPr>
        <p:spPr>
          <a:xfrm>
            <a:off x="1188720" y="3913632"/>
            <a:ext cx="3191256" cy="640080"/>
          </a:xfrm>
          <a:prstGeom prst="rect">
            <a:avLst/>
          </a:prstGeom>
          <a:noFill/>
          <a:ln/>
        </p:spPr>
        <p:txBody>
          <a:bodyPr wrap="square" lIns="0" tIns="0" rIns="0" bIns="0" rtlCol="0" anchor="t"/>
          <a:lstStyle/>
          <a:p>
            <a:pPr marL="0" indent="0">
              <a:buNone/>
            </a:pPr>
            <a:r>
              <a:rPr lang="en-US" sz="1050" dirty="0">
                <a:solidFill>
                  <a:schemeClr val="tx1"/>
                </a:solidFill>
              </a:rPr>
              <a:t>Models are ranked by cost and latency per step, with logged fallback to the next provider.</a:t>
            </a:r>
            <a:endParaRPr lang="en-US" sz="1050" dirty="0"/>
          </a:p>
        </p:txBody>
      </p:sp>
      <p:sp>
        <p:nvSpPr>
          <p:cNvPr id="29" name="card-354"/>
          <p:cNvSpPr/>
          <p:nvPr/>
        </p:nvSpPr>
        <p:spPr>
          <a:xfrm>
            <a:off x="4626864" y="3529584"/>
            <a:ext cx="4059936" cy="1060704"/>
          </a:xfrm>
          <a:prstGeom prst="roundRect">
            <a:avLst>
              <a:gd name="adj" fmla="val 6897"/>
            </a:avLst>
          </a:prstGeom>
          <a:solidFill>
            <a:schemeClr val="bg1"/>
          </a:solidFill>
          <a:ln w="9525">
            <a:solidFill>
              <a:srgbClr val="E1E5F5"/>
            </a:solidFill>
            <a:prstDash val="solid"/>
          </a:ln>
        </p:spPr>
        <p:txBody>
          <a:bodyPr/>
          <a:lstStyle/>
          <a:p>
            <a:endParaRPr lang="en-US"/>
          </a:p>
        </p:txBody>
      </p:sp>
      <p:sp>
        <p:nvSpPr>
          <p:cNvPr id="30" name="badge-355"/>
          <p:cNvSpPr/>
          <p:nvPr/>
        </p:nvSpPr>
        <p:spPr>
          <a:xfrm>
            <a:off x="4773168" y="3694176"/>
            <a:ext cx="457200" cy="457200"/>
          </a:xfrm>
          <a:prstGeom prst="ellipse">
            <a:avLst/>
          </a:prstGeom>
          <a:solidFill>
            <a:schemeClr val="accent2"/>
          </a:solidFill>
          <a:ln/>
        </p:spPr>
        <p:txBody>
          <a:bodyPr/>
          <a:lstStyle/>
          <a:p>
            <a:endParaRPr lang="en-US"/>
          </a:p>
        </p:txBody>
      </p:sp>
      <p:pic>
        <p:nvPicPr>
          <p:cNvPr id="31" name="icon-356" descr="preencoded.png"/>
          <p:cNvPicPr>
            <a:picLocks noChangeAspect="1"/>
          </p:cNvPicPr>
          <p:nvPr/>
        </p:nvPicPr>
        <p:blipFill>
          <a:blip r:embed="rId8"/>
          <a:stretch>
            <a:fillRect/>
          </a:stretch>
        </p:blipFill>
        <p:spPr>
          <a:xfrm>
            <a:off x="4873752" y="3794760"/>
            <a:ext cx="256032" cy="256032"/>
          </a:xfrm>
          <a:prstGeom prst="rect">
            <a:avLst/>
          </a:prstGeom>
        </p:spPr>
      </p:pic>
      <p:sp>
        <p:nvSpPr>
          <p:cNvPr id="32" name="text-357"/>
          <p:cNvSpPr txBox="1"/>
          <p:nvPr/>
        </p:nvSpPr>
        <p:spPr>
          <a:xfrm>
            <a:off x="5358384" y="3639312"/>
            <a:ext cx="3191256" cy="256032"/>
          </a:xfrm>
          <a:prstGeom prst="rect">
            <a:avLst/>
          </a:prstGeom>
          <a:noFill/>
          <a:ln/>
        </p:spPr>
        <p:txBody>
          <a:bodyPr wrap="square" lIns="0" tIns="0" rIns="0" bIns="0" rtlCol="0" anchor="t"/>
          <a:lstStyle/>
          <a:p>
            <a:pPr marL="0" indent="0">
              <a:buNone/>
            </a:pPr>
            <a:r>
              <a:rPr lang="en-US" sz="1300" b="1" dirty="0">
                <a:solidFill>
                  <a:schemeClr val="tx2"/>
                </a:solidFill>
              </a:rPr>
              <a:t>Retry and schema validation</a:t>
            </a:r>
            <a:endParaRPr lang="en-US" sz="1300" dirty="0"/>
          </a:p>
        </p:txBody>
      </p:sp>
      <p:sp>
        <p:nvSpPr>
          <p:cNvPr id="33" name="text-358"/>
          <p:cNvSpPr txBox="1"/>
          <p:nvPr/>
        </p:nvSpPr>
        <p:spPr>
          <a:xfrm>
            <a:off x="5358384" y="3913632"/>
            <a:ext cx="3191256" cy="640080"/>
          </a:xfrm>
          <a:prstGeom prst="rect">
            <a:avLst/>
          </a:prstGeom>
          <a:noFill/>
          <a:ln/>
        </p:spPr>
        <p:txBody>
          <a:bodyPr wrap="square" lIns="0" tIns="0" rIns="0" bIns="0" rtlCol="0" anchor="t"/>
          <a:lstStyle/>
          <a:p>
            <a:pPr marL="0" indent="0">
              <a:buNone/>
            </a:pPr>
            <a:r>
              <a:rPr lang="en-US" sz="1050" dirty="0">
                <a:solidFill>
                  <a:schemeClr val="tx1"/>
                </a:solidFill>
              </a:rPr>
              <a:t>Each output is checked against JSON Schema; invalid output is retried with backoff up to three times.</a:t>
            </a:r>
            <a:endParaRPr lang="en-US" sz="1050" dirty="0"/>
          </a:p>
        </p:txBody>
      </p:sp>
      <p:sp>
        <p:nvSpPr>
          <p:cNvPr id="3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ARCHITECTURE DIAGRAM</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Four layers, one request path</a:t>
            </a:r>
            <a:endParaRPr lang="en-US" sz="2800" dirty="0"/>
          </a:p>
        </p:txBody>
      </p:sp>
      <p:sp>
        <p:nvSpPr>
          <p:cNvPr id="4" name="card-359"/>
          <p:cNvSpPr/>
          <p:nvPr/>
        </p:nvSpPr>
        <p:spPr>
          <a:xfrm>
            <a:off x="457200" y="1188720"/>
            <a:ext cx="5904628" cy="3602736"/>
          </a:xfrm>
          <a:prstGeom prst="roundRect">
            <a:avLst>
              <a:gd name="adj" fmla="val 2030"/>
            </a:avLst>
          </a:prstGeom>
          <a:solidFill>
            <a:schemeClr val="bg1"/>
          </a:solidFill>
          <a:ln w="9525">
            <a:solidFill>
              <a:srgbClr val="E1E5F5"/>
            </a:solidFill>
            <a:prstDash val="solid"/>
          </a:ln>
        </p:spPr>
        <p:txBody>
          <a:bodyPr/>
          <a:lstStyle/>
          <a:p>
            <a:endParaRPr lang="en-US"/>
          </a:p>
        </p:txBody>
      </p:sp>
      <p:pic>
        <p:nvPicPr>
          <p:cNvPr id="5" name="diagram-360" descr="/home/claude/work/assets/dc_arch.png"/>
          <p:cNvPicPr>
            <a:picLocks noChangeAspect="1"/>
          </p:cNvPicPr>
          <p:nvPr/>
        </p:nvPicPr>
        <p:blipFill>
          <a:blip r:embed="rId3"/>
          <a:stretch>
            <a:fillRect/>
          </a:stretch>
        </p:blipFill>
        <p:spPr>
          <a:xfrm>
            <a:off x="512064" y="1243584"/>
            <a:ext cx="5794900" cy="3493008"/>
          </a:xfrm>
          <a:prstGeom prst="rect">
            <a:avLst/>
          </a:prstGeom>
        </p:spPr>
      </p:pic>
      <p:sp>
        <p:nvSpPr>
          <p:cNvPr id="6" name="card-361"/>
          <p:cNvSpPr/>
          <p:nvPr/>
        </p:nvSpPr>
        <p:spPr>
          <a:xfrm>
            <a:off x="6590428" y="1188720"/>
            <a:ext cx="2096372" cy="3602736"/>
          </a:xfrm>
          <a:prstGeom prst="roundRect">
            <a:avLst>
              <a:gd name="adj" fmla="val 3489"/>
            </a:avLst>
          </a:prstGeom>
          <a:solidFill>
            <a:schemeClr val="tx2"/>
          </a:solidFill>
          <a:ln/>
        </p:spPr>
        <p:txBody>
          <a:bodyPr/>
          <a:lstStyle/>
          <a:p>
            <a:endParaRPr lang="en-US"/>
          </a:p>
        </p:txBody>
      </p:sp>
      <p:sp>
        <p:nvSpPr>
          <p:cNvPr id="7" name="text-362"/>
          <p:cNvSpPr txBox="1"/>
          <p:nvPr/>
        </p:nvSpPr>
        <p:spPr>
          <a:xfrm>
            <a:off x="6773308" y="1353312"/>
            <a:ext cx="1730612"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HOW TO READ IT</a:t>
            </a:r>
            <a:endParaRPr lang="en-US" sz="1050" dirty="0"/>
          </a:p>
        </p:txBody>
      </p:sp>
      <p:sp>
        <p:nvSpPr>
          <p:cNvPr id="8" name="text-363"/>
          <p:cNvSpPr txBox="1"/>
          <p:nvPr/>
        </p:nvSpPr>
        <p:spPr>
          <a:xfrm>
            <a:off x="6773308" y="1645920"/>
            <a:ext cx="1776332" cy="3035808"/>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Presentation: Next.js /office pages and one typed API client</a:t>
            </a:r>
            <a:endParaRPr lang="en-US" sz="1100" dirty="0"/>
          </a:p>
          <a:p>
            <a:pPr marL="152400" indent="-152400">
              <a:spcAft>
                <a:spcPts val="600"/>
              </a:spcAft>
              <a:buSzPct val="100000"/>
              <a:buChar char="•"/>
            </a:pPr>
            <a:r>
              <a:rPr lang="en-US" sz="1100" dirty="0">
                <a:solidFill>
                  <a:schemeClr val="bg1"/>
                </a:solidFill>
              </a:rPr>
              <a:t>API gateway: FastAPI middleware chain, then platform and orchestration routers</a:t>
            </a:r>
            <a:endParaRPr lang="en-US" sz="1100" dirty="0"/>
          </a:p>
          <a:p>
            <a:pPr marL="152400" indent="-152400">
              <a:spcAft>
                <a:spcPts val="600"/>
              </a:spcAft>
              <a:buSzPct val="100000"/>
              <a:buChar char="•"/>
            </a:pPr>
            <a:r>
              <a:rPr lang="en-US" sz="1100" dirty="0">
                <a:solidFill>
                  <a:schemeClr val="bg1"/>
                </a:solidFill>
              </a:rPr>
              <a:t>Application services: the orchestration core picks, plans and runs agents</a:t>
            </a:r>
            <a:endParaRPr lang="en-US" sz="1100" dirty="0"/>
          </a:p>
          <a:p>
            <a:pPr marL="152400" indent="-152400">
              <a:spcAft>
                <a:spcPts val="600"/>
              </a:spcAft>
              <a:buSzPct val="100000"/>
              <a:buChar char="•"/>
            </a:pPr>
            <a:r>
              <a:rPr lang="en-US" sz="1100" dirty="0">
                <a:solidFill>
                  <a:schemeClr val="bg1"/>
                </a:solidFill>
              </a:rPr>
              <a:t>Persistence: PostgreSQL 17 as the source of truth, Redis 8 for counters and locks</a:t>
            </a:r>
            <a:endParaRPr lang="en-US" sz="1100" dirty="0"/>
          </a:p>
          <a:p>
            <a:pPr marL="152400" indent="-152400">
              <a:spcAft>
                <a:spcPts val="600"/>
              </a:spcAft>
              <a:buSzPct val="100000"/>
              <a:buChar char="•"/>
            </a:pPr>
            <a:r>
              <a:rPr lang="en-US" sz="1100" dirty="0">
                <a:solidFill>
                  <a:schemeClr val="bg1"/>
                </a:solidFill>
              </a:rPr>
              <a:t>External: LLM providers, Google Identity, Prometheus + Grafana</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CONTEXT DIAGRAM</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Agent Mesh and the world around it</a:t>
            </a:r>
            <a:endParaRPr lang="en-US" sz="2800" dirty="0"/>
          </a:p>
        </p:txBody>
      </p:sp>
      <p:sp>
        <p:nvSpPr>
          <p:cNvPr id="4" name="card-364"/>
          <p:cNvSpPr/>
          <p:nvPr/>
        </p:nvSpPr>
        <p:spPr>
          <a:xfrm>
            <a:off x="1008409" y="1188720"/>
            <a:ext cx="7127181" cy="3602736"/>
          </a:xfrm>
          <a:prstGeom prst="roundRect">
            <a:avLst>
              <a:gd name="adj" fmla="val 2030"/>
            </a:avLst>
          </a:prstGeom>
          <a:solidFill>
            <a:schemeClr val="bg1"/>
          </a:solidFill>
          <a:ln w="9525">
            <a:solidFill>
              <a:srgbClr val="E1E5F5"/>
            </a:solidFill>
            <a:prstDash val="solid"/>
          </a:ln>
        </p:spPr>
        <p:txBody>
          <a:bodyPr/>
          <a:lstStyle/>
          <a:p>
            <a:endParaRPr lang="en-US"/>
          </a:p>
        </p:txBody>
      </p:sp>
      <p:pic>
        <p:nvPicPr>
          <p:cNvPr id="5" name="diagram-365" descr="/home/claude/work/assets/dc_context.png"/>
          <p:cNvPicPr>
            <a:picLocks noChangeAspect="1"/>
          </p:cNvPicPr>
          <p:nvPr/>
        </p:nvPicPr>
        <p:blipFill>
          <a:blip r:embed="rId3"/>
          <a:stretch>
            <a:fillRect/>
          </a:stretch>
        </p:blipFill>
        <p:spPr>
          <a:xfrm>
            <a:off x="1063273" y="1243584"/>
            <a:ext cx="7017453" cy="3493008"/>
          </a:xfrm>
          <a:prstGeom prst="rect">
            <a:avLst/>
          </a:prstGeom>
        </p:spPr>
      </p:pic>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ER DIAGRAM  ·  POSTGRESQL 17</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The database behind the agents</a:t>
            </a:r>
            <a:endParaRPr lang="en-US" sz="2800" dirty="0"/>
          </a:p>
        </p:txBody>
      </p:sp>
      <p:sp>
        <p:nvSpPr>
          <p:cNvPr id="4" name="card-366"/>
          <p:cNvSpPr/>
          <p:nvPr/>
        </p:nvSpPr>
        <p:spPr>
          <a:xfrm>
            <a:off x="1350724" y="1188720"/>
            <a:ext cx="6442552" cy="3602736"/>
          </a:xfrm>
          <a:prstGeom prst="roundRect">
            <a:avLst>
              <a:gd name="adj" fmla="val 2030"/>
            </a:avLst>
          </a:prstGeom>
          <a:solidFill>
            <a:schemeClr val="bg1"/>
          </a:solidFill>
          <a:ln w="9525">
            <a:solidFill>
              <a:srgbClr val="E1E5F5"/>
            </a:solidFill>
            <a:prstDash val="solid"/>
          </a:ln>
        </p:spPr>
        <p:txBody>
          <a:bodyPr/>
          <a:lstStyle/>
          <a:p>
            <a:endParaRPr lang="en-US"/>
          </a:p>
        </p:txBody>
      </p:sp>
      <p:pic>
        <p:nvPicPr>
          <p:cNvPr id="5" name="diagram-367" descr="/home/claude/work/assets/dc_er.png"/>
          <p:cNvPicPr>
            <a:picLocks noChangeAspect="1"/>
          </p:cNvPicPr>
          <p:nvPr/>
        </p:nvPicPr>
        <p:blipFill>
          <a:blip r:embed="rId3"/>
          <a:stretch>
            <a:fillRect/>
          </a:stretch>
        </p:blipFill>
        <p:spPr>
          <a:xfrm>
            <a:off x="1405588" y="1243584"/>
            <a:ext cx="6332824" cy="3493008"/>
          </a:xfrm>
          <a:prstGeom prst="rect">
            <a:avLst/>
          </a:prstGeom>
        </p:spPr>
      </p:pic>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SEQUENCE DIAGRAM</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Sign in, submit a brief, run it</a:t>
            </a:r>
            <a:endParaRPr lang="en-US" sz="2800" dirty="0"/>
          </a:p>
        </p:txBody>
      </p:sp>
      <p:sp>
        <p:nvSpPr>
          <p:cNvPr id="4" name="card-368"/>
          <p:cNvSpPr/>
          <p:nvPr/>
        </p:nvSpPr>
        <p:spPr>
          <a:xfrm>
            <a:off x="457200" y="1188720"/>
            <a:ext cx="3511918" cy="3602736"/>
          </a:xfrm>
          <a:prstGeom prst="roundRect">
            <a:avLst>
              <a:gd name="adj" fmla="val 2083"/>
            </a:avLst>
          </a:prstGeom>
          <a:solidFill>
            <a:schemeClr val="bg1"/>
          </a:solidFill>
          <a:ln w="9525">
            <a:solidFill>
              <a:srgbClr val="E1E5F5"/>
            </a:solidFill>
            <a:prstDash val="solid"/>
          </a:ln>
        </p:spPr>
        <p:txBody>
          <a:bodyPr/>
          <a:lstStyle/>
          <a:p>
            <a:endParaRPr lang="en-US"/>
          </a:p>
        </p:txBody>
      </p:sp>
      <p:pic>
        <p:nvPicPr>
          <p:cNvPr id="5" name="diagram-369" descr="/home/claude/work/assets/dc_seq.png"/>
          <p:cNvPicPr>
            <a:picLocks noChangeAspect="1"/>
          </p:cNvPicPr>
          <p:nvPr/>
        </p:nvPicPr>
        <p:blipFill>
          <a:blip r:embed="rId3"/>
          <a:stretch>
            <a:fillRect/>
          </a:stretch>
        </p:blipFill>
        <p:spPr>
          <a:xfrm>
            <a:off x="512064" y="1243584"/>
            <a:ext cx="3402190" cy="3493008"/>
          </a:xfrm>
          <a:prstGeom prst="rect">
            <a:avLst/>
          </a:prstGeom>
        </p:spPr>
      </p:pic>
      <p:sp>
        <p:nvSpPr>
          <p:cNvPr id="6" name="card-370"/>
          <p:cNvSpPr/>
          <p:nvPr/>
        </p:nvSpPr>
        <p:spPr>
          <a:xfrm>
            <a:off x="4197718" y="1188720"/>
            <a:ext cx="4489082" cy="3602736"/>
          </a:xfrm>
          <a:prstGeom prst="roundRect">
            <a:avLst>
              <a:gd name="adj" fmla="val 2030"/>
            </a:avLst>
          </a:prstGeom>
          <a:solidFill>
            <a:schemeClr val="tx2"/>
          </a:solidFill>
          <a:ln/>
        </p:spPr>
        <p:txBody>
          <a:bodyPr/>
          <a:lstStyle/>
          <a:p>
            <a:endParaRPr lang="en-US"/>
          </a:p>
        </p:txBody>
      </p:sp>
      <p:sp>
        <p:nvSpPr>
          <p:cNvPr id="7" name="text-371"/>
          <p:cNvSpPr txBox="1"/>
          <p:nvPr/>
        </p:nvSpPr>
        <p:spPr>
          <a:xfrm>
            <a:off x="4380598" y="1353312"/>
            <a:ext cx="4123322"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HOW TO READ IT</a:t>
            </a:r>
            <a:endParaRPr lang="en-US" sz="1050" dirty="0"/>
          </a:p>
        </p:txBody>
      </p:sp>
      <p:sp>
        <p:nvSpPr>
          <p:cNvPr id="8" name="text-372"/>
          <p:cNvSpPr txBox="1"/>
          <p:nvPr/>
        </p:nvSpPr>
        <p:spPr>
          <a:xfrm>
            <a:off x="4380598" y="1645920"/>
            <a:ext cx="4169042" cy="3035808"/>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1  Sign in: Google ID token is verified and a session JWT is issued</a:t>
            </a:r>
            <a:endParaRPr lang="en-US" sz="1100" dirty="0"/>
          </a:p>
          <a:p>
            <a:pPr marL="152400" indent="-152400">
              <a:spcAft>
                <a:spcPts val="600"/>
              </a:spcAft>
              <a:buSzPct val="100000"/>
              <a:buChar char="•"/>
            </a:pPr>
            <a:r>
              <a:rPr lang="en-US" sz="1100" dirty="0">
                <a:solidFill>
                  <a:schemeClr val="bg1"/>
                </a:solidFill>
              </a:rPr>
              <a:t>2  Submit a brief: vague briefs get a clarifying question, missing capabilities get a 422, otherwise the plan is saved</a:t>
            </a:r>
            <a:endParaRPr lang="en-US" sz="1100" dirty="0"/>
          </a:p>
          <a:p>
            <a:pPr marL="152400" indent="-152400">
              <a:spcAft>
                <a:spcPts val="600"/>
              </a:spcAft>
              <a:buSzPct val="100000"/>
              <a:buChar char="•"/>
            </a:pPr>
            <a:r>
              <a:rPr lang="en-US" sz="1100" dirty="0">
                <a:solidFill>
                  <a:schemeClr val="bg1"/>
                </a:solidFill>
              </a:rPr>
              <a:t>3  Execute: ready nodes run in parallel; output is validated, retried, or the step fails with a reason</a:t>
            </a:r>
            <a:endParaRPr lang="en-US" sz="1100" dirty="0"/>
          </a:p>
          <a:p>
            <a:pPr marL="152400" indent="-152400">
              <a:spcAft>
                <a:spcPts val="600"/>
              </a:spcAft>
              <a:buSzPct val="100000"/>
              <a:buChar char="•"/>
            </a:pPr>
            <a:r>
              <a:rPr lang="en-US" sz="1100" dirty="0">
                <a:solidFill>
                  <a:schemeClr val="bg1"/>
                </a:solidFill>
              </a:rPr>
              <a:t>4  Watch progress: the UI polls the workflow until it finishes</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STATE DIAGRAM</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Every brief and node has a state</a:t>
            </a:r>
            <a:endParaRPr lang="en-US" sz="2800" dirty="0"/>
          </a:p>
        </p:txBody>
      </p:sp>
      <p:sp>
        <p:nvSpPr>
          <p:cNvPr id="4" name="card-373"/>
          <p:cNvSpPr/>
          <p:nvPr/>
        </p:nvSpPr>
        <p:spPr>
          <a:xfrm>
            <a:off x="457200" y="1188720"/>
            <a:ext cx="4290859" cy="3602736"/>
          </a:xfrm>
          <a:prstGeom prst="roundRect">
            <a:avLst>
              <a:gd name="adj" fmla="val 2030"/>
            </a:avLst>
          </a:prstGeom>
          <a:solidFill>
            <a:schemeClr val="bg1"/>
          </a:solidFill>
          <a:ln w="9525">
            <a:solidFill>
              <a:srgbClr val="E1E5F5"/>
            </a:solidFill>
            <a:prstDash val="solid"/>
          </a:ln>
        </p:spPr>
        <p:txBody>
          <a:bodyPr/>
          <a:lstStyle/>
          <a:p>
            <a:endParaRPr lang="en-US"/>
          </a:p>
        </p:txBody>
      </p:sp>
      <p:pic>
        <p:nvPicPr>
          <p:cNvPr id="5" name="diagram-374" descr="/home/claude/work/assets/dc_state.png"/>
          <p:cNvPicPr>
            <a:picLocks noChangeAspect="1"/>
          </p:cNvPicPr>
          <p:nvPr/>
        </p:nvPicPr>
        <p:blipFill>
          <a:blip r:embed="rId3"/>
          <a:stretch>
            <a:fillRect/>
          </a:stretch>
        </p:blipFill>
        <p:spPr>
          <a:xfrm>
            <a:off x="512064" y="1243584"/>
            <a:ext cx="4181131" cy="3493008"/>
          </a:xfrm>
          <a:prstGeom prst="rect">
            <a:avLst/>
          </a:prstGeom>
        </p:spPr>
      </p:pic>
      <p:sp>
        <p:nvSpPr>
          <p:cNvPr id="6" name="card-375"/>
          <p:cNvSpPr/>
          <p:nvPr/>
        </p:nvSpPr>
        <p:spPr>
          <a:xfrm>
            <a:off x="4976659" y="1188720"/>
            <a:ext cx="3710141" cy="3602736"/>
          </a:xfrm>
          <a:prstGeom prst="roundRect">
            <a:avLst>
              <a:gd name="adj" fmla="val 2030"/>
            </a:avLst>
          </a:prstGeom>
          <a:solidFill>
            <a:schemeClr val="tx2"/>
          </a:solidFill>
          <a:ln/>
        </p:spPr>
        <p:txBody>
          <a:bodyPr/>
          <a:lstStyle/>
          <a:p>
            <a:endParaRPr lang="en-US"/>
          </a:p>
        </p:txBody>
      </p:sp>
      <p:sp>
        <p:nvSpPr>
          <p:cNvPr id="7" name="text-376"/>
          <p:cNvSpPr txBox="1"/>
          <p:nvPr/>
        </p:nvSpPr>
        <p:spPr>
          <a:xfrm>
            <a:off x="5159539" y="1353312"/>
            <a:ext cx="3344381"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HOW TO READ IT</a:t>
            </a:r>
            <a:endParaRPr lang="en-US" sz="1050" dirty="0"/>
          </a:p>
        </p:txBody>
      </p:sp>
      <p:sp>
        <p:nvSpPr>
          <p:cNvPr id="8" name="text-377"/>
          <p:cNvSpPr txBox="1"/>
          <p:nvPr/>
        </p:nvSpPr>
        <p:spPr>
          <a:xfrm>
            <a:off x="5159539" y="1645920"/>
            <a:ext cx="3390101" cy="3035808"/>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Before a run: a brief is planned, sent back for clarification, or rejected with the missing capability</a:t>
            </a:r>
            <a:endParaRPr lang="en-US" sz="1100" dirty="0"/>
          </a:p>
          <a:p>
            <a:pPr marL="152400" indent="-152400">
              <a:spcAft>
                <a:spcPts val="600"/>
              </a:spcAft>
              <a:buSzPct val="100000"/>
              <a:buChar char="•"/>
            </a:pPr>
            <a:r>
              <a:rPr lang="en-US" sz="1100" dirty="0">
                <a:solidFill>
                  <a:schemeClr val="bg1"/>
                </a:solidFill>
              </a:rPr>
              <a:t>While running: each node moves waiting → ready → running, or pauses for approval or is skipped</a:t>
            </a:r>
            <a:endParaRPr lang="en-US" sz="1100" dirty="0"/>
          </a:p>
          <a:p>
            <a:pPr marL="152400" indent="-152400">
              <a:spcAft>
                <a:spcPts val="600"/>
              </a:spcAft>
              <a:buSzPct val="100000"/>
              <a:buChar char="•"/>
            </a:pPr>
            <a:r>
              <a:rPr lang="en-US" sz="1100" dirty="0">
                <a:solidFill>
                  <a:schemeClr val="bg1"/>
                </a:solidFill>
              </a:rPr>
              <a:t>A node ends completed (valid output) or failed (retries used up)</a:t>
            </a:r>
            <a:endParaRPr lang="en-US" sz="1100" dirty="0"/>
          </a:p>
          <a:p>
            <a:pPr marL="152400" indent="-152400">
              <a:spcAft>
                <a:spcPts val="600"/>
              </a:spcAft>
              <a:buSzPct val="100000"/>
              <a:buChar char="•"/>
            </a:pPr>
            <a:r>
              <a:rPr lang="en-US" sz="1100" dirty="0">
                <a:solidFill>
                  <a:schemeClr val="bg1"/>
                </a:solidFill>
              </a:rPr>
              <a:t>The workflow ends completed, failed, cancelled, or awaiting approval; a follow-up starts a new linked workflow</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CLASS DIAGRAM  ·  BACKEND/APP</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How the backend classes fit together</a:t>
            </a:r>
            <a:endParaRPr lang="en-US" sz="2800" dirty="0"/>
          </a:p>
        </p:txBody>
      </p:sp>
      <p:sp>
        <p:nvSpPr>
          <p:cNvPr id="4" name="card-378"/>
          <p:cNvSpPr/>
          <p:nvPr/>
        </p:nvSpPr>
        <p:spPr>
          <a:xfrm>
            <a:off x="457200" y="1188720"/>
            <a:ext cx="5349240" cy="3602736"/>
          </a:xfrm>
          <a:prstGeom prst="roundRect">
            <a:avLst>
              <a:gd name="adj" fmla="val 2030"/>
            </a:avLst>
          </a:prstGeom>
          <a:solidFill>
            <a:schemeClr val="bg1"/>
          </a:solidFill>
          <a:ln w="9525">
            <a:solidFill>
              <a:srgbClr val="E1E5F5"/>
            </a:solidFill>
            <a:prstDash val="solid"/>
          </a:ln>
        </p:spPr>
        <p:txBody>
          <a:bodyPr/>
          <a:lstStyle/>
          <a:p>
            <a:endParaRPr lang="en-US"/>
          </a:p>
        </p:txBody>
      </p:sp>
      <p:pic>
        <p:nvPicPr>
          <p:cNvPr id="5" name="diagram-379" descr="/home/claude/work/assets/dc_class.png"/>
          <p:cNvPicPr>
            <a:picLocks noChangeAspect="1"/>
          </p:cNvPicPr>
          <p:nvPr/>
        </p:nvPicPr>
        <p:blipFill>
          <a:blip r:embed="rId3"/>
          <a:stretch>
            <a:fillRect/>
          </a:stretch>
        </p:blipFill>
        <p:spPr>
          <a:xfrm>
            <a:off x="512064" y="1243584"/>
            <a:ext cx="5239512" cy="3493008"/>
          </a:xfrm>
          <a:prstGeom prst="rect">
            <a:avLst/>
          </a:prstGeom>
        </p:spPr>
      </p:pic>
      <p:sp>
        <p:nvSpPr>
          <p:cNvPr id="6" name="card-380"/>
          <p:cNvSpPr/>
          <p:nvPr/>
        </p:nvSpPr>
        <p:spPr>
          <a:xfrm>
            <a:off x="6035040" y="1188720"/>
            <a:ext cx="2651760" cy="3602736"/>
          </a:xfrm>
          <a:prstGeom prst="roundRect">
            <a:avLst>
              <a:gd name="adj" fmla="val 2759"/>
            </a:avLst>
          </a:prstGeom>
          <a:solidFill>
            <a:schemeClr val="tx2"/>
          </a:solidFill>
          <a:ln/>
        </p:spPr>
        <p:txBody>
          <a:bodyPr/>
          <a:lstStyle/>
          <a:p>
            <a:endParaRPr lang="en-US"/>
          </a:p>
        </p:txBody>
      </p:sp>
      <p:sp>
        <p:nvSpPr>
          <p:cNvPr id="7" name="text-381"/>
          <p:cNvSpPr txBox="1"/>
          <p:nvPr/>
        </p:nvSpPr>
        <p:spPr>
          <a:xfrm>
            <a:off x="6217920" y="1353312"/>
            <a:ext cx="228600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HOW TO READ IT</a:t>
            </a:r>
            <a:endParaRPr lang="en-US" sz="1050" dirty="0"/>
          </a:p>
        </p:txBody>
      </p:sp>
      <p:sp>
        <p:nvSpPr>
          <p:cNvPr id="8" name="text-382"/>
          <p:cNvSpPr txBox="1"/>
          <p:nvPr/>
        </p:nvSpPr>
        <p:spPr>
          <a:xfrm>
            <a:off x="6217920" y="1645920"/>
            <a:ext cx="2331720" cy="3035808"/>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OrchestrationService wires the analyser, selector, planner and engine</a:t>
            </a:r>
            <a:endParaRPr lang="en-US" sz="1100" dirty="0"/>
          </a:p>
          <a:p>
            <a:pPr marL="152400" indent="-152400">
              <a:spcAft>
                <a:spcPts val="600"/>
              </a:spcAft>
              <a:buSzPct val="100000"/>
              <a:buChar char="•"/>
            </a:pPr>
            <a:r>
              <a:rPr lang="en-US" sz="1100" dirty="0">
                <a:solidFill>
                  <a:schemeClr val="bg1"/>
                </a:solidFill>
              </a:rPr>
              <a:t>WorkflowEngine runs ready nodes through AgentExecutor</a:t>
            </a:r>
            <a:endParaRPr lang="en-US" sz="1100" dirty="0"/>
          </a:p>
          <a:p>
            <a:pPr marL="152400" indent="-152400">
              <a:spcAft>
                <a:spcPts val="600"/>
              </a:spcAft>
              <a:buSzPct val="100000"/>
              <a:buChar char="•"/>
            </a:pPr>
            <a:r>
              <a:rPr lang="en-US" sz="1100" dirty="0">
                <a:solidFill>
                  <a:schemeClr val="bg1"/>
                </a:solidFill>
              </a:rPr>
              <a:t>AgentRegistry is an interface; DatabaseAgentRegistry is the app implementation</a:t>
            </a:r>
            <a:endParaRPr lang="en-US" sz="1100" dirty="0"/>
          </a:p>
          <a:p>
            <a:pPr marL="152400" indent="-152400">
              <a:spcAft>
                <a:spcPts val="600"/>
              </a:spcAft>
              <a:buSzPct val="100000"/>
              <a:buChar char="•"/>
            </a:pPr>
            <a:r>
              <a:rPr lang="en-US" sz="1100" dirty="0">
                <a:solidFill>
                  <a:schemeClr val="bg1"/>
                </a:solidFill>
              </a:rPr>
              <a:t>LLMProvider is abstract: OpenAI-compatible, Anthropic and Fake providers plug in</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1 BACKLOG</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Five user stories committed, 42 points</a:t>
            </a:r>
            <a:endParaRPr lang="en-US" sz="2800" dirty="0"/>
          </a:p>
        </p:txBody>
      </p:sp>
      <p:graphicFrame>
        <p:nvGraphicFramePr>
          <p:cNvPr id="18" name="sprint-backlog-383"/>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383280"/>
        </p:xfrm>
        <a:graphic>
          <a:graphicData uri="http://schemas.openxmlformats.org/drawingml/2006/table">
            <a:tbl>
              <a:tblPr/>
              <a:tblGrid>
                <a:gridCol w="658368">
                  <a:extLst>
                    <a:ext uri="{9D8B030D-6E8A-4147-A177-3AD203B41FA5}">
                      <a16:colId xmlns:a16="http://schemas.microsoft.com/office/drawing/2014/main" val="20000"/>
                    </a:ext>
                  </a:extLst>
                </a:gridCol>
                <a:gridCol w="1353312">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310896">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User story</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Pts</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Criteria</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100" b="1" dirty="0">
                          <a:solidFill>
                            <a:schemeClr val="accent1"/>
                          </a:solidFill>
                          <a:latin typeface="Calibri" pitchFamily="34" charset="0"/>
                          <a:ea typeface="Calibri" pitchFamily="34" charset="-122"/>
                          <a:cs typeface="Calibri" pitchFamily="34" charset="-120"/>
                        </a:rPr>
                        <a:t>US_01</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Agent Enrollment</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Platform engineer: enroll a new agent through one workflow so the orchestrator can use it without code changes</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dirty="0">
                          <a:solidFill>
                            <a:schemeClr val="tx1"/>
                          </a:solidFill>
                          <a:latin typeface="Calibri" pitchFamily="34" charset="0"/>
                          <a:ea typeface="Calibri" pitchFamily="34" charset="-122"/>
                          <a:cs typeface="Calibri" pitchFamily="34" charset="-120"/>
                        </a:rPr>
                        <a:t>5 / 5</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48640">
                <a:tc>
                  <a:txBody>
                    <a:bodyPr/>
                    <a:lstStyle/>
                    <a:p>
                      <a:pPr marL="0" indent="0">
                        <a:buNone/>
                      </a:pPr>
                      <a:r>
                        <a:rPr lang="en-US" sz="1100" b="1" dirty="0">
                          <a:solidFill>
                            <a:schemeClr val="accent1"/>
                          </a:solidFill>
                          <a:latin typeface="Calibri" pitchFamily="34" charset="0"/>
                          <a:ea typeface="Calibri" pitchFamily="34" charset="-122"/>
                          <a:cs typeface="Calibri" pitchFamily="34" charset="-120"/>
                        </a:rPr>
                        <a:t>US_02</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Agent Spawning</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User: the system reads my brief and spawns the right agents, more than one when needed</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tx2"/>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latin typeface="Calibri" pitchFamily="34" charset="0"/>
                          <a:ea typeface="Calibri" pitchFamily="34" charset="-122"/>
                          <a:cs typeface="Calibri" pitchFamily="34" charset="-120"/>
                        </a:rPr>
                        <a:t>5 / 5</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48640">
                <a:tc>
                  <a:txBody>
                    <a:bodyPr/>
                    <a:lstStyle/>
                    <a:p>
                      <a:pPr marL="0" indent="0">
                        <a:buNone/>
                      </a:pPr>
                      <a:r>
                        <a:rPr lang="en-US" sz="1100" b="1" dirty="0">
                          <a:solidFill>
                            <a:schemeClr val="accent1"/>
                          </a:solidFill>
                          <a:latin typeface="Calibri" pitchFamily="34" charset="0"/>
                          <a:ea typeface="Calibri" pitchFamily="34" charset="-122"/>
                          <a:cs typeface="Calibri" pitchFamily="34" charset="-120"/>
                        </a:rPr>
                        <a:t>US_03</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Dynamic Table Creation</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Data analyst: a table is created automatically from each agent's output schema</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dirty="0">
                          <a:solidFill>
                            <a:schemeClr val="tx1"/>
                          </a:solidFill>
                          <a:latin typeface="Calibri" pitchFamily="34" charset="0"/>
                          <a:ea typeface="Calibri" pitchFamily="34" charset="-122"/>
                          <a:cs typeface="Calibri" pitchFamily="34" charset="-120"/>
                        </a:rPr>
                        <a:t>4 / 4</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48640">
                <a:tc>
                  <a:txBody>
                    <a:bodyPr/>
                    <a:lstStyle/>
                    <a:p>
                      <a:pPr marL="0" indent="0">
                        <a:buNone/>
                      </a:pPr>
                      <a:r>
                        <a:rPr lang="en-US" sz="1100" b="1" dirty="0">
                          <a:solidFill>
                            <a:schemeClr val="accent1"/>
                          </a:solidFill>
                          <a:latin typeface="Calibri" pitchFamily="34" charset="0"/>
                          <a:ea typeface="Calibri" pitchFamily="34" charset="-122"/>
                          <a:cs typeface="Calibri" pitchFamily="34" charset="-120"/>
                        </a:rPr>
                        <a:t>US_04</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Schema Validation</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User: schemas and outputs are validated so bad data never reaches storage or the next step</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tx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latin typeface="Calibri" pitchFamily="34" charset="0"/>
                          <a:ea typeface="Calibri" pitchFamily="34" charset="-122"/>
                          <a:cs typeface="Calibri" pitchFamily="34" charset="-120"/>
                        </a:rPr>
                        <a:t>4 / 4</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548640">
                <a:tc>
                  <a:txBody>
                    <a:bodyPr/>
                    <a:lstStyle/>
                    <a:p>
                      <a:pPr marL="0" indent="0">
                        <a:buNone/>
                      </a:pPr>
                      <a:r>
                        <a:rPr lang="en-US" sz="1100" b="1" dirty="0">
                          <a:solidFill>
                            <a:schemeClr val="accent1"/>
                          </a:solidFill>
                          <a:latin typeface="Calibri" pitchFamily="34" charset="0"/>
                          <a:ea typeface="Calibri" pitchFamily="34" charset="-122"/>
                          <a:cs typeface="Calibri" pitchFamily="34" charset="-120"/>
                        </a:rPr>
                        <a:t>US_05</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Frontend</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User: one workspace to submit a brief, see enrolled agents and watch spawned agents</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100" dirty="0">
                          <a:solidFill>
                            <a:schemeClr val="tx1"/>
                          </a:solidFill>
                          <a:latin typeface="Calibri" pitchFamily="34" charset="0"/>
                          <a:ea typeface="Calibri" pitchFamily="34" charset="-122"/>
                          <a:cs typeface="Calibri" pitchFamily="34" charset="-120"/>
                        </a:rPr>
                        <a:t>4 / 4</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29184">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5 stories committed, 5 completed</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22 / 22</a:t>
                      </a: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buNone/>
                      </a:pPr>
                      <a:endParaRPr lang="en-US" sz="1100" dirty="0">
                        <a:latin typeface="Calibri" charset="0"/>
                        <a:ea typeface="Calibri" charset="0"/>
                        <a:cs typeface="Calibri" charset="0"/>
                      </a:endParaRPr>
                    </a:p>
                  </a:txBody>
                  <a:tcPr marL="73152" marR="73152" marT="36576" marB="36576"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US_01  ·  AGENT ENROLLMENT  ·  8 PTS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Enroll agents, not code</a:t>
            </a:r>
            <a:endParaRPr lang="en-US" sz="2800" dirty="0"/>
          </a:p>
        </p:txBody>
      </p:sp>
      <p:sp>
        <p:nvSpPr>
          <p:cNvPr id="4" name="card-384"/>
          <p:cNvSpPr/>
          <p:nvPr/>
        </p:nvSpPr>
        <p:spPr>
          <a:xfrm>
            <a:off x="457200" y="1234440"/>
            <a:ext cx="5120640" cy="713232"/>
          </a:xfrm>
          <a:prstGeom prst="roundRect">
            <a:avLst>
              <a:gd name="adj" fmla="val 10256"/>
            </a:avLst>
          </a:prstGeom>
          <a:solidFill>
            <a:schemeClr val="bg1"/>
          </a:solidFill>
          <a:ln w="9525">
            <a:solidFill>
              <a:srgbClr val="E1E5F5"/>
            </a:solidFill>
            <a:prstDash val="solid"/>
          </a:ln>
        </p:spPr>
        <p:txBody>
          <a:bodyPr/>
          <a:lstStyle/>
          <a:p>
            <a:endParaRPr lang="en-US"/>
          </a:p>
        </p:txBody>
      </p:sp>
      <p:pic>
        <p:nvPicPr>
          <p:cNvPr id="5" name="quote-385" descr="preencoded.png"/>
          <p:cNvPicPr>
            <a:picLocks noChangeAspect="1"/>
          </p:cNvPicPr>
          <p:nvPr/>
        </p:nvPicPr>
        <p:blipFill>
          <a:blip r:embed="rId3"/>
          <a:stretch>
            <a:fillRect/>
          </a:stretch>
        </p:blipFill>
        <p:spPr>
          <a:xfrm>
            <a:off x="603504" y="1371600"/>
            <a:ext cx="274320" cy="274320"/>
          </a:xfrm>
          <a:prstGeom prst="rect">
            <a:avLst/>
          </a:prstGeom>
        </p:spPr>
      </p:pic>
      <p:sp>
        <p:nvSpPr>
          <p:cNvPr id="6" name="text-386"/>
          <p:cNvSpPr txBox="1"/>
          <p:nvPr/>
        </p:nvSpPr>
        <p:spPr>
          <a:xfrm>
            <a:off x="1005840" y="1307592"/>
            <a:ext cx="4434840" cy="585216"/>
          </a:xfrm>
          <a:prstGeom prst="rect">
            <a:avLst/>
          </a:prstGeom>
          <a:noFill/>
          <a:ln/>
        </p:spPr>
        <p:txBody>
          <a:bodyPr wrap="square" lIns="0" tIns="0" rIns="0" bIns="0" rtlCol="0" anchor="ctr"/>
          <a:lstStyle/>
          <a:p>
            <a:pPr marL="0" indent="0">
              <a:buNone/>
            </a:pPr>
            <a:r>
              <a:rPr lang="en-US" sz="1200" i="1" dirty="0">
                <a:solidFill>
                  <a:schemeClr val="tx1"/>
                </a:solidFill>
              </a:rPr>
              <a:t>As a platform engineer, I want to enroll a new agent through one defined workflow so the orchestrator can discover and use it without code changes.</a:t>
            </a:r>
            <a:endParaRPr lang="en-US" sz="1200" dirty="0"/>
          </a:p>
        </p:txBody>
      </p:sp>
      <p:sp>
        <p:nvSpPr>
          <p:cNvPr id="7" name="text-387"/>
          <p:cNvSpPr txBox="1"/>
          <p:nvPr/>
        </p:nvSpPr>
        <p:spPr>
          <a:xfrm>
            <a:off x="457200" y="2103120"/>
            <a:ext cx="27432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ACCEPTANCE CRITERIA</a:t>
            </a:r>
            <a:endParaRPr lang="en-US" sz="1050" dirty="0"/>
          </a:p>
        </p:txBody>
      </p:sp>
      <p:sp>
        <p:nvSpPr>
          <p:cNvPr id="8" name="pill-388"/>
          <p:cNvSpPr/>
          <p:nvPr/>
        </p:nvSpPr>
        <p:spPr>
          <a:xfrm>
            <a:off x="4434840" y="2075688"/>
            <a:ext cx="1143000" cy="256032"/>
          </a:xfrm>
          <a:prstGeom prst="roundRect">
            <a:avLst>
              <a:gd name="adj" fmla="val 50000"/>
            </a:avLst>
          </a:prstGeom>
          <a:solidFill>
            <a:schemeClr val="accent1"/>
          </a:solidFill>
          <a:ln/>
        </p:spPr>
        <p:txBody>
          <a:bodyPr/>
          <a:lstStyle/>
          <a:p>
            <a:endParaRPr lang="en-US"/>
          </a:p>
        </p:txBody>
      </p:sp>
      <p:sp>
        <p:nvSpPr>
          <p:cNvPr id="9" name="text-389"/>
          <p:cNvSpPr txBox="1"/>
          <p:nvPr/>
        </p:nvSpPr>
        <p:spPr>
          <a:xfrm>
            <a:off x="4434840" y="2075688"/>
            <a:ext cx="1143000"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ACCEPTED</a:t>
            </a:r>
            <a:endParaRPr lang="en-US" sz="1000" dirty="0"/>
          </a:p>
        </p:txBody>
      </p:sp>
      <p:pic>
        <p:nvPicPr>
          <p:cNvPr id="10" name="crit-icon-390" descr="preencoded.png"/>
          <p:cNvPicPr>
            <a:picLocks noChangeAspect="1"/>
          </p:cNvPicPr>
          <p:nvPr/>
        </p:nvPicPr>
        <p:blipFill>
          <a:blip r:embed="rId4"/>
          <a:stretch>
            <a:fillRect/>
          </a:stretch>
        </p:blipFill>
        <p:spPr>
          <a:xfrm>
            <a:off x="457200" y="2487168"/>
            <a:ext cx="201168" cy="201168"/>
          </a:xfrm>
          <a:prstGeom prst="rect">
            <a:avLst/>
          </a:prstGeom>
        </p:spPr>
      </p:pic>
      <p:sp>
        <p:nvSpPr>
          <p:cNvPr id="11" name="text-391"/>
          <p:cNvSpPr txBox="1"/>
          <p:nvPr/>
        </p:nvSpPr>
        <p:spPr>
          <a:xfrm>
            <a:off x="768096" y="2450592"/>
            <a:ext cx="4809744" cy="411480"/>
          </a:xfrm>
          <a:prstGeom prst="rect">
            <a:avLst/>
          </a:prstGeom>
          <a:noFill/>
          <a:ln/>
        </p:spPr>
        <p:txBody>
          <a:bodyPr wrap="square" lIns="0" tIns="0" rIns="0" bIns="0" rtlCol="0" anchor="t"/>
          <a:lstStyle/>
          <a:p>
            <a:pPr marL="0" indent="0">
              <a:buNone/>
            </a:pPr>
            <a:r>
              <a:rPr lang="en-US" sz="1200" dirty="0">
                <a:solidFill>
                  <a:schemeClr val="tx1"/>
                </a:solidFill>
              </a:rPr>
              <a:t>Agent record holds name, description, capabilities, models, schemas, cost ceiling</a:t>
            </a:r>
            <a:endParaRPr lang="en-US" sz="1200" dirty="0"/>
          </a:p>
        </p:txBody>
      </p:sp>
      <p:pic>
        <p:nvPicPr>
          <p:cNvPr id="12" name="crit-icon-392" descr="preencoded.png"/>
          <p:cNvPicPr>
            <a:picLocks noChangeAspect="1"/>
          </p:cNvPicPr>
          <p:nvPr/>
        </p:nvPicPr>
        <p:blipFill>
          <a:blip r:embed="rId4"/>
          <a:stretch>
            <a:fillRect/>
          </a:stretch>
        </p:blipFill>
        <p:spPr>
          <a:xfrm>
            <a:off x="457200" y="2935224"/>
            <a:ext cx="201168" cy="201168"/>
          </a:xfrm>
          <a:prstGeom prst="rect">
            <a:avLst/>
          </a:prstGeom>
        </p:spPr>
      </p:pic>
      <p:sp>
        <p:nvSpPr>
          <p:cNvPr id="13" name="text-393"/>
          <p:cNvSpPr txBox="1"/>
          <p:nvPr/>
        </p:nvSpPr>
        <p:spPr>
          <a:xfrm>
            <a:off x="768096" y="2898648"/>
            <a:ext cx="4809744" cy="411480"/>
          </a:xfrm>
          <a:prstGeom prst="rect">
            <a:avLst/>
          </a:prstGeom>
          <a:noFill/>
          <a:ln/>
        </p:spPr>
        <p:txBody>
          <a:bodyPr wrap="square" lIns="0" tIns="0" rIns="0" bIns="0" rtlCol="0" anchor="t"/>
          <a:lstStyle/>
          <a:p>
            <a:pPr marL="0" indent="0">
              <a:buNone/>
            </a:pPr>
            <a:r>
              <a:rPr lang="en-US" sz="1200" dirty="0">
                <a:solidFill>
                  <a:schemeClr val="tx1"/>
                </a:solidFill>
              </a:rPr>
              <a:t>Registered agent gets a unique ID and an Active (enabled) status</a:t>
            </a:r>
            <a:endParaRPr lang="en-US" sz="1200" dirty="0"/>
          </a:p>
        </p:txBody>
      </p:sp>
      <p:pic>
        <p:nvPicPr>
          <p:cNvPr id="14" name="crit-icon-394" descr="preencoded.png"/>
          <p:cNvPicPr>
            <a:picLocks noChangeAspect="1"/>
          </p:cNvPicPr>
          <p:nvPr/>
        </p:nvPicPr>
        <p:blipFill>
          <a:blip r:embed="rId4"/>
          <a:stretch>
            <a:fillRect/>
          </a:stretch>
        </p:blipFill>
        <p:spPr>
          <a:xfrm>
            <a:off x="457200" y="3383280"/>
            <a:ext cx="201168" cy="201168"/>
          </a:xfrm>
          <a:prstGeom prst="rect">
            <a:avLst/>
          </a:prstGeom>
        </p:spPr>
      </p:pic>
      <p:sp>
        <p:nvSpPr>
          <p:cNvPr id="15" name="text-395"/>
          <p:cNvSpPr txBox="1"/>
          <p:nvPr/>
        </p:nvSpPr>
        <p:spPr>
          <a:xfrm>
            <a:off x="768096" y="3346704"/>
            <a:ext cx="4809744" cy="411480"/>
          </a:xfrm>
          <a:prstGeom prst="rect">
            <a:avLst/>
          </a:prstGeom>
          <a:noFill/>
          <a:ln/>
        </p:spPr>
        <p:txBody>
          <a:bodyPr wrap="square" lIns="0" tIns="0" rIns="0" bIns="0" rtlCol="0" anchor="t"/>
          <a:lstStyle/>
          <a:p>
            <a:pPr marL="0" indent="0">
              <a:buNone/>
            </a:pPr>
            <a:r>
              <a:rPr lang="en-US" sz="1200" dirty="0">
                <a:solidFill>
                  <a:schemeClr val="tx1"/>
                </a:solidFill>
              </a:rPr>
              <a:t>Duplicate IDs and missing required fields are rejected with a clear error</a:t>
            </a:r>
            <a:endParaRPr lang="en-US" sz="1200" dirty="0"/>
          </a:p>
        </p:txBody>
      </p:sp>
      <p:pic>
        <p:nvPicPr>
          <p:cNvPr id="16" name="crit-icon-396" descr="preencoded.png"/>
          <p:cNvPicPr>
            <a:picLocks noChangeAspect="1"/>
          </p:cNvPicPr>
          <p:nvPr/>
        </p:nvPicPr>
        <p:blipFill>
          <a:blip r:embed="rId4"/>
          <a:stretch>
            <a:fillRect/>
          </a:stretch>
        </p:blipFill>
        <p:spPr>
          <a:xfrm>
            <a:off x="457200" y="3831336"/>
            <a:ext cx="201168" cy="201168"/>
          </a:xfrm>
          <a:prstGeom prst="rect">
            <a:avLst/>
          </a:prstGeom>
        </p:spPr>
      </p:pic>
      <p:sp>
        <p:nvSpPr>
          <p:cNvPr id="17" name="text-397"/>
          <p:cNvSpPr txBox="1"/>
          <p:nvPr/>
        </p:nvSpPr>
        <p:spPr>
          <a:xfrm>
            <a:off x="768096" y="3794760"/>
            <a:ext cx="4809744" cy="411480"/>
          </a:xfrm>
          <a:prstGeom prst="rect">
            <a:avLst/>
          </a:prstGeom>
          <a:noFill/>
          <a:ln/>
        </p:spPr>
        <p:txBody>
          <a:bodyPr wrap="square" lIns="0" tIns="0" rIns="0" bIns="0" rtlCol="0" anchor="t"/>
          <a:lstStyle/>
          <a:p>
            <a:pPr marL="0" indent="0">
              <a:buNone/>
            </a:pPr>
            <a:r>
              <a:rPr lang="en-US" sz="1200" dirty="0">
                <a:solidFill>
                  <a:schemeClr val="tx1"/>
                </a:solidFill>
              </a:rPr>
              <a:t>Enrollment completes in a single request (POST /agents) in under 3 seconds</a:t>
            </a:r>
            <a:endParaRPr lang="en-US" sz="1200" dirty="0"/>
          </a:p>
        </p:txBody>
      </p:sp>
      <p:pic>
        <p:nvPicPr>
          <p:cNvPr id="18" name="crit-icon-398" descr="preencoded.png"/>
          <p:cNvPicPr>
            <a:picLocks noChangeAspect="1"/>
          </p:cNvPicPr>
          <p:nvPr/>
        </p:nvPicPr>
        <p:blipFill>
          <a:blip r:embed="rId4"/>
          <a:stretch>
            <a:fillRect/>
          </a:stretch>
        </p:blipFill>
        <p:spPr>
          <a:xfrm>
            <a:off x="457200" y="4279392"/>
            <a:ext cx="201168" cy="201168"/>
          </a:xfrm>
          <a:prstGeom prst="rect">
            <a:avLst/>
          </a:prstGeom>
        </p:spPr>
      </p:pic>
      <p:sp>
        <p:nvSpPr>
          <p:cNvPr id="19" name="text-399"/>
          <p:cNvSpPr txBox="1"/>
          <p:nvPr/>
        </p:nvSpPr>
        <p:spPr>
          <a:xfrm>
            <a:off x="768096" y="4242816"/>
            <a:ext cx="4809744" cy="411480"/>
          </a:xfrm>
          <a:prstGeom prst="rect">
            <a:avLst/>
          </a:prstGeom>
          <a:noFill/>
          <a:ln/>
        </p:spPr>
        <p:txBody>
          <a:bodyPr wrap="square" lIns="0" tIns="0" rIns="0" bIns="0" rtlCol="0" anchor="t"/>
          <a:lstStyle/>
          <a:p>
            <a:pPr marL="0" indent="0">
              <a:buNone/>
            </a:pPr>
            <a:r>
              <a:rPr lang="en-US" sz="1200" dirty="0">
                <a:solidFill>
                  <a:schemeClr val="tx1"/>
                </a:solidFill>
              </a:rPr>
              <a:t>Agents can be updated or disabled; disabled agents are never selected</a:t>
            </a:r>
            <a:endParaRPr lang="en-US" sz="1200" dirty="0"/>
          </a:p>
        </p:txBody>
      </p:sp>
      <p:sp>
        <p:nvSpPr>
          <p:cNvPr id="20" name="card-400"/>
          <p:cNvSpPr/>
          <p:nvPr/>
        </p:nvSpPr>
        <p:spPr>
          <a:xfrm>
            <a:off x="5852160" y="1234440"/>
            <a:ext cx="2834640" cy="3429000"/>
          </a:xfrm>
          <a:prstGeom prst="roundRect">
            <a:avLst>
              <a:gd name="adj" fmla="val 2581"/>
            </a:avLst>
          </a:prstGeom>
          <a:solidFill>
            <a:schemeClr val="tx2"/>
          </a:solidFill>
          <a:ln/>
        </p:spPr>
        <p:txBody>
          <a:bodyPr/>
          <a:lstStyle/>
          <a:p>
            <a:endParaRPr lang="en-US"/>
          </a:p>
        </p:txBody>
      </p:sp>
      <p:sp>
        <p:nvSpPr>
          <p:cNvPr id="21" name="badge-401"/>
          <p:cNvSpPr/>
          <p:nvPr/>
        </p:nvSpPr>
        <p:spPr>
          <a:xfrm>
            <a:off x="6016752" y="1389888"/>
            <a:ext cx="402336" cy="402336"/>
          </a:xfrm>
          <a:prstGeom prst="ellipse">
            <a:avLst/>
          </a:prstGeom>
          <a:solidFill>
            <a:schemeClr val="accent2"/>
          </a:solidFill>
          <a:ln/>
        </p:spPr>
        <p:txBody>
          <a:bodyPr/>
          <a:lstStyle/>
          <a:p>
            <a:endParaRPr lang="en-US"/>
          </a:p>
        </p:txBody>
      </p:sp>
      <p:pic>
        <p:nvPicPr>
          <p:cNvPr id="22" name="icon-402" descr="preencoded.png"/>
          <p:cNvPicPr>
            <a:picLocks noChangeAspect="1"/>
          </p:cNvPicPr>
          <p:nvPr/>
        </p:nvPicPr>
        <p:blipFill>
          <a:blip r:embed="rId5"/>
          <a:stretch>
            <a:fillRect/>
          </a:stretch>
        </p:blipFill>
        <p:spPr>
          <a:xfrm>
            <a:off x="6105266" y="1478402"/>
            <a:ext cx="225308" cy="225308"/>
          </a:xfrm>
          <a:prstGeom prst="rect">
            <a:avLst/>
          </a:prstGeom>
        </p:spPr>
      </p:pic>
      <p:sp>
        <p:nvSpPr>
          <p:cNvPr id="23" name="text-403"/>
          <p:cNvSpPr txBox="1"/>
          <p:nvPr/>
        </p:nvSpPr>
        <p:spPr>
          <a:xfrm>
            <a:off x="6510528" y="1389888"/>
            <a:ext cx="2103120" cy="402336"/>
          </a:xfrm>
          <a:prstGeom prst="rect">
            <a:avLst/>
          </a:prstGeom>
          <a:noFill/>
          <a:ln/>
        </p:spPr>
        <p:txBody>
          <a:bodyPr wrap="square" lIns="0" tIns="0" rIns="0" bIns="0" rtlCol="0" anchor="ctr"/>
          <a:lstStyle/>
          <a:p>
            <a:pPr marL="0" indent="0">
              <a:buNone/>
            </a:pPr>
            <a:r>
              <a:rPr lang="en-US" sz="1400" b="1" dirty="0">
                <a:solidFill>
                  <a:schemeClr val="bg1"/>
                </a:solidFill>
              </a:rPr>
              <a:t>How we built it</a:t>
            </a:r>
            <a:endParaRPr lang="en-US" sz="1400" dirty="0"/>
          </a:p>
        </p:txBody>
      </p:sp>
      <p:sp>
        <p:nvSpPr>
          <p:cNvPr id="24" name="text-404"/>
          <p:cNvSpPr txBox="1"/>
          <p:nvPr/>
        </p:nvSpPr>
        <p:spPr>
          <a:xfrm>
            <a:off x="6035040" y="1938528"/>
            <a:ext cx="2514600" cy="21945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bg2"/>
                </a:solidFill>
              </a:rPr>
              <a:t>Registry protocol with in-memory (tests) and database (app) implementations</a:t>
            </a:r>
            <a:endParaRPr lang="en-US" sz="1100" dirty="0"/>
          </a:p>
          <a:p>
            <a:pPr marL="152400" indent="-152400">
              <a:spcAft>
                <a:spcPts val="500"/>
              </a:spcAft>
              <a:buSzPct val="100000"/>
              <a:buChar char="•"/>
            </a:pPr>
            <a:r>
              <a:rPr lang="en-US" sz="1100" dirty="0">
                <a:solidFill>
                  <a:schemeClr val="bg2"/>
                </a:solidFill>
              </a:rPr>
              <a:t>Capabilities are their own indexed table, so lookup is a join, not a JSON scan</a:t>
            </a:r>
            <a:endParaRPr lang="en-US" sz="1100" dirty="0"/>
          </a:p>
          <a:p>
            <a:pPr marL="152400" indent="-152400">
              <a:spcAft>
                <a:spcPts val="500"/>
              </a:spcAft>
              <a:buSzPct val="100000"/>
              <a:buChar char="•"/>
            </a:pPr>
            <a:r>
              <a:rPr lang="en-US" sz="1100" dirty="0">
                <a:solidFill>
                  <a:schemeClr val="bg2"/>
                </a:solidFill>
              </a:rPr>
              <a:t>POST /agents enrolls; PATCH updates or disables, and disabled agents are never offered</a:t>
            </a:r>
            <a:endParaRPr lang="en-US" sz="1100" dirty="0"/>
          </a:p>
          <a:p>
            <a:pPr marL="152400" indent="-152400">
              <a:spcAft>
                <a:spcPts val="500"/>
              </a:spcAft>
              <a:buSzPct val="100000"/>
              <a:buChar char="•"/>
            </a:pPr>
            <a:r>
              <a:rPr lang="en-US" sz="1100" dirty="0">
                <a:solidFill>
                  <a:schemeClr val="bg2"/>
                </a:solidFill>
              </a:rPr>
              <a:t>Proof test: a brand-new agent is registered and selected with zero engine changes</a:t>
            </a:r>
            <a:endParaRPr lang="en-US" sz="1100" dirty="0"/>
          </a:p>
        </p:txBody>
      </p:sp>
      <p:sp>
        <p:nvSpPr>
          <p:cNvPr id="25" name="text-405"/>
          <p:cNvSpPr txBox="1"/>
          <p:nvPr/>
        </p:nvSpPr>
        <p:spPr>
          <a:xfrm>
            <a:off x="6035040" y="4224528"/>
            <a:ext cx="2514600" cy="274320"/>
          </a:xfrm>
          <a:prstGeom prst="rect">
            <a:avLst/>
          </a:prstGeom>
          <a:noFill/>
          <a:ln/>
        </p:spPr>
        <p:txBody>
          <a:bodyPr wrap="square" lIns="0" tIns="0" rIns="0" bIns="0" rtlCol="0" anchor="t"/>
          <a:lstStyle/>
          <a:p>
            <a:pPr marL="0" indent="0">
              <a:buNone/>
            </a:pPr>
            <a:r>
              <a:rPr lang="en-US" sz="1000" b="1" dirty="0">
                <a:solidFill>
                  <a:schemeClr val="accent4"/>
                </a:solidFill>
              </a:rPr>
              <a:t>SCRUM-10  ·  SCRUM-11  ·  SCRUM-12</a:t>
            </a:r>
            <a:endParaRPr lang="en-US" sz="1000" dirty="0"/>
          </a:p>
        </p:txBody>
      </p:sp>
      <p:sp>
        <p:nvSpPr>
          <p:cNvPr id="26"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US_02  ·  AGENT SPAWNING  ·  13 PTS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From brief to the right team</a:t>
            </a:r>
            <a:endParaRPr lang="en-US" sz="2800" dirty="0"/>
          </a:p>
        </p:txBody>
      </p:sp>
      <p:sp>
        <p:nvSpPr>
          <p:cNvPr id="4" name="card-406"/>
          <p:cNvSpPr/>
          <p:nvPr/>
        </p:nvSpPr>
        <p:spPr>
          <a:xfrm>
            <a:off x="457200" y="1234440"/>
            <a:ext cx="1444752" cy="749808"/>
          </a:xfrm>
          <a:prstGeom prst="roundRect">
            <a:avLst>
              <a:gd name="adj" fmla="val 9756"/>
            </a:avLst>
          </a:prstGeom>
          <a:solidFill>
            <a:schemeClr val="bg1"/>
          </a:solidFill>
          <a:ln w="9525">
            <a:solidFill>
              <a:srgbClr val="E1E5F5"/>
            </a:solidFill>
            <a:prstDash val="solid"/>
          </a:ln>
        </p:spPr>
        <p:txBody>
          <a:bodyPr/>
          <a:lstStyle/>
          <a:p>
            <a:endParaRPr lang="en-US"/>
          </a:p>
        </p:txBody>
      </p:sp>
      <p:sp>
        <p:nvSpPr>
          <p:cNvPr id="5" name="badge-407"/>
          <p:cNvSpPr/>
          <p:nvPr/>
        </p:nvSpPr>
        <p:spPr>
          <a:xfrm>
            <a:off x="548640" y="1417320"/>
            <a:ext cx="384048" cy="384048"/>
          </a:xfrm>
          <a:prstGeom prst="ellipse">
            <a:avLst/>
          </a:prstGeom>
          <a:solidFill>
            <a:schemeClr val="accent2"/>
          </a:solidFill>
          <a:ln/>
        </p:spPr>
        <p:txBody>
          <a:bodyPr/>
          <a:lstStyle/>
          <a:p>
            <a:endParaRPr lang="en-US"/>
          </a:p>
        </p:txBody>
      </p:sp>
      <p:pic>
        <p:nvPicPr>
          <p:cNvPr id="6" name="icon-408" descr="preencoded.png"/>
          <p:cNvPicPr>
            <a:picLocks noChangeAspect="1"/>
          </p:cNvPicPr>
          <p:nvPr/>
        </p:nvPicPr>
        <p:blipFill>
          <a:blip r:embed="rId3"/>
          <a:stretch>
            <a:fillRect/>
          </a:stretch>
        </p:blipFill>
        <p:spPr>
          <a:xfrm>
            <a:off x="633131" y="1501811"/>
            <a:ext cx="215067" cy="215067"/>
          </a:xfrm>
          <a:prstGeom prst="rect">
            <a:avLst/>
          </a:prstGeom>
        </p:spPr>
      </p:pic>
      <p:sp>
        <p:nvSpPr>
          <p:cNvPr id="7" name="text-409"/>
          <p:cNvSpPr txBox="1"/>
          <p:nvPr/>
        </p:nvSpPr>
        <p:spPr>
          <a:xfrm>
            <a:off x="1005840" y="1353312"/>
            <a:ext cx="850392" cy="256032"/>
          </a:xfrm>
          <a:prstGeom prst="rect">
            <a:avLst/>
          </a:prstGeom>
          <a:noFill/>
          <a:ln/>
        </p:spPr>
        <p:txBody>
          <a:bodyPr wrap="square" lIns="0" tIns="0" rIns="0" bIns="0" rtlCol="0" anchor="t"/>
          <a:lstStyle/>
          <a:p>
            <a:pPr marL="0" indent="0">
              <a:buNone/>
            </a:pPr>
            <a:r>
              <a:rPr lang="en-US" sz="1300" b="1" dirty="0">
                <a:solidFill>
                  <a:schemeClr val="tx2"/>
                </a:solidFill>
              </a:rPr>
              <a:t>Brief</a:t>
            </a:r>
            <a:endParaRPr lang="en-US" sz="1300" dirty="0"/>
          </a:p>
        </p:txBody>
      </p:sp>
      <p:sp>
        <p:nvSpPr>
          <p:cNvPr id="8" name="text-410"/>
          <p:cNvSpPr txBox="1"/>
          <p:nvPr/>
        </p:nvSpPr>
        <p:spPr>
          <a:xfrm>
            <a:off x="1005840" y="1618488"/>
            <a:ext cx="850392" cy="329184"/>
          </a:xfrm>
          <a:prstGeom prst="rect">
            <a:avLst/>
          </a:prstGeom>
          <a:noFill/>
          <a:ln/>
        </p:spPr>
        <p:txBody>
          <a:bodyPr wrap="square" lIns="0" tIns="0" rIns="0" bIns="0" rtlCol="0" anchor="t"/>
          <a:lstStyle/>
          <a:p>
            <a:pPr marL="0" indent="0">
              <a:buNone/>
            </a:pPr>
            <a:r>
              <a:rPr lang="en-US" sz="1000" dirty="0">
                <a:solidFill>
                  <a:schemeClr val="tx1"/>
                </a:solidFill>
              </a:rPr>
              <a:t>plain-language request</a:t>
            </a:r>
            <a:endParaRPr lang="en-US" sz="1000" dirty="0"/>
          </a:p>
        </p:txBody>
      </p:sp>
      <p:sp>
        <p:nvSpPr>
          <p:cNvPr id="9" name="arrow-411"/>
          <p:cNvSpPr/>
          <p:nvPr/>
        </p:nvSpPr>
        <p:spPr>
          <a:xfrm rot="5400000">
            <a:off x="1945386" y="1545336"/>
            <a:ext cx="164592" cy="128016"/>
          </a:xfrm>
          <a:prstGeom prst="triangle">
            <a:avLst/>
          </a:prstGeom>
          <a:solidFill>
            <a:schemeClr val="accent2"/>
          </a:solidFill>
          <a:ln/>
        </p:spPr>
        <p:txBody>
          <a:bodyPr/>
          <a:lstStyle/>
          <a:p>
            <a:endParaRPr lang="en-US"/>
          </a:p>
        </p:txBody>
      </p:sp>
      <p:sp>
        <p:nvSpPr>
          <p:cNvPr id="10" name="card-412"/>
          <p:cNvSpPr/>
          <p:nvPr/>
        </p:nvSpPr>
        <p:spPr>
          <a:xfrm>
            <a:off x="2153412" y="1234440"/>
            <a:ext cx="1444752" cy="749808"/>
          </a:xfrm>
          <a:prstGeom prst="roundRect">
            <a:avLst>
              <a:gd name="adj" fmla="val 9756"/>
            </a:avLst>
          </a:prstGeom>
          <a:solidFill>
            <a:schemeClr val="bg1"/>
          </a:solidFill>
          <a:ln w="9525">
            <a:solidFill>
              <a:srgbClr val="E1E5F5"/>
            </a:solidFill>
            <a:prstDash val="solid"/>
          </a:ln>
        </p:spPr>
        <p:txBody>
          <a:bodyPr/>
          <a:lstStyle/>
          <a:p>
            <a:endParaRPr lang="en-US"/>
          </a:p>
        </p:txBody>
      </p:sp>
      <p:sp>
        <p:nvSpPr>
          <p:cNvPr id="11" name="badge-413"/>
          <p:cNvSpPr/>
          <p:nvPr/>
        </p:nvSpPr>
        <p:spPr>
          <a:xfrm>
            <a:off x="2244852" y="1417320"/>
            <a:ext cx="384048" cy="384048"/>
          </a:xfrm>
          <a:prstGeom prst="ellipse">
            <a:avLst/>
          </a:prstGeom>
          <a:solidFill>
            <a:schemeClr val="accent2"/>
          </a:solidFill>
          <a:ln/>
        </p:spPr>
        <p:txBody>
          <a:bodyPr/>
          <a:lstStyle/>
          <a:p>
            <a:endParaRPr lang="en-US"/>
          </a:p>
        </p:txBody>
      </p:sp>
      <p:pic>
        <p:nvPicPr>
          <p:cNvPr id="12" name="icon-414" descr="preencoded.png"/>
          <p:cNvPicPr>
            <a:picLocks noChangeAspect="1"/>
          </p:cNvPicPr>
          <p:nvPr/>
        </p:nvPicPr>
        <p:blipFill>
          <a:blip r:embed="rId4"/>
          <a:stretch>
            <a:fillRect/>
          </a:stretch>
        </p:blipFill>
        <p:spPr>
          <a:xfrm>
            <a:off x="2329343" y="1501811"/>
            <a:ext cx="215067" cy="215067"/>
          </a:xfrm>
          <a:prstGeom prst="rect">
            <a:avLst/>
          </a:prstGeom>
        </p:spPr>
      </p:pic>
      <p:sp>
        <p:nvSpPr>
          <p:cNvPr id="13" name="text-415"/>
          <p:cNvSpPr txBox="1"/>
          <p:nvPr/>
        </p:nvSpPr>
        <p:spPr>
          <a:xfrm>
            <a:off x="2702052" y="1353312"/>
            <a:ext cx="850392" cy="256032"/>
          </a:xfrm>
          <a:prstGeom prst="rect">
            <a:avLst/>
          </a:prstGeom>
          <a:noFill/>
          <a:ln/>
        </p:spPr>
        <p:txBody>
          <a:bodyPr wrap="square" lIns="0" tIns="0" rIns="0" bIns="0" rtlCol="0" anchor="t"/>
          <a:lstStyle/>
          <a:p>
            <a:pPr marL="0" indent="0">
              <a:buNone/>
            </a:pPr>
            <a:r>
              <a:rPr lang="en-US" sz="1300" b="1" dirty="0">
                <a:solidFill>
                  <a:schemeClr val="tx2"/>
                </a:solidFill>
              </a:rPr>
              <a:t>Analyse</a:t>
            </a:r>
            <a:endParaRPr lang="en-US" sz="1300" dirty="0"/>
          </a:p>
        </p:txBody>
      </p:sp>
      <p:sp>
        <p:nvSpPr>
          <p:cNvPr id="14" name="text-416"/>
          <p:cNvSpPr txBox="1"/>
          <p:nvPr/>
        </p:nvSpPr>
        <p:spPr>
          <a:xfrm>
            <a:off x="2702052" y="1618488"/>
            <a:ext cx="850392" cy="329184"/>
          </a:xfrm>
          <a:prstGeom prst="rect">
            <a:avLst/>
          </a:prstGeom>
          <a:noFill/>
          <a:ln/>
        </p:spPr>
        <p:txBody>
          <a:bodyPr wrap="square" lIns="0" tIns="0" rIns="0" bIns="0" rtlCol="0" anchor="t"/>
          <a:lstStyle/>
          <a:p>
            <a:pPr marL="0" indent="0">
              <a:buNone/>
            </a:pPr>
            <a:r>
              <a:rPr lang="en-US" sz="1000" dirty="0">
                <a:solidFill>
                  <a:schemeClr val="tx1"/>
                </a:solidFill>
              </a:rPr>
              <a:t>map to capabilities</a:t>
            </a:r>
            <a:endParaRPr lang="en-US" sz="1000" dirty="0"/>
          </a:p>
        </p:txBody>
      </p:sp>
      <p:sp>
        <p:nvSpPr>
          <p:cNvPr id="15" name="arrow-417"/>
          <p:cNvSpPr/>
          <p:nvPr/>
        </p:nvSpPr>
        <p:spPr>
          <a:xfrm rot="5400000">
            <a:off x="3641598" y="1545336"/>
            <a:ext cx="164592" cy="128016"/>
          </a:xfrm>
          <a:prstGeom prst="triangle">
            <a:avLst/>
          </a:prstGeom>
          <a:solidFill>
            <a:schemeClr val="accent2"/>
          </a:solidFill>
          <a:ln/>
        </p:spPr>
        <p:txBody>
          <a:bodyPr/>
          <a:lstStyle/>
          <a:p>
            <a:endParaRPr lang="en-US"/>
          </a:p>
        </p:txBody>
      </p:sp>
      <p:sp>
        <p:nvSpPr>
          <p:cNvPr id="16" name="card-418"/>
          <p:cNvSpPr/>
          <p:nvPr/>
        </p:nvSpPr>
        <p:spPr>
          <a:xfrm>
            <a:off x="3849624" y="1234440"/>
            <a:ext cx="1444752" cy="749808"/>
          </a:xfrm>
          <a:prstGeom prst="roundRect">
            <a:avLst>
              <a:gd name="adj" fmla="val 9756"/>
            </a:avLst>
          </a:prstGeom>
          <a:solidFill>
            <a:schemeClr val="bg1"/>
          </a:solidFill>
          <a:ln w="9525">
            <a:solidFill>
              <a:srgbClr val="E1E5F5"/>
            </a:solidFill>
            <a:prstDash val="solid"/>
          </a:ln>
        </p:spPr>
        <p:txBody>
          <a:bodyPr/>
          <a:lstStyle/>
          <a:p>
            <a:endParaRPr lang="en-US"/>
          </a:p>
        </p:txBody>
      </p:sp>
      <p:sp>
        <p:nvSpPr>
          <p:cNvPr id="17" name="badge-419"/>
          <p:cNvSpPr/>
          <p:nvPr/>
        </p:nvSpPr>
        <p:spPr>
          <a:xfrm>
            <a:off x="3941064" y="1417320"/>
            <a:ext cx="384048" cy="384048"/>
          </a:xfrm>
          <a:prstGeom prst="ellipse">
            <a:avLst/>
          </a:prstGeom>
          <a:solidFill>
            <a:schemeClr val="accent2"/>
          </a:solidFill>
          <a:ln/>
        </p:spPr>
        <p:txBody>
          <a:bodyPr/>
          <a:lstStyle/>
          <a:p>
            <a:endParaRPr lang="en-US"/>
          </a:p>
        </p:txBody>
      </p:sp>
      <p:pic>
        <p:nvPicPr>
          <p:cNvPr id="18" name="icon-420" descr="preencoded.png"/>
          <p:cNvPicPr>
            <a:picLocks noChangeAspect="1"/>
          </p:cNvPicPr>
          <p:nvPr/>
        </p:nvPicPr>
        <p:blipFill>
          <a:blip r:embed="rId5"/>
          <a:stretch>
            <a:fillRect/>
          </a:stretch>
        </p:blipFill>
        <p:spPr>
          <a:xfrm>
            <a:off x="4025555" y="1501811"/>
            <a:ext cx="215067" cy="215067"/>
          </a:xfrm>
          <a:prstGeom prst="rect">
            <a:avLst/>
          </a:prstGeom>
        </p:spPr>
      </p:pic>
      <p:sp>
        <p:nvSpPr>
          <p:cNvPr id="19" name="text-421"/>
          <p:cNvSpPr txBox="1"/>
          <p:nvPr/>
        </p:nvSpPr>
        <p:spPr>
          <a:xfrm>
            <a:off x="4398264" y="1353312"/>
            <a:ext cx="850392" cy="256032"/>
          </a:xfrm>
          <a:prstGeom prst="rect">
            <a:avLst/>
          </a:prstGeom>
          <a:noFill/>
          <a:ln/>
        </p:spPr>
        <p:txBody>
          <a:bodyPr wrap="square" lIns="0" tIns="0" rIns="0" bIns="0" rtlCol="0" anchor="t"/>
          <a:lstStyle/>
          <a:p>
            <a:pPr marL="0" indent="0">
              <a:buNone/>
            </a:pPr>
            <a:r>
              <a:rPr lang="en-US" sz="1300" b="1" dirty="0">
                <a:solidFill>
                  <a:schemeClr val="tx2"/>
                </a:solidFill>
              </a:rPr>
              <a:t>Select</a:t>
            </a:r>
            <a:endParaRPr lang="en-US" sz="1300" dirty="0"/>
          </a:p>
        </p:txBody>
      </p:sp>
      <p:sp>
        <p:nvSpPr>
          <p:cNvPr id="20" name="text-422"/>
          <p:cNvSpPr txBox="1"/>
          <p:nvPr/>
        </p:nvSpPr>
        <p:spPr>
          <a:xfrm>
            <a:off x="4398264" y="1618488"/>
            <a:ext cx="850392" cy="329184"/>
          </a:xfrm>
          <a:prstGeom prst="rect">
            <a:avLst/>
          </a:prstGeom>
          <a:noFill/>
          <a:ln/>
        </p:spPr>
        <p:txBody>
          <a:bodyPr wrap="square" lIns="0" tIns="0" rIns="0" bIns="0" rtlCol="0" anchor="t"/>
          <a:lstStyle/>
          <a:p>
            <a:pPr marL="0" indent="0">
              <a:buNone/>
            </a:pPr>
            <a:r>
              <a:rPr lang="en-US" sz="1000" dirty="0">
                <a:solidFill>
                  <a:schemeClr val="tx1"/>
                </a:solidFill>
              </a:rPr>
              <a:t>only what is needed</a:t>
            </a:r>
            <a:endParaRPr lang="en-US" sz="1000" dirty="0"/>
          </a:p>
        </p:txBody>
      </p:sp>
      <p:sp>
        <p:nvSpPr>
          <p:cNvPr id="21" name="arrow-423"/>
          <p:cNvSpPr/>
          <p:nvPr/>
        </p:nvSpPr>
        <p:spPr>
          <a:xfrm rot="5400000">
            <a:off x="5337810" y="1545336"/>
            <a:ext cx="164592" cy="128016"/>
          </a:xfrm>
          <a:prstGeom prst="triangle">
            <a:avLst/>
          </a:prstGeom>
          <a:solidFill>
            <a:schemeClr val="accent2"/>
          </a:solidFill>
          <a:ln/>
        </p:spPr>
        <p:txBody>
          <a:bodyPr/>
          <a:lstStyle/>
          <a:p>
            <a:endParaRPr lang="en-US"/>
          </a:p>
        </p:txBody>
      </p:sp>
      <p:sp>
        <p:nvSpPr>
          <p:cNvPr id="22" name="card-424"/>
          <p:cNvSpPr/>
          <p:nvPr/>
        </p:nvSpPr>
        <p:spPr>
          <a:xfrm>
            <a:off x="5545836" y="1234440"/>
            <a:ext cx="1444752" cy="749808"/>
          </a:xfrm>
          <a:prstGeom prst="roundRect">
            <a:avLst>
              <a:gd name="adj" fmla="val 9756"/>
            </a:avLst>
          </a:prstGeom>
          <a:solidFill>
            <a:schemeClr val="tx2"/>
          </a:solidFill>
          <a:ln/>
        </p:spPr>
        <p:txBody>
          <a:bodyPr/>
          <a:lstStyle/>
          <a:p>
            <a:endParaRPr lang="en-US"/>
          </a:p>
        </p:txBody>
      </p:sp>
      <p:sp>
        <p:nvSpPr>
          <p:cNvPr id="23" name="badge-425"/>
          <p:cNvSpPr/>
          <p:nvPr/>
        </p:nvSpPr>
        <p:spPr>
          <a:xfrm>
            <a:off x="5637276" y="1417320"/>
            <a:ext cx="384048" cy="384048"/>
          </a:xfrm>
          <a:prstGeom prst="ellipse">
            <a:avLst/>
          </a:prstGeom>
          <a:solidFill>
            <a:schemeClr val="accent2"/>
          </a:solidFill>
          <a:ln/>
        </p:spPr>
        <p:txBody>
          <a:bodyPr/>
          <a:lstStyle/>
          <a:p>
            <a:endParaRPr lang="en-US"/>
          </a:p>
        </p:txBody>
      </p:sp>
      <p:pic>
        <p:nvPicPr>
          <p:cNvPr id="24" name="icon-426" descr="preencoded.png"/>
          <p:cNvPicPr>
            <a:picLocks noChangeAspect="1"/>
          </p:cNvPicPr>
          <p:nvPr/>
        </p:nvPicPr>
        <p:blipFill>
          <a:blip r:embed="rId6"/>
          <a:stretch>
            <a:fillRect/>
          </a:stretch>
        </p:blipFill>
        <p:spPr>
          <a:xfrm>
            <a:off x="5721767" y="1501811"/>
            <a:ext cx="215067" cy="215067"/>
          </a:xfrm>
          <a:prstGeom prst="rect">
            <a:avLst/>
          </a:prstGeom>
        </p:spPr>
      </p:pic>
      <p:sp>
        <p:nvSpPr>
          <p:cNvPr id="25" name="text-427"/>
          <p:cNvSpPr txBox="1"/>
          <p:nvPr/>
        </p:nvSpPr>
        <p:spPr>
          <a:xfrm>
            <a:off x="6094476" y="1353312"/>
            <a:ext cx="850392" cy="256032"/>
          </a:xfrm>
          <a:prstGeom prst="rect">
            <a:avLst/>
          </a:prstGeom>
          <a:noFill/>
          <a:ln/>
        </p:spPr>
        <p:txBody>
          <a:bodyPr wrap="square" lIns="0" tIns="0" rIns="0" bIns="0" rtlCol="0" anchor="t"/>
          <a:lstStyle/>
          <a:p>
            <a:pPr marL="0" indent="0">
              <a:buNone/>
            </a:pPr>
            <a:r>
              <a:rPr lang="en-US" sz="1300" b="1" dirty="0">
                <a:solidFill>
                  <a:schemeClr val="bg1"/>
                </a:solidFill>
              </a:rPr>
              <a:t>Spawn</a:t>
            </a:r>
            <a:endParaRPr lang="en-US" sz="1300" dirty="0"/>
          </a:p>
        </p:txBody>
      </p:sp>
      <p:sp>
        <p:nvSpPr>
          <p:cNvPr id="26" name="text-428"/>
          <p:cNvSpPr txBox="1"/>
          <p:nvPr/>
        </p:nvSpPr>
        <p:spPr>
          <a:xfrm>
            <a:off x="6094476" y="1618488"/>
            <a:ext cx="850392" cy="329184"/>
          </a:xfrm>
          <a:prstGeom prst="rect">
            <a:avLst/>
          </a:prstGeom>
          <a:noFill/>
          <a:ln/>
        </p:spPr>
        <p:txBody>
          <a:bodyPr wrap="square" lIns="0" tIns="0" rIns="0" bIns="0" rtlCol="0" anchor="t"/>
          <a:lstStyle/>
          <a:p>
            <a:pPr marL="0" indent="0">
              <a:buNone/>
            </a:pPr>
            <a:r>
              <a:rPr lang="en-US" sz="1000" dirty="0">
                <a:solidFill>
                  <a:schemeClr val="bg2"/>
                </a:solidFill>
              </a:rPr>
              <a:t>instance ID + status</a:t>
            </a:r>
            <a:endParaRPr lang="en-US" sz="1000" dirty="0"/>
          </a:p>
        </p:txBody>
      </p:sp>
      <p:sp>
        <p:nvSpPr>
          <p:cNvPr id="27" name="arrow-429"/>
          <p:cNvSpPr/>
          <p:nvPr/>
        </p:nvSpPr>
        <p:spPr>
          <a:xfrm rot="5400000">
            <a:off x="7034022" y="1545336"/>
            <a:ext cx="164592" cy="128016"/>
          </a:xfrm>
          <a:prstGeom prst="triangle">
            <a:avLst/>
          </a:prstGeom>
          <a:solidFill>
            <a:schemeClr val="accent2"/>
          </a:solidFill>
          <a:ln/>
        </p:spPr>
        <p:txBody>
          <a:bodyPr/>
          <a:lstStyle/>
          <a:p>
            <a:endParaRPr lang="en-US"/>
          </a:p>
        </p:txBody>
      </p:sp>
      <p:sp>
        <p:nvSpPr>
          <p:cNvPr id="28" name="card-430"/>
          <p:cNvSpPr/>
          <p:nvPr/>
        </p:nvSpPr>
        <p:spPr>
          <a:xfrm>
            <a:off x="7242048" y="1234440"/>
            <a:ext cx="1444752" cy="749808"/>
          </a:xfrm>
          <a:prstGeom prst="roundRect">
            <a:avLst>
              <a:gd name="adj" fmla="val 9756"/>
            </a:avLst>
          </a:prstGeom>
          <a:solidFill>
            <a:schemeClr val="bg1"/>
          </a:solidFill>
          <a:ln w="9525">
            <a:solidFill>
              <a:srgbClr val="E1E5F5"/>
            </a:solidFill>
            <a:prstDash val="solid"/>
          </a:ln>
        </p:spPr>
        <p:txBody>
          <a:bodyPr/>
          <a:lstStyle/>
          <a:p>
            <a:endParaRPr lang="en-US"/>
          </a:p>
        </p:txBody>
      </p:sp>
      <p:sp>
        <p:nvSpPr>
          <p:cNvPr id="29" name="badge-431"/>
          <p:cNvSpPr/>
          <p:nvPr/>
        </p:nvSpPr>
        <p:spPr>
          <a:xfrm>
            <a:off x="7333488" y="1417320"/>
            <a:ext cx="384048" cy="384048"/>
          </a:xfrm>
          <a:prstGeom prst="ellipse">
            <a:avLst/>
          </a:prstGeom>
          <a:solidFill>
            <a:schemeClr val="accent2"/>
          </a:solidFill>
          <a:ln/>
        </p:spPr>
        <p:txBody>
          <a:bodyPr/>
          <a:lstStyle/>
          <a:p>
            <a:endParaRPr lang="en-US"/>
          </a:p>
        </p:txBody>
      </p:sp>
      <p:pic>
        <p:nvPicPr>
          <p:cNvPr id="30" name="icon-432" descr="preencoded.png"/>
          <p:cNvPicPr>
            <a:picLocks noChangeAspect="1"/>
          </p:cNvPicPr>
          <p:nvPr/>
        </p:nvPicPr>
        <p:blipFill>
          <a:blip r:embed="rId7"/>
          <a:stretch>
            <a:fillRect/>
          </a:stretch>
        </p:blipFill>
        <p:spPr>
          <a:xfrm>
            <a:off x="7417979" y="1501811"/>
            <a:ext cx="215067" cy="215067"/>
          </a:xfrm>
          <a:prstGeom prst="rect">
            <a:avLst/>
          </a:prstGeom>
        </p:spPr>
      </p:pic>
      <p:sp>
        <p:nvSpPr>
          <p:cNvPr id="31" name="text-433"/>
          <p:cNvSpPr txBox="1"/>
          <p:nvPr/>
        </p:nvSpPr>
        <p:spPr>
          <a:xfrm>
            <a:off x="7790688" y="1353312"/>
            <a:ext cx="850392" cy="256032"/>
          </a:xfrm>
          <a:prstGeom prst="rect">
            <a:avLst/>
          </a:prstGeom>
          <a:noFill/>
          <a:ln/>
        </p:spPr>
        <p:txBody>
          <a:bodyPr wrap="square" lIns="0" tIns="0" rIns="0" bIns="0" rtlCol="0" anchor="t"/>
          <a:lstStyle/>
          <a:p>
            <a:pPr marL="0" indent="0">
              <a:buNone/>
            </a:pPr>
            <a:r>
              <a:rPr lang="en-US" sz="1300" b="1" dirty="0">
                <a:solidFill>
                  <a:schemeClr val="tx2"/>
                </a:solidFill>
              </a:rPr>
              <a:t>Plan</a:t>
            </a:r>
            <a:endParaRPr lang="en-US" sz="1300" dirty="0"/>
          </a:p>
        </p:txBody>
      </p:sp>
      <p:sp>
        <p:nvSpPr>
          <p:cNvPr id="32" name="text-434"/>
          <p:cNvSpPr txBox="1"/>
          <p:nvPr/>
        </p:nvSpPr>
        <p:spPr>
          <a:xfrm>
            <a:off x="7790688" y="1618488"/>
            <a:ext cx="850392" cy="329184"/>
          </a:xfrm>
          <a:prstGeom prst="rect">
            <a:avLst/>
          </a:prstGeom>
          <a:noFill/>
          <a:ln/>
        </p:spPr>
        <p:txBody>
          <a:bodyPr wrap="square" lIns="0" tIns="0" rIns="0" bIns="0" rtlCol="0" anchor="t"/>
          <a:lstStyle/>
          <a:p>
            <a:pPr marL="0" indent="0">
              <a:buNone/>
            </a:pPr>
            <a:r>
              <a:rPr lang="en-US" sz="1000" dirty="0">
                <a:solidFill>
                  <a:schemeClr val="tx1"/>
                </a:solidFill>
              </a:rPr>
              <a:t>workflow DAG</a:t>
            </a:r>
            <a:endParaRPr lang="en-US" sz="1000" dirty="0"/>
          </a:p>
        </p:txBody>
      </p:sp>
      <p:sp>
        <p:nvSpPr>
          <p:cNvPr id="33" name="card-435"/>
          <p:cNvSpPr/>
          <p:nvPr/>
        </p:nvSpPr>
        <p:spPr>
          <a:xfrm>
            <a:off x="457200" y="2212848"/>
            <a:ext cx="2596896" cy="2450592"/>
          </a:xfrm>
          <a:prstGeom prst="roundRect">
            <a:avLst>
              <a:gd name="adj" fmla="val 2985"/>
            </a:avLst>
          </a:prstGeom>
          <a:solidFill>
            <a:schemeClr val="bg1"/>
          </a:solidFill>
          <a:ln w="9525">
            <a:solidFill>
              <a:srgbClr val="E1E5F5"/>
            </a:solidFill>
            <a:prstDash val="solid"/>
          </a:ln>
        </p:spPr>
        <p:txBody>
          <a:bodyPr/>
          <a:lstStyle/>
          <a:p>
            <a:endParaRPr lang="en-US"/>
          </a:p>
        </p:txBody>
      </p:sp>
      <p:sp>
        <p:nvSpPr>
          <p:cNvPr id="34" name="text-436"/>
          <p:cNvSpPr txBox="1"/>
          <p:nvPr/>
        </p:nvSpPr>
        <p:spPr>
          <a:xfrm>
            <a:off x="640080" y="2350008"/>
            <a:ext cx="219456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NARROW BRIEF</a:t>
            </a:r>
            <a:endParaRPr lang="en-US" sz="1000" dirty="0"/>
          </a:p>
        </p:txBody>
      </p:sp>
      <p:sp>
        <p:nvSpPr>
          <p:cNvPr id="35" name="text-437"/>
          <p:cNvSpPr txBox="1"/>
          <p:nvPr/>
        </p:nvSpPr>
        <p:spPr>
          <a:xfrm>
            <a:off x="640080" y="2578608"/>
            <a:ext cx="2240280" cy="566928"/>
          </a:xfrm>
          <a:prstGeom prst="rect">
            <a:avLst/>
          </a:prstGeom>
          <a:noFill/>
          <a:ln/>
        </p:spPr>
        <p:txBody>
          <a:bodyPr wrap="square" lIns="0" tIns="0" rIns="0" bIns="0" rtlCol="0" anchor="t"/>
          <a:lstStyle/>
          <a:p>
            <a:pPr marL="0" indent="0">
              <a:buNone/>
            </a:pPr>
            <a:r>
              <a:rPr lang="en-US" sz="1150" i="1" dirty="0">
                <a:solidFill>
                  <a:schemeClr val="tx1"/>
                </a:solidFill>
              </a:rPr>
              <a:t>“Find security vulnerabilities in the payments service”</a:t>
            </a:r>
            <a:endParaRPr lang="en-US" sz="1150" dirty="0"/>
          </a:p>
        </p:txBody>
      </p:sp>
      <p:sp>
        <p:nvSpPr>
          <p:cNvPr id="36" name="card-438"/>
          <p:cNvSpPr/>
          <p:nvPr/>
        </p:nvSpPr>
        <p:spPr>
          <a:xfrm>
            <a:off x="640080" y="3236976"/>
            <a:ext cx="1325880" cy="310896"/>
          </a:xfrm>
          <a:prstGeom prst="roundRect">
            <a:avLst>
              <a:gd name="adj" fmla="val 50000"/>
            </a:avLst>
          </a:prstGeom>
          <a:solidFill>
            <a:schemeClr val="accent1"/>
          </a:solidFill>
          <a:ln/>
        </p:spPr>
        <p:txBody>
          <a:bodyPr/>
          <a:lstStyle/>
          <a:p>
            <a:endParaRPr lang="en-US"/>
          </a:p>
        </p:txBody>
      </p:sp>
      <p:sp>
        <p:nvSpPr>
          <p:cNvPr id="37" name="text-439"/>
          <p:cNvSpPr txBox="1"/>
          <p:nvPr/>
        </p:nvSpPr>
        <p:spPr>
          <a:xfrm>
            <a:off x="640080" y="3236976"/>
            <a:ext cx="1325880" cy="310896"/>
          </a:xfrm>
          <a:prstGeom prst="rect">
            <a:avLst/>
          </a:prstGeom>
          <a:noFill/>
          <a:ln/>
        </p:spPr>
        <p:txBody>
          <a:bodyPr wrap="square" lIns="0" tIns="0" rIns="0" bIns="0" rtlCol="0" anchor="ctr"/>
          <a:lstStyle/>
          <a:p>
            <a:pPr marL="0" indent="0" algn="ctr">
              <a:buNone/>
            </a:pPr>
            <a:r>
              <a:rPr lang="en-US" sz="1050" b="1" dirty="0">
                <a:solidFill>
                  <a:schemeClr val="bg1"/>
                </a:solidFill>
              </a:rPr>
              <a:t>security-agent</a:t>
            </a:r>
            <a:endParaRPr lang="en-US" sz="1050" dirty="0"/>
          </a:p>
        </p:txBody>
      </p:sp>
      <p:sp>
        <p:nvSpPr>
          <p:cNvPr id="38" name="text-440"/>
          <p:cNvSpPr txBox="1"/>
          <p:nvPr/>
        </p:nvSpPr>
        <p:spPr>
          <a:xfrm>
            <a:off x="640080" y="3675888"/>
            <a:ext cx="2240280" cy="822960"/>
          </a:xfrm>
          <a:prstGeom prst="rect">
            <a:avLst/>
          </a:prstGeom>
          <a:noFill/>
          <a:ln/>
        </p:spPr>
        <p:txBody>
          <a:bodyPr wrap="square" lIns="0" tIns="0" rIns="0" bIns="0" rtlCol="0" anchor="t"/>
          <a:lstStyle/>
          <a:p>
            <a:pPr marL="0" indent="0">
              <a:buNone/>
            </a:pPr>
            <a:r>
              <a:rPr lang="en-US" sz="1150" b="1" dirty="0">
                <a:solidFill>
                  <a:schemeClr val="tx2"/>
                </a:solidFill>
              </a:rPr>
              <a:t>1 agent spawned</a:t>
            </a:r>
            <a:endParaRPr lang="en-US" sz="1150" dirty="0"/>
          </a:p>
          <a:p>
            <a:pPr marL="0" indent="0">
              <a:buNone/>
            </a:pPr>
            <a:r>
              <a:rPr lang="en-US" sz="1150" dirty="0">
                <a:solidFill>
                  <a:schemeClr val="tx1"/>
                </a:solidFill>
              </a:rPr>
              <a:t>6 skipped, each with a recorded reason</a:t>
            </a:r>
            <a:endParaRPr lang="en-US" sz="1150" dirty="0"/>
          </a:p>
        </p:txBody>
      </p:sp>
      <p:sp>
        <p:nvSpPr>
          <p:cNvPr id="39" name="card-441"/>
          <p:cNvSpPr/>
          <p:nvPr/>
        </p:nvSpPr>
        <p:spPr>
          <a:xfrm>
            <a:off x="3273552" y="2212848"/>
            <a:ext cx="2596896" cy="2450592"/>
          </a:xfrm>
          <a:prstGeom prst="roundRect">
            <a:avLst>
              <a:gd name="adj" fmla="val 2985"/>
            </a:avLst>
          </a:prstGeom>
          <a:solidFill>
            <a:schemeClr val="bg1"/>
          </a:solidFill>
          <a:ln w="9525">
            <a:solidFill>
              <a:srgbClr val="E1E5F5"/>
            </a:solidFill>
            <a:prstDash val="solid"/>
          </a:ln>
        </p:spPr>
        <p:txBody>
          <a:bodyPr/>
          <a:lstStyle/>
          <a:p>
            <a:endParaRPr lang="en-US"/>
          </a:p>
        </p:txBody>
      </p:sp>
      <p:sp>
        <p:nvSpPr>
          <p:cNvPr id="40" name="text-442"/>
          <p:cNvSpPr txBox="1"/>
          <p:nvPr/>
        </p:nvSpPr>
        <p:spPr>
          <a:xfrm>
            <a:off x="3456432" y="2350008"/>
            <a:ext cx="219456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BROAD BRIEF</a:t>
            </a:r>
            <a:endParaRPr lang="en-US" sz="1000" dirty="0"/>
          </a:p>
        </p:txBody>
      </p:sp>
      <p:sp>
        <p:nvSpPr>
          <p:cNvPr id="41" name="text-443"/>
          <p:cNvSpPr txBox="1"/>
          <p:nvPr/>
        </p:nvSpPr>
        <p:spPr>
          <a:xfrm>
            <a:off x="3456432" y="2578608"/>
            <a:ext cx="2240280" cy="713232"/>
          </a:xfrm>
          <a:prstGeom prst="rect">
            <a:avLst/>
          </a:prstGeom>
          <a:noFill/>
          <a:ln/>
        </p:spPr>
        <p:txBody>
          <a:bodyPr wrap="square" lIns="0" tIns="0" rIns="0" bIns="0" rtlCol="0" anchor="t"/>
          <a:lstStyle/>
          <a:p>
            <a:pPr marL="0" indent="0">
              <a:buNone/>
            </a:pPr>
            <a:r>
              <a:rPr lang="en-US" sz="1150" i="1" dirty="0">
                <a:solidFill>
                  <a:schemeClr val="tx1"/>
                </a:solidFill>
              </a:rPr>
              <a:t>“Analyze this repo for vulnerabilities, fix the issues, write tests, and document the changes”</a:t>
            </a:r>
            <a:endParaRPr lang="en-US" sz="1150" dirty="0"/>
          </a:p>
        </p:txBody>
      </p:sp>
      <p:sp>
        <p:nvSpPr>
          <p:cNvPr id="42" name="card-444"/>
          <p:cNvSpPr/>
          <p:nvPr/>
        </p:nvSpPr>
        <p:spPr>
          <a:xfrm>
            <a:off x="3456432" y="3374136"/>
            <a:ext cx="676656" cy="292608"/>
          </a:xfrm>
          <a:prstGeom prst="roundRect">
            <a:avLst>
              <a:gd name="adj" fmla="val 50000"/>
            </a:avLst>
          </a:prstGeom>
          <a:solidFill>
            <a:schemeClr val="accent1"/>
          </a:solidFill>
          <a:ln/>
        </p:spPr>
        <p:txBody>
          <a:bodyPr/>
          <a:lstStyle/>
          <a:p>
            <a:endParaRPr lang="en-US"/>
          </a:p>
        </p:txBody>
      </p:sp>
      <p:sp>
        <p:nvSpPr>
          <p:cNvPr id="43" name="text-445"/>
          <p:cNvSpPr txBox="1"/>
          <p:nvPr/>
        </p:nvSpPr>
        <p:spPr>
          <a:xfrm>
            <a:off x="3456432" y="3374136"/>
            <a:ext cx="676656" cy="292608"/>
          </a:xfrm>
          <a:prstGeom prst="rect">
            <a:avLst/>
          </a:prstGeom>
          <a:noFill/>
          <a:ln/>
        </p:spPr>
        <p:txBody>
          <a:bodyPr wrap="square" lIns="0" tIns="0" rIns="0" bIns="0" rtlCol="0" anchor="ctr">
            <a:normAutofit/>
          </a:bodyPr>
          <a:lstStyle/>
          <a:p>
            <a:pPr marL="0" indent="0" algn="ctr">
              <a:buNone/>
            </a:pPr>
            <a:r>
              <a:rPr lang="en-US" sz="950" b="1" dirty="0">
                <a:solidFill>
                  <a:schemeClr val="bg1"/>
                </a:solidFill>
              </a:rPr>
              <a:t>planning</a:t>
            </a:r>
            <a:endParaRPr lang="en-US" sz="950" dirty="0"/>
          </a:p>
        </p:txBody>
      </p:sp>
      <p:sp>
        <p:nvSpPr>
          <p:cNvPr id="44" name="card-446"/>
          <p:cNvSpPr/>
          <p:nvPr/>
        </p:nvSpPr>
        <p:spPr>
          <a:xfrm>
            <a:off x="4224528" y="3374136"/>
            <a:ext cx="676656" cy="292608"/>
          </a:xfrm>
          <a:prstGeom prst="roundRect">
            <a:avLst>
              <a:gd name="adj" fmla="val 50000"/>
            </a:avLst>
          </a:prstGeom>
          <a:solidFill>
            <a:schemeClr val="accent1"/>
          </a:solidFill>
          <a:ln/>
        </p:spPr>
        <p:txBody>
          <a:bodyPr/>
          <a:lstStyle/>
          <a:p>
            <a:endParaRPr lang="en-US"/>
          </a:p>
        </p:txBody>
      </p:sp>
      <p:sp>
        <p:nvSpPr>
          <p:cNvPr id="45" name="text-447"/>
          <p:cNvSpPr txBox="1"/>
          <p:nvPr/>
        </p:nvSpPr>
        <p:spPr>
          <a:xfrm>
            <a:off x="4224528" y="3374136"/>
            <a:ext cx="676656" cy="292608"/>
          </a:xfrm>
          <a:prstGeom prst="rect">
            <a:avLst/>
          </a:prstGeom>
          <a:noFill/>
          <a:ln/>
        </p:spPr>
        <p:txBody>
          <a:bodyPr wrap="square" lIns="0" tIns="0" rIns="0" bIns="0" rtlCol="0" anchor="ctr">
            <a:normAutofit/>
          </a:bodyPr>
          <a:lstStyle/>
          <a:p>
            <a:pPr marL="0" indent="0" algn="ctr">
              <a:buNone/>
            </a:pPr>
            <a:r>
              <a:rPr lang="en-US" sz="950" b="1" dirty="0">
                <a:solidFill>
                  <a:schemeClr val="bg1"/>
                </a:solidFill>
              </a:rPr>
              <a:t>security</a:t>
            </a:r>
            <a:endParaRPr lang="en-US" sz="950" dirty="0"/>
          </a:p>
        </p:txBody>
      </p:sp>
      <p:sp>
        <p:nvSpPr>
          <p:cNvPr id="46" name="card-448"/>
          <p:cNvSpPr/>
          <p:nvPr/>
        </p:nvSpPr>
        <p:spPr>
          <a:xfrm>
            <a:off x="4992624" y="3374136"/>
            <a:ext cx="676656" cy="292608"/>
          </a:xfrm>
          <a:prstGeom prst="roundRect">
            <a:avLst>
              <a:gd name="adj" fmla="val 50000"/>
            </a:avLst>
          </a:prstGeom>
          <a:solidFill>
            <a:schemeClr val="accent1"/>
          </a:solidFill>
          <a:ln/>
        </p:spPr>
        <p:txBody>
          <a:bodyPr/>
          <a:lstStyle/>
          <a:p>
            <a:endParaRPr lang="en-US"/>
          </a:p>
        </p:txBody>
      </p:sp>
      <p:sp>
        <p:nvSpPr>
          <p:cNvPr id="47" name="text-449"/>
          <p:cNvSpPr txBox="1"/>
          <p:nvPr/>
        </p:nvSpPr>
        <p:spPr>
          <a:xfrm>
            <a:off x="4992624" y="3374136"/>
            <a:ext cx="676656" cy="292608"/>
          </a:xfrm>
          <a:prstGeom prst="rect">
            <a:avLst/>
          </a:prstGeom>
          <a:noFill/>
          <a:ln/>
        </p:spPr>
        <p:txBody>
          <a:bodyPr wrap="square" lIns="0" tIns="0" rIns="0" bIns="0" rtlCol="0" anchor="ctr">
            <a:normAutofit/>
          </a:bodyPr>
          <a:lstStyle/>
          <a:p>
            <a:pPr marL="0" indent="0" algn="ctr">
              <a:buNone/>
            </a:pPr>
            <a:r>
              <a:rPr lang="en-US" sz="950" b="1" dirty="0">
                <a:solidFill>
                  <a:schemeClr val="bg1"/>
                </a:solidFill>
              </a:rPr>
              <a:t>coding</a:t>
            </a:r>
            <a:endParaRPr lang="en-US" sz="950" dirty="0"/>
          </a:p>
        </p:txBody>
      </p:sp>
      <p:sp>
        <p:nvSpPr>
          <p:cNvPr id="48" name="card-450"/>
          <p:cNvSpPr/>
          <p:nvPr/>
        </p:nvSpPr>
        <p:spPr>
          <a:xfrm>
            <a:off x="3456432" y="3758184"/>
            <a:ext cx="676656" cy="292608"/>
          </a:xfrm>
          <a:prstGeom prst="roundRect">
            <a:avLst>
              <a:gd name="adj" fmla="val 50000"/>
            </a:avLst>
          </a:prstGeom>
          <a:solidFill>
            <a:schemeClr val="accent1"/>
          </a:solidFill>
          <a:ln/>
        </p:spPr>
        <p:txBody>
          <a:bodyPr/>
          <a:lstStyle/>
          <a:p>
            <a:endParaRPr lang="en-US"/>
          </a:p>
        </p:txBody>
      </p:sp>
      <p:sp>
        <p:nvSpPr>
          <p:cNvPr id="49" name="text-451"/>
          <p:cNvSpPr txBox="1"/>
          <p:nvPr/>
        </p:nvSpPr>
        <p:spPr>
          <a:xfrm>
            <a:off x="3456432" y="3758184"/>
            <a:ext cx="676656" cy="292608"/>
          </a:xfrm>
          <a:prstGeom prst="rect">
            <a:avLst/>
          </a:prstGeom>
          <a:noFill/>
          <a:ln/>
        </p:spPr>
        <p:txBody>
          <a:bodyPr wrap="square" lIns="0" tIns="0" rIns="0" bIns="0" rtlCol="0" anchor="ctr">
            <a:normAutofit/>
          </a:bodyPr>
          <a:lstStyle/>
          <a:p>
            <a:pPr marL="0" indent="0" algn="ctr">
              <a:buNone/>
            </a:pPr>
            <a:r>
              <a:rPr lang="en-US" sz="950" b="1" dirty="0">
                <a:solidFill>
                  <a:schemeClr val="bg1"/>
                </a:solidFill>
              </a:rPr>
              <a:t>testing</a:t>
            </a:r>
            <a:endParaRPr lang="en-US" sz="950" dirty="0"/>
          </a:p>
        </p:txBody>
      </p:sp>
      <p:sp>
        <p:nvSpPr>
          <p:cNvPr id="50" name="card-452"/>
          <p:cNvSpPr/>
          <p:nvPr/>
        </p:nvSpPr>
        <p:spPr>
          <a:xfrm>
            <a:off x="4224528" y="3758184"/>
            <a:ext cx="1024128" cy="292608"/>
          </a:xfrm>
          <a:prstGeom prst="roundRect">
            <a:avLst>
              <a:gd name="adj" fmla="val 50000"/>
            </a:avLst>
          </a:prstGeom>
          <a:solidFill>
            <a:schemeClr val="accent1"/>
          </a:solidFill>
          <a:ln/>
        </p:spPr>
        <p:txBody>
          <a:bodyPr/>
          <a:lstStyle/>
          <a:p>
            <a:endParaRPr lang="en-US"/>
          </a:p>
        </p:txBody>
      </p:sp>
      <p:sp>
        <p:nvSpPr>
          <p:cNvPr id="51" name="text-453"/>
          <p:cNvSpPr txBox="1"/>
          <p:nvPr/>
        </p:nvSpPr>
        <p:spPr>
          <a:xfrm>
            <a:off x="4224528" y="3758184"/>
            <a:ext cx="1024128" cy="292608"/>
          </a:xfrm>
          <a:prstGeom prst="rect">
            <a:avLst/>
          </a:prstGeom>
          <a:noFill/>
          <a:ln/>
        </p:spPr>
        <p:txBody>
          <a:bodyPr wrap="square" lIns="0" tIns="0" rIns="0" bIns="0" rtlCol="0" anchor="ctr">
            <a:normAutofit/>
          </a:bodyPr>
          <a:lstStyle/>
          <a:p>
            <a:pPr marL="0" indent="0" algn="ctr">
              <a:buNone/>
            </a:pPr>
            <a:r>
              <a:rPr lang="en-US" sz="950" b="1" dirty="0">
                <a:solidFill>
                  <a:schemeClr val="bg1"/>
                </a:solidFill>
              </a:rPr>
              <a:t>documentation</a:t>
            </a:r>
            <a:endParaRPr lang="en-US" sz="950" dirty="0"/>
          </a:p>
        </p:txBody>
      </p:sp>
      <p:sp>
        <p:nvSpPr>
          <p:cNvPr id="52" name="text-454"/>
          <p:cNvSpPr txBox="1"/>
          <p:nvPr/>
        </p:nvSpPr>
        <p:spPr>
          <a:xfrm>
            <a:off x="3456432" y="4178808"/>
            <a:ext cx="2240280" cy="457200"/>
          </a:xfrm>
          <a:prstGeom prst="rect">
            <a:avLst/>
          </a:prstGeom>
          <a:noFill/>
          <a:ln/>
        </p:spPr>
        <p:txBody>
          <a:bodyPr wrap="square" lIns="0" tIns="0" rIns="0" bIns="0" rtlCol="0" anchor="t"/>
          <a:lstStyle/>
          <a:p>
            <a:pPr marL="0" indent="0">
              <a:buNone/>
            </a:pPr>
            <a:r>
              <a:rPr lang="en-US" sz="1150" b="1" dirty="0">
                <a:solidFill>
                  <a:schemeClr val="tx2"/>
                </a:solidFill>
              </a:rPr>
              <a:t>5 agents spawned in order</a:t>
            </a:r>
            <a:endParaRPr lang="en-US" sz="1150" dirty="0"/>
          </a:p>
          <a:p>
            <a:pPr marL="0" indent="0">
              <a:buNone/>
            </a:pPr>
            <a:r>
              <a:rPr lang="en-US" sz="1150" dirty="0">
                <a:solidFill>
                  <a:schemeClr val="tx1"/>
                </a:solidFill>
              </a:rPr>
              <a:t>research and review skipped</a:t>
            </a:r>
            <a:endParaRPr lang="en-US" sz="1150" dirty="0"/>
          </a:p>
        </p:txBody>
      </p:sp>
      <p:sp>
        <p:nvSpPr>
          <p:cNvPr id="53" name="card-455"/>
          <p:cNvSpPr/>
          <p:nvPr/>
        </p:nvSpPr>
        <p:spPr>
          <a:xfrm>
            <a:off x="6089904" y="2212848"/>
            <a:ext cx="2596896" cy="2450592"/>
          </a:xfrm>
          <a:prstGeom prst="roundRect">
            <a:avLst>
              <a:gd name="adj" fmla="val 2985"/>
            </a:avLst>
          </a:prstGeom>
          <a:solidFill>
            <a:schemeClr val="bg2"/>
          </a:solidFill>
          <a:ln w="9525">
            <a:solidFill>
              <a:srgbClr val="D6DAF5"/>
            </a:solidFill>
            <a:prstDash val="solid"/>
          </a:ln>
          <a:effectLst>
            <a:outerShdw blurRad="76200" dist="25400" dir="5400000" algn="bl" rotWithShape="0">
              <a:srgbClr val="000000">
                <a:alpha val="12000"/>
              </a:srgbClr>
            </a:outerShdw>
          </a:effectLst>
        </p:spPr>
        <p:txBody>
          <a:bodyPr/>
          <a:lstStyle/>
          <a:p>
            <a:endParaRPr lang="en-US"/>
          </a:p>
        </p:txBody>
      </p:sp>
      <p:sp>
        <p:nvSpPr>
          <p:cNvPr id="54" name="text-456"/>
          <p:cNvSpPr txBox="1"/>
          <p:nvPr/>
        </p:nvSpPr>
        <p:spPr>
          <a:xfrm>
            <a:off x="6236208" y="2350008"/>
            <a:ext cx="1371600" cy="201168"/>
          </a:xfrm>
          <a:prstGeom prst="rect">
            <a:avLst/>
          </a:prstGeom>
          <a:noFill/>
          <a:ln/>
        </p:spPr>
        <p:txBody>
          <a:bodyPr wrap="square" lIns="0" tIns="0" rIns="0" bIns="0" rtlCol="0" anchor="t"/>
          <a:lstStyle/>
          <a:p>
            <a:pPr marL="0" indent="0">
              <a:buNone/>
            </a:pPr>
            <a:r>
              <a:rPr lang="en-US" sz="1000" b="1" kern="0" spc="100" dirty="0">
                <a:solidFill>
                  <a:schemeClr val="accent1"/>
                </a:solidFill>
              </a:rPr>
              <a:t>CRITERIA</a:t>
            </a:r>
            <a:endParaRPr lang="en-US" sz="1000" dirty="0"/>
          </a:p>
        </p:txBody>
      </p:sp>
      <p:sp>
        <p:nvSpPr>
          <p:cNvPr id="55" name="pill-457"/>
          <p:cNvSpPr/>
          <p:nvPr/>
        </p:nvSpPr>
        <p:spPr>
          <a:xfrm>
            <a:off x="7635240" y="2322576"/>
            <a:ext cx="914400" cy="237744"/>
          </a:xfrm>
          <a:prstGeom prst="roundRect">
            <a:avLst>
              <a:gd name="adj" fmla="val 50000"/>
            </a:avLst>
          </a:prstGeom>
          <a:solidFill>
            <a:schemeClr val="accent1"/>
          </a:solidFill>
          <a:ln/>
        </p:spPr>
        <p:txBody>
          <a:bodyPr/>
          <a:lstStyle/>
          <a:p>
            <a:endParaRPr lang="en-US"/>
          </a:p>
        </p:txBody>
      </p:sp>
      <p:sp>
        <p:nvSpPr>
          <p:cNvPr id="56" name="text-458"/>
          <p:cNvSpPr txBox="1"/>
          <p:nvPr/>
        </p:nvSpPr>
        <p:spPr>
          <a:xfrm>
            <a:off x="7635240" y="2322576"/>
            <a:ext cx="914400" cy="237744"/>
          </a:xfrm>
          <a:prstGeom prst="rect">
            <a:avLst/>
          </a:prstGeom>
          <a:noFill/>
          <a:ln/>
        </p:spPr>
        <p:txBody>
          <a:bodyPr wrap="square" lIns="0" tIns="0" rIns="0" bIns="0" rtlCol="0" anchor="ctr"/>
          <a:lstStyle/>
          <a:p>
            <a:pPr marL="0" indent="0" algn="ctr">
              <a:buNone/>
            </a:pPr>
            <a:r>
              <a:rPr lang="en-US" sz="1000" b="1" kern="0" spc="100" dirty="0">
                <a:solidFill>
                  <a:schemeClr val="bg1"/>
                </a:solidFill>
              </a:rPr>
              <a:t>ACCEPTED</a:t>
            </a:r>
            <a:endParaRPr lang="en-US" sz="1000" dirty="0"/>
          </a:p>
        </p:txBody>
      </p:sp>
      <p:pic>
        <p:nvPicPr>
          <p:cNvPr id="57" name="crit-icon-459" descr="preencoded.png"/>
          <p:cNvPicPr>
            <a:picLocks noChangeAspect="1"/>
          </p:cNvPicPr>
          <p:nvPr/>
        </p:nvPicPr>
        <p:blipFill>
          <a:blip r:embed="rId8"/>
          <a:stretch>
            <a:fillRect/>
          </a:stretch>
        </p:blipFill>
        <p:spPr>
          <a:xfrm>
            <a:off x="6236208" y="2706624"/>
            <a:ext cx="201168" cy="201168"/>
          </a:xfrm>
          <a:prstGeom prst="rect">
            <a:avLst/>
          </a:prstGeom>
        </p:spPr>
      </p:pic>
      <p:sp>
        <p:nvSpPr>
          <p:cNvPr id="58" name="text-460"/>
          <p:cNvSpPr txBox="1"/>
          <p:nvPr/>
        </p:nvSpPr>
        <p:spPr>
          <a:xfrm>
            <a:off x="6547104" y="2670048"/>
            <a:ext cx="2066544" cy="356616"/>
          </a:xfrm>
          <a:prstGeom prst="rect">
            <a:avLst/>
          </a:prstGeom>
          <a:noFill/>
          <a:ln/>
        </p:spPr>
        <p:txBody>
          <a:bodyPr wrap="square" lIns="0" tIns="0" rIns="0" bIns="0" rtlCol="0" anchor="t"/>
          <a:lstStyle/>
          <a:p>
            <a:pPr marL="0" indent="0">
              <a:buNone/>
            </a:pPr>
            <a:r>
              <a:rPr lang="en-US" sz="1050" dirty="0">
                <a:solidFill>
                  <a:schemeClr val="tx1"/>
                </a:solidFill>
              </a:rPr>
              <a:t>Brief mapped to capabilities; one or more agents spawned</a:t>
            </a:r>
            <a:endParaRPr lang="en-US" sz="1050" dirty="0"/>
          </a:p>
        </p:txBody>
      </p:sp>
      <p:pic>
        <p:nvPicPr>
          <p:cNvPr id="59" name="crit-icon-461" descr="preencoded.png"/>
          <p:cNvPicPr>
            <a:picLocks noChangeAspect="1"/>
          </p:cNvPicPr>
          <p:nvPr/>
        </p:nvPicPr>
        <p:blipFill>
          <a:blip r:embed="rId8"/>
          <a:stretch>
            <a:fillRect/>
          </a:stretch>
        </p:blipFill>
        <p:spPr>
          <a:xfrm>
            <a:off x="6236208" y="3099816"/>
            <a:ext cx="201168" cy="201168"/>
          </a:xfrm>
          <a:prstGeom prst="rect">
            <a:avLst/>
          </a:prstGeom>
        </p:spPr>
      </p:pic>
      <p:sp>
        <p:nvSpPr>
          <p:cNvPr id="60" name="text-462"/>
          <p:cNvSpPr txBox="1"/>
          <p:nvPr/>
        </p:nvSpPr>
        <p:spPr>
          <a:xfrm>
            <a:off x="6547104" y="3063240"/>
            <a:ext cx="2066544" cy="356616"/>
          </a:xfrm>
          <a:prstGeom prst="rect">
            <a:avLst/>
          </a:prstGeom>
          <a:noFill/>
          <a:ln/>
        </p:spPr>
        <p:txBody>
          <a:bodyPr wrap="square" lIns="0" tIns="0" rIns="0" bIns="0" rtlCol="0" anchor="t"/>
          <a:lstStyle/>
          <a:p>
            <a:pPr marL="0" indent="0">
              <a:buNone/>
            </a:pPr>
            <a:r>
              <a:rPr lang="en-US" sz="1050" dirty="0">
                <a:solidFill>
                  <a:schemeClr val="tx1"/>
                </a:solidFill>
              </a:rPr>
              <a:t>Unneeded agents skipped with a reason</a:t>
            </a:r>
            <a:endParaRPr lang="en-US" sz="1050" dirty="0"/>
          </a:p>
        </p:txBody>
      </p:sp>
      <p:pic>
        <p:nvPicPr>
          <p:cNvPr id="61" name="crit-icon-463" descr="preencoded.png"/>
          <p:cNvPicPr>
            <a:picLocks noChangeAspect="1"/>
          </p:cNvPicPr>
          <p:nvPr/>
        </p:nvPicPr>
        <p:blipFill>
          <a:blip r:embed="rId8"/>
          <a:stretch>
            <a:fillRect/>
          </a:stretch>
        </p:blipFill>
        <p:spPr>
          <a:xfrm>
            <a:off x="6236208" y="3493008"/>
            <a:ext cx="201168" cy="201168"/>
          </a:xfrm>
          <a:prstGeom prst="rect">
            <a:avLst/>
          </a:prstGeom>
        </p:spPr>
      </p:pic>
      <p:sp>
        <p:nvSpPr>
          <p:cNvPr id="62" name="text-464"/>
          <p:cNvSpPr txBox="1"/>
          <p:nvPr/>
        </p:nvSpPr>
        <p:spPr>
          <a:xfrm>
            <a:off x="6547104" y="3456432"/>
            <a:ext cx="2066544" cy="356616"/>
          </a:xfrm>
          <a:prstGeom prst="rect">
            <a:avLst/>
          </a:prstGeom>
          <a:noFill/>
          <a:ln/>
        </p:spPr>
        <p:txBody>
          <a:bodyPr wrap="square" lIns="0" tIns="0" rIns="0" bIns="0" rtlCol="0" anchor="t"/>
          <a:lstStyle/>
          <a:p>
            <a:pPr marL="0" indent="0">
              <a:buNone/>
            </a:pPr>
            <a:r>
              <a:rPr lang="en-US" sz="1050" dirty="0">
                <a:solidFill>
                  <a:schemeClr val="tx1"/>
                </a:solidFill>
              </a:rPr>
              <a:t>Each spawned agent has its own node ID and status</a:t>
            </a:r>
            <a:endParaRPr lang="en-US" sz="1050" dirty="0"/>
          </a:p>
        </p:txBody>
      </p:sp>
      <p:pic>
        <p:nvPicPr>
          <p:cNvPr id="63" name="crit-icon-465" descr="preencoded.png"/>
          <p:cNvPicPr>
            <a:picLocks noChangeAspect="1"/>
          </p:cNvPicPr>
          <p:nvPr/>
        </p:nvPicPr>
        <p:blipFill>
          <a:blip r:embed="rId8"/>
          <a:stretch>
            <a:fillRect/>
          </a:stretch>
        </p:blipFill>
        <p:spPr>
          <a:xfrm>
            <a:off x="6236208" y="3886200"/>
            <a:ext cx="201168" cy="201168"/>
          </a:xfrm>
          <a:prstGeom prst="rect">
            <a:avLst/>
          </a:prstGeom>
        </p:spPr>
      </p:pic>
      <p:sp>
        <p:nvSpPr>
          <p:cNvPr id="64" name="text-466"/>
          <p:cNvSpPr txBox="1"/>
          <p:nvPr/>
        </p:nvSpPr>
        <p:spPr>
          <a:xfrm>
            <a:off x="6547104" y="3849624"/>
            <a:ext cx="2066544" cy="356616"/>
          </a:xfrm>
          <a:prstGeom prst="rect">
            <a:avLst/>
          </a:prstGeom>
          <a:noFill/>
          <a:ln/>
        </p:spPr>
        <p:txBody>
          <a:bodyPr wrap="square" lIns="0" tIns="0" rIns="0" bIns="0" rtlCol="0" anchor="t"/>
          <a:lstStyle/>
          <a:p>
            <a:pPr marL="0" indent="0">
              <a:buNone/>
            </a:pPr>
            <a:r>
              <a:rPr lang="en-US" sz="1050" dirty="0">
                <a:solidFill>
                  <a:schemeClr val="tx1"/>
                </a:solidFill>
              </a:rPr>
              <a:t>No match: nothing spawned, 422 names the missing capability</a:t>
            </a:r>
            <a:endParaRPr lang="en-US" sz="1050" dirty="0"/>
          </a:p>
        </p:txBody>
      </p:sp>
      <p:pic>
        <p:nvPicPr>
          <p:cNvPr id="65" name="crit-icon-467" descr="preencoded.png"/>
          <p:cNvPicPr>
            <a:picLocks noChangeAspect="1"/>
          </p:cNvPicPr>
          <p:nvPr/>
        </p:nvPicPr>
        <p:blipFill>
          <a:blip r:embed="rId8"/>
          <a:stretch>
            <a:fillRect/>
          </a:stretch>
        </p:blipFill>
        <p:spPr>
          <a:xfrm>
            <a:off x="6236208" y="4279392"/>
            <a:ext cx="201168" cy="201168"/>
          </a:xfrm>
          <a:prstGeom prst="rect">
            <a:avLst/>
          </a:prstGeom>
        </p:spPr>
      </p:pic>
      <p:sp>
        <p:nvSpPr>
          <p:cNvPr id="66" name="text-468"/>
          <p:cNvSpPr txBox="1"/>
          <p:nvPr/>
        </p:nvSpPr>
        <p:spPr>
          <a:xfrm>
            <a:off x="6547104" y="4242816"/>
            <a:ext cx="2066544" cy="356616"/>
          </a:xfrm>
          <a:prstGeom prst="rect">
            <a:avLst/>
          </a:prstGeom>
          <a:noFill/>
          <a:ln/>
        </p:spPr>
        <p:txBody>
          <a:bodyPr wrap="square" lIns="0" tIns="0" rIns="0" bIns="0" rtlCol="0" anchor="t"/>
          <a:lstStyle/>
          <a:p>
            <a:pPr marL="0" indent="0">
              <a:buNone/>
            </a:pPr>
            <a:r>
              <a:rPr lang="en-US" sz="1050" dirty="0">
                <a:solidFill>
                  <a:schemeClr val="tx1"/>
                </a:solidFill>
              </a:rPr>
              <a:t>Empty briefs blocked; vague briefs get a clarifying question</a:t>
            </a:r>
            <a:endParaRPr lang="en-US" sz="1050" dirty="0"/>
          </a:p>
        </p:txBody>
      </p:sp>
      <p:sp>
        <p:nvSpPr>
          <p:cNvPr id="67"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US_03  ·  DYNAMIC TABLE CREATION  ·  8 PTS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A results table for every agent</a:t>
            </a:r>
            <a:endParaRPr lang="en-US" sz="2800" dirty="0"/>
          </a:p>
        </p:txBody>
      </p:sp>
      <p:sp>
        <p:nvSpPr>
          <p:cNvPr id="4" name="card-469"/>
          <p:cNvSpPr/>
          <p:nvPr/>
        </p:nvSpPr>
        <p:spPr>
          <a:xfrm>
            <a:off x="457200" y="1234440"/>
            <a:ext cx="5120640" cy="713232"/>
          </a:xfrm>
          <a:prstGeom prst="roundRect">
            <a:avLst>
              <a:gd name="adj" fmla="val 10256"/>
            </a:avLst>
          </a:prstGeom>
          <a:solidFill>
            <a:schemeClr val="bg1"/>
          </a:solidFill>
          <a:ln w="9525">
            <a:solidFill>
              <a:srgbClr val="E1E5F5"/>
            </a:solidFill>
            <a:prstDash val="solid"/>
          </a:ln>
        </p:spPr>
        <p:txBody>
          <a:bodyPr/>
          <a:lstStyle/>
          <a:p>
            <a:endParaRPr lang="en-US"/>
          </a:p>
        </p:txBody>
      </p:sp>
      <p:pic>
        <p:nvPicPr>
          <p:cNvPr id="5" name="quote-470" descr="preencoded.png"/>
          <p:cNvPicPr>
            <a:picLocks noChangeAspect="1"/>
          </p:cNvPicPr>
          <p:nvPr/>
        </p:nvPicPr>
        <p:blipFill>
          <a:blip r:embed="rId3"/>
          <a:stretch>
            <a:fillRect/>
          </a:stretch>
        </p:blipFill>
        <p:spPr>
          <a:xfrm>
            <a:off x="603504" y="1371600"/>
            <a:ext cx="274320" cy="274320"/>
          </a:xfrm>
          <a:prstGeom prst="rect">
            <a:avLst/>
          </a:prstGeom>
        </p:spPr>
      </p:pic>
      <p:sp>
        <p:nvSpPr>
          <p:cNvPr id="6" name="text-471"/>
          <p:cNvSpPr txBox="1"/>
          <p:nvPr/>
        </p:nvSpPr>
        <p:spPr>
          <a:xfrm>
            <a:off x="1005840" y="1307592"/>
            <a:ext cx="4434840" cy="585216"/>
          </a:xfrm>
          <a:prstGeom prst="rect">
            <a:avLst/>
          </a:prstGeom>
          <a:noFill/>
          <a:ln/>
        </p:spPr>
        <p:txBody>
          <a:bodyPr wrap="square" lIns="0" tIns="0" rIns="0" bIns="0" rtlCol="0" anchor="ctr"/>
          <a:lstStyle/>
          <a:p>
            <a:pPr marL="0" indent="0">
              <a:buNone/>
            </a:pPr>
            <a:r>
              <a:rPr lang="en-US" sz="1200" i="1" dirty="0">
                <a:solidFill>
                  <a:schemeClr val="tx1"/>
                </a:solidFill>
              </a:rPr>
              <a:t>As a data analyst, I want a table created automatically for each agent from its output schema so results are stored without manual database changes.</a:t>
            </a:r>
            <a:endParaRPr lang="en-US" sz="1200" dirty="0"/>
          </a:p>
        </p:txBody>
      </p:sp>
      <p:sp>
        <p:nvSpPr>
          <p:cNvPr id="7" name="text-472"/>
          <p:cNvSpPr txBox="1"/>
          <p:nvPr/>
        </p:nvSpPr>
        <p:spPr>
          <a:xfrm>
            <a:off x="457200" y="2103120"/>
            <a:ext cx="27432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ACCEPTANCE CRITERIA</a:t>
            </a:r>
            <a:endParaRPr lang="en-US" sz="1050" dirty="0"/>
          </a:p>
        </p:txBody>
      </p:sp>
      <p:sp>
        <p:nvSpPr>
          <p:cNvPr id="8" name="pill-473"/>
          <p:cNvSpPr/>
          <p:nvPr/>
        </p:nvSpPr>
        <p:spPr>
          <a:xfrm>
            <a:off x="4434840" y="2075688"/>
            <a:ext cx="1143000" cy="256032"/>
          </a:xfrm>
          <a:prstGeom prst="roundRect">
            <a:avLst>
              <a:gd name="adj" fmla="val 50000"/>
            </a:avLst>
          </a:prstGeom>
          <a:solidFill>
            <a:schemeClr val="accent1"/>
          </a:solidFill>
          <a:ln/>
        </p:spPr>
        <p:txBody>
          <a:bodyPr/>
          <a:lstStyle/>
          <a:p>
            <a:endParaRPr lang="en-US"/>
          </a:p>
        </p:txBody>
      </p:sp>
      <p:sp>
        <p:nvSpPr>
          <p:cNvPr id="9" name="text-474"/>
          <p:cNvSpPr txBox="1"/>
          <p:nvPr/>
        </p:nvSpPr>
        <p:spPr>
          <a:xfrm>
            <a:off x="4434840" y="2075688"/>
            <a:ext cx="1143000"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ACCEPTED</a:t>
            </a:r>
            <a:endParaRPr lang="en-US" sz="1000" dirty="0"/>
          </a:p>
        </p:txBody>
      </p:sp>
      <p:pic>
        <p:nvPicPr>
          <p:cNvPr id="10" name="crit-icon-475" descr="preencoded.png"/>
          <p:cNvPicPr>
            <a:picLocks noChangeAspect="1"/>
          </p:cNvPicPr>
          <p:nvPr/>
        </p:nvPicPr>
        <p:blipFill>
          <a:blip r:embed="rId4"/>
          <a:stretch>
            <a:fillRect/>
          </a:stretch>
        </p:blipFill>
        <p:spPr>
          <a:xfrm>
            <a:off x="457200" y="2487168"/>
            <a:ext cx="201168" cy="201168"/>
          </a:xfrm>
          <a:prstGeom prst="rect">
            <a:avLst/>
          </a:prstGeom>
        </p:spPr>
      </p:pic>
      <p:sp>
        <p:nvSpPr>
          <p:cNvPr id="11" name="text-476"/>
          <p:cNvSpPr txBox="1"/>
          <p:nvPr/>
        </p:nvSpPr>
        <p:spPr>
          <a:xfrm>
            <a:off x="768096" y="2450592"/>
            <a:ext cx="4809744" cy="512064"/>
          </a:xfrm>
          <a:prstGeom prst="rect">
            <a:avLst/>
          </a:prstGeom>
          <a:noFill/>
          <a:ln/>
        </p:spPr>
        <p:txBody>
          <a:bodyPr wrap="square" lIns="0" tIns="0" rIns="0" bIns="0" rtlCol="0" anchor="t"/>
          <a:lstStyle/>
          <a:p>
            <a:pPr marL="0" indent="0">
              <a:buNone/>
            </a:pPr>
            <a:r>
              <a:rPr lang="en-US" sz="1200" dirty="0">
                <a:solidFill>
                  <a:schemeClr val="tx1"/>
                </a:solidFill>
              </a:rPr>
              <a:t>A table is created at enrollment, columns and types from the output schema</a:t>
            </a:r>
            <a:endParaRPr lang="en-US" sz="1200" dirty="0"/>
          </a:p>
        </p:txBody>
      </p:sp>
      <p:pic>
        <p:nvPicPr>
          <p:cNvPr id="12" name="crit-icon-477" descr="preencoded.png"/>
          <p:cNvPicPr>
            <a:picLocks noChangeAspect="1"/>
          </p:cNvPicPr>
          <p:nvPr/>
        </p:nvPicPr>
        <p:blipFill>
          <a:blip r:embed="rId4"/>
          <a:stretch>
            <a:fillRect/>
          </a:stretch>
        </p:blipFill>
        <p:spPr>
          <a:xfrm>
            <a:off x="457200" y="3035808"/>
            <a:ext cx="201168" cy="201168"/>
          </a:xfrm>
          <a:prstGeom prst="rect">
            <a:avLst/>
          </a:prstGeom>
        </p:spPr>
      </p:pic>
      <p:sp>
        <p:nvSpPr>
          <p:cNvPr id="13" name="text-478"/>
          <p:cNvSpPr txBox="1"/>
          <p:nvPr/>
        </p:nvSpPr>
        <p:spPr>
          <a:xfrm>
            <a:off x="768096" y="2999232"/>
            <a:ext cx="4809744" cy="512064"/>
          </a:xfrm>
          <a:prstGeom prst="rect">
            <a:avLst/>
          </a:prstGeom>
          <a:noFill/>
          <a:ln/>
        </p:spPr>
        <p:txBody>
          <a:bodyPr wrap="square" lIns="0" tIns="0" rIns="0" bIns="0" rtlCol="0" anchor="t"/>
          <a:lstStyle/>
          <a:p>
            <a:pPr marL="0" indent="0">
              <a:buNone/>
            </a:pPr>
            <a:r>
              <a:rPr lang="en-US" sz="1200" dirty="0">
                <a:solidFill>
                  <a:schemeClr val="tx1"/>
                </a:solidFill>
              </a:rPr>
              <a:t>Table names generated safely and uniquely; unsafe names or SQL rejected</a:t>
            </a:r>
            <a:endParaRPr lang="en-US" sz="1200" dirty="0"/>
          </a:p>
        </p:txBody>
      </p:sp>
      <p:pic>
        <p:nvPicPr>
          <p:cNvPr id="14" name="crit-icon-479" descr="preencoded.png"/>
          <p:cNvPicPr>
            <a:picLocks noChangeAspect="1"/>
          </p:cNvPicPr>
          <p:nvPr/>
        </p:nvPicPr>
        <p:blipFill>
          <a:blip r:embed="rId4"/>
          <a:stretch>
            <a:fillRect/>
          </a:stretch>
        </p:blipFill>
        <p:spPr>
          <a:xfrm>
            <a:off x="457200" y="3584448"/>
            <a:ext cx="201168" cy="201168"/>
          </a:xfrm>
          <a:prstGeom prst="rect">
            <a:avLst/>
          </a:prstGeom>
        </p:spPr>
      </p:pic>
      <p:sp>
        <p:nvSpPr>
          <p:cNvPr id="15" name="text-480"/>
          <p:cNvSpPr txBox="1"/>
          <p:nvPr/>
        </p:nvSpPr>
        <p:spPr>
          <a:xfrm>
            <a:off x="768096" y="3547872"/>
            <a:ext cx="4809744" cy="512064"/>
          </a:xfrm>
          <a:prstGeom prst="rect">
            <a:avLst/>
          </a:prstGeom>
          <a:noFill/>
          <a:ln/>
        </p:spPr>
        <p:txBody>
          <a:bodyPr wrap="square" lIns="0" tIns="0" rIns="0" bIns="0" rtlCol="0" anchor="t"/>
          <a:lstStyle/>
          <a:p>
            <a:pPr marL="0" indent="0">
              <a:buNone/>
            </a:pPr>
            <a:r>
              <a:rPr lang="en-US" sz="1200" dirty="0">
                <a:solidFill>
                  <a:schemeClr val="tx1"/>
                </a:solidFill>
              </a:rPr>
              <a:t>Running creation twice gives no error and no duplicate table</a:t>
            </a:r>
            <a:endParaRPr lang="en-US" sz="1200" dirty="0"/>
          </a:p>
        </p:txBody>
      </p:sp>
      <p:pic>
        <p:nvPicPr>
          <p:cNvPr id="16" name="crit-icon-481" descr="preencoded.png"/>
          <p:cNvPicPr>
            <a:picLocks noChangeAspect="1"/>
          </p:cNvPicPr>
          <p:nvPr/>
        </p:nvPicPr>
        <p:blipFill>
          <a:blip r:embed="rId4"/>
          <a:stretch>
            <a:fillRect/>
          </a:stretch>
        </p:blipFill>
        <p:spPr>
          <a:xfrm>
            <a:off x="457200" y="4133088"/>
            <a:ext cx="201168" cy="201168"/>
          </a:xfrm>
          <a:prstGeom prst="rect">
            <a:avLst/>
          </a:prstGeom>
        </p:spPr>
      </p:pic>
      <p:sp>
        <p:nvSpPr>
          <p:cNvPr id="17" name="text-482"/>
          <p:cNvSpPr txBox="1"/>
          <p:nvPr/>
        </p:nvSpPr>
        <p:spPr>
          <a:xfrm>
            <a:off x="768096" y="4096512"/>
            <a:ext cx="4809744" cy="512064"/>
          </a:xfrm>
          <a:prstGeom prst="rect">
            <a:avLst/>
          </a:prstGeom>
          <a:noFill/>
          <a:ln/>
        </p:spPr>
        <p:txBody>
          <a:bodyPr wrap="square" lIns="0" tIns="0" rIns="0" bIns="0" rtlCol="0" anchor="t"/>
          <a:lstStyle/>
          <a:p>
            <a:pPr marL="0" indent="0">
              <a:buNone/>
            </a:pPr>
            <a:r>
              <a:rPr lang="en-US" sz="1200" dirty="0">
                <a:solidFill>
                  <a:schemeClr val="tx1"/>
                </a:solidFill>
              </a:rPr>
              <a:t>If table creation fails, enrollment rolls back with nothing half-created</a:t>
            </a:r>
            <a:endParaRPr lang="en-US" sz="1200" dirty="0"/>
          </a:p>
        </p:txBody>
      </p:sp>
      <p:sp>
        <p:nvSpPr>
          <p:cNvPr id="18" name="card-483"/>
          <p:cNvSpPr/>
          <p:nvPr/>
        </p:nvSpPr>
        <p:spPr>
          <a:xfrm>
            <a:off x="5852160" y="1234440"/>
            <a:ext cx="2834640" cy="3429000"/>
          </a:xfrm>
          <a:prstGeom prst="roundRect">
            <a:avLst>
              <a:gd name="adj" fmla="val 2581"/>
            </a:avLst>
          </a:prstGeom>
          <a:solidFill>
            <a:schemeClr val="tx2"/>
          </a:solidFill>
          <a:ln/>
        </p:spPr>
        <p:txBody>
          <a:bodyPr/>
          <a:lstStyle/>
          <a:p>
            <a:endParaRPr lang="en-US"/>
          </a:p>
        </p:txBody>
      </p:sp>
      <p:sp>
        <p:nvSpPr>
          <p:cNvPr id="19" name="badge-484"/>
          <p:cNvSpPr/>
          <p:nvPr/>
        </p:nvSpPr>
        <p:spPr>
          <a:xfrm>
            <a:off x="6016752" y="1389888"/>
            <a:ext cx="402336" cy="402336"/>
          </a:xfrm>
          <a:prstGeom prst="ellipse">
            <a:avLst/>
          </a:prstGeom>
          <a:solidFill>
            <a:schemeClr val="accent2"/>
          </a:solidFill>
          <a:ln/>
        </p:spPr>
        <p:txBody>
          <a:bodyPr/>
          <a:lstStyle/>
          <a:p>
            <a:endParaRPr lang="en-US"/>
          </a:p>
        </p:txBody>
      </p:sp>
      <p:pic>
        <p:nvPicPr>
          <p:cNvPr id="20" name="icon-485" descr="preencoded.png"/>
          <p:cNvPicPr>
            <a:picLocks noChangeAspect="1"/>
          </p:cNvPicPr>
          <p:nvPr/>
        </p:nvPicPr>
        <p:blipFill>
          <a:blip r:embed="rId5"/>
          <a:stretch>
            <a:fillRect/>
          </a:stretch>
        </p:blipFill>
        <p:spPr>
          <a:xfrm>
            <a:off x="6105266" y="1478402"/>
            <a:ext cx="225308" cy="225308"/>
          </a:xfrm>
          <a:prstGeom prst="rect">
            <a:avLst/>
          </a:prstGeom>
        </p:spPr>
      </p:pic>
      <p:sp>
        <p:nvSpPr>
          <p:cNvPr id="21" name="text-486"/>
          <p:cNvSpPr txBox="1"/>
          <p:nvPr/>
        </p:nvSpPr>
        <p:spPr>
          <a:xfrm>
            <a:off x="6510528" y="1389888"/>
            <a:ext cx="2103120" cy="402336"/>
          </a:xfrm>
          <a:prstGeom prst="rect">
            <a:avLst/>
          </a:prstGeom>
          <a:noFill/>
          <a:ln/>
        </p:spPr>
        <p:txBody>
          <a:bodyPr wrap="square" lIns="0" tIns="0" rIns="0" bIns="0" rtlCol="0" anchor="ctr"/>
          <a:lstStyle/>
          <a:p>
            <a:pPr marL="0" indent="0">
              <a:buNone/>
            </a:pPr>
            <a:r>
              <a:rPr lang="en-US" sz="1400" b="1" dirty="0">
                <a:solidFill>
                  <a:schemeClr val="bg1"/>
                </a:solidFill>
              </a:rPr>
              <a:t>How we built it</a:t>
            </a:r>
            <a:endParaRPr lang="en-US" sz="1400" dirty="0"/>
          </a:p>
        </p:txBody>
      </p:sp>
      <p:sp>
        <p:nvSpPr>
          <p:cNvPr id="22" name="text-487"/>
          <p:cNvSpPr txBox="1"/>
          <p:nvPr/>
        </p:nvSpPr>
        <p:spPr>
          <a:xfrm>
            <a:off x="6035040" y="1938528"/>
            <a:ext cx="2514600" cy="21945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bg2"/>
                </a:solidFill>
              </a:rPr>
              <a:t>Enrollment derives a safe table name and stores it on the agent record</a:t>
            </a:r>
            <a:endParaRPr lang="en-US" sz="1100" dirty="0"/>
          </a:p>
          <a:p>
            <a:pPr marL="152400" indent="-152400">
              <a:spcAft>
                <a:spcPts val="500"/>
              </a:spcAft>
              <a:buSzPct val="100000"/>
              <a:buChar char="•"/>
            </a:pPr>
            <a:r>
              <a:rPr lang="en-US" sz="1100" dirty="0">
                <a:solidFill>
                  <a:schemeClr val="bg2"/>
                </a:solidFill>
              </a:rPr>
              <a:t>agent_data.out_&lt;agent&gt;: one table per agent, one typed column per output field</a:t>
            </a:r>
            <a:endParaRPr lang="en-US" sz="1100" dirty="0"/>
          </a:p>
          <a:p>
            <a:pPr marL="152400" indent="-152400">
              <a:spcAft>
                <a:spcPts val="500"/>
              </a:spcAft>
              <a:buSzPct val="100000"/>
              <a:buChar char="•"/>
            </a:pPr>
            <a:r>
              <a:rPr lang="en-US" sz="1100" dirty="0">
                <a:solidFill>
                  <a:schemeClr val="bg2"/>
                </a:solidFill>
              </a:rPr>
              <a:t>CREATE TABLE runs inside the enrollment transaction, so a failure rolls both back</a:t>
            </a:r>
            <a:endParaRPr lang="en-US" sz="1100" dirty="0"/>
          </a:p>
          <a:p>
            <a:pPr marL="152400" indent="-152400">
              <a:spcAft>
                <a:spcPts val="500"/>
              </a:spcAft>
              <a:buSzPct val="100000"/>
              <a:buChar char="•"/>
            </a:pPr>
            <a:r>
              <a:rPr lang="en-US" sz="1100" dirty="0">
                <a:solidFill>
                  <a:schemeClr val="bg2"/>
                </a:solidFill>
              </a:rPr>
              <a:t>Each valid output is written as one row in that agent's own table</a:t>
            </a:r>
            <a:endParaRPr lang="en-US" sz="1100" dirty="0"/>
          </a:p>
        </p:txBody>
      </p:sp>
      <p:sp>
        <p:nvSpPr>
          <p:cNvPr id="23" name="text-488"/>
          <p:cNvSpPr txBox="1"/>
          <p:nvPr/>
        </p:nvSpPr>
        <p:spPr>
          <a:xfrm>
            <a:off x="6035040" y="4224528"/>
            <a:ext cx="2514600" cy="274320"/>
          </a:xfrm>
          <a:prstGeom prst="rect">
            <a:avLst/>
          </a:prstGeom>
          <a:noFill/>
          <a:ln/>
        </p:spPr>
        <p:txBody>
          <a:bodyPr wrap="square" lIns="0" tIns="0" rIns="0" bIns="0" rtlCol="0" anchor="t"/>
          <a:lstStyle/>
          <a:p>
            <a:pPr marL="0" indent="0">
              <a:buNone/>
            </a:pPr>
            <a:r>
              <a:rPr lang="en-US" sz="1000" b="1" dirty="0">
                <a:solidFill>
                  <a:schemeClr val="accent4"/>
                </a:solidFill>
              </a:rPr>
              <a:t>SCRUM-10  ·  SCRUM-12</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US_04  ·  SCHEMA VALIDATION  ·  5 PTS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Bad data never reaches storage</a:t>
            </a:r>
            <a:endParaRPr lang="en-US" sz="2800" dirty="0"/>
          </a:p>
        </p:txBody>
      </p:sp>
      <p:sp>
        <p:nvSpPr>
          <p:cNvPr id="4" name="card-489"/>
          <p:cNvSpPr/>
          <p:nvPr/>
        </p:nvSpPr>
        <p:spPr>
          <a:xfrm>
            <a:off x="457200" y="1234440"/>
            <a:ext cx="5120640" cy="713232"/>
          </a:xfrm>
          <a:prstGeom prst="roundRect">
            <a:avLst>
              <a:gd name="adj" fmla="val 10256"/>
            </a:avLst>
          </a:prstGeom>
          <a:solidFill>
            <a:schemeClr val="bg1"/>
          </a:solidFill>
          <a:ln w="9525">
            <a:solidFill>
              <a:srgbClr val="E1E5F5"/>
            </a:solidFill>
            <a:prstDash val="solid"/>
          </a:ln>
        </p:spPr>
        <p:txBody>
          <a:bodyPr/>
          <a:lstStyle/>
          <a:p>
            <a:endParaRPr lang="en-US"/>
          </a:p>
        </p:txBody>
      </p:sp>
      <p:pic>
        <p:nvPicPr>
          <p:cNvPr id="5" name="quote-490" descr="preencoded.png"/>
          <p:cNvPicPr>
            <a:picLocks noChangeAspect="1"/>
          </p:cNvPicPr>
          <p:nvPr/>
        </p:nvPicPr>
        <p:blipFill>
          <a:blip r:embed="rId3"/>
          <a:stretch>
            <a:fillRect/>
          </a:stretch>
        </p:blipFill>
        <p:spPr>
          <a:xfrm>
            <a:off x="603504" y="1371600"/>
            <a:ext cx="274320" cy="274320"/>
          </a:xfrm>
          <a:prstGeom prst="rect">
            <a:avLst/>
          </a:prstGeom>
        </p:spPr>
      </p:pic>
      <p:sp>
        <p:nvSpPr>
          <p:cNvPr id="6" name="text-491"/>
          <p:cNvSpPr txBox="1"/>
          <p:nvPr/>
        </p:nvSpPr>
        <p:spPr>
          <a:xfrm>
            <a:off x="1005840" y="1307592"/>
            <a:ext cx="4434840" cy="585216"/>
          </a:xfrm>
          <a:prstGeom prst="rect">
            <a:avLst/>
          </a:prstGeom>
          <a:noFill/>
          <a:ln/>
        </p:spPr>
        <p:txBody>
          <a:bodyPr wrap="square" lIns="0" tIns="0" rIns="0" bIns="0" rtlCol="0" anchor="ctr"/>
          <a:lstStyle/>
          <a:p>
            <a:pPr marL="0" indent="0">
              <a:buNone/>
            </a:pPr>
            <a:r>
              <a:rPr lang="en-US" sz="1200" i="1" dirty="0">
                <a:solidFill>
                  <a:schemeClr val="tx1"/>
                </a:solidFill>
              </a:rPr>
              <a:t>As a user, I want agent schemas and outputs validated so that bad data never reaches storage or the next step.</a:t>
            </a:r>
            <a:endParaRPr lang="en-US" sz="1200" dirty="0"/>
          </a:p>
        </p:txBody>
      </p:sp>
      <p:sp>
        <p:nvSpPr>
          <p:cNvPr id="7" name="text-492"/>
          <p:cNvSpPr txBox="1"/>
          <p:nvPr/>
        </p:nvSpPr>
        <p:spPr>
          <a:xfrm>
            <a:off x="457200" y="2103120"/>
            <a:ext cx="27432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ACCEPTANCE CRITERIA</a:t>
            </a:r>
            <a:endParaRPr lang="en-US" sz="1050" dirty="0"/>
          </a:p>
        </p:txBody>
      </p:sp>
      <p:sp>
        <p:nvSpPr>
          <p:cNvPr id="8" name="pill-493"/>
          <p:cNvSpPr/>
          <p:nvPr/>
        </p:nvSpPr>
        <p:spPr>
          <a:xfrm>
            <a:off x="4434840" y="2075688"/>
            <a:ext cx="1143000" cy="256032"/>
          </a:xfrm>
          <a:prstGeom prst="roundRect">
            <a:avLst>
              <a:gd name="adj" fmla="val 50000"/>
            </a:avLst>
          </a:prstGeom>
          <a:solidFill>
            <a:schemeClr val="accent1"/>
          </a:solidFill>
          <a:ln/>
        </p:spPr>
        <p:txBody>
          <a:bodyPr/>
          <a:lstStyle/>
          <a:p>
            <a:endParaRPr lang="en-US"/>
          </a:p>
        </p:txBody>
      </p:sp>
      <p:sp>
        <p:nvSpPr>
          <p:cNvPr id="9" name="text-494"/>
          <p:cNvSpPr txBox="1"/>
          <p:nvPr/>
        </p:nvSpPr>
        <p:spPr>
          <a:xfrm>
            <a:off x="4434840" y="2075688"/>
            <a:ext cx="1143000"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ACCEPTED</a:t>
            </a:r>
            <a:endParaRPr lang="en-US" sz="1000" dirty="0"/>
          </a:p>
        </p:txBody>
      </p:sp>
      <p:pic>
        <p:nvPicPr>
          <p:cNvPr id="10" name="crit-icon-495" descr="preencoded.png"/>
          <p:cNvPicPr>
            <a:picLocks noChangeAspect="1"/>
          </p:cNvPicPr>
          <p:nvPr/>
        </p:nvPicPr>
        <p:blipFill>
          <a:blip r:embed="rId4"/>
          <a:stretch>
            <a:fillRect/>
          </a:stretch>
        </p:blipFill>
        <p:spPr>
          <a:xfrm>
            <a:off x="457200" y="2487168"/>
            <a:ext cx="201168" cy="201168"/>
          </a:xfrm>
          <a:prstGeom prst="rect">
            <a:avLst/>
          </a:prstGeom>
        </p:spPr>
      </p:pic>
      <p:sp>
        <p:nvSpPr>
          <p:cNvPr id="11" name="text-496"/>
          <p:cNvSpPr txBox="1"/>
          <p:nvPr/>
        </p:nvSpPr>
        <p:spPr>
          <a:xfrm>
            <a:off x="768096" y="2450592"/>
            <a:ext cx="4809744" cy="512064"/>
          </a:xfrm>
          <a:prstGeom prst="rect">
            <a:avLst/>
          </a:prstGeom>
          <a:noFill/>
          <a:ln/>
        </p:spPr>
        <p:txBody>
          <a:bodyPr wrap="square" lIns="0" tIns="0" rIns="0" bIns="0" rtlCol="0" anchor="t"/>
          <a:lstStyle/>
          <a:p>
            <a:pPr marL="0" indent="0">
              <a:buNone/>
            </a:pPr>
            <a:r>
              <a:rPr lang="en-US" sz="1200" dirty="0">
                <a:solidFill>
                  <a:schemeClr val="tx1"/>
                </a:solidFill>
              </a:rPr>
              <a:t>Malformed schema rejected at enrollment with an error naming the field</a:t>
            </a:r>
            <a:endParaRPr lang="en-US" sz="1200" dirty="0"/>
          </a:p>
        </p:txBody>
      </p:sp>
      <p:pic>
        <p:nvPicPr>
          <p:cNvPr id="12" name="crit-icon-497" descr="preencoded.png"/>
          <p:cNvPicPr>
            <a:picLocks noChangeAspect="1"/>
          </p:cNvPicPr>
          <p:nvPr/>
        </p:nvPicPr>
        <p:blipFill>
          <a:blip r:embed="rId4"/>
          <a:stretch>
            <a:fillRect/>
          </a:stretch>
        </p:blipFill>
        <p:spPr>
          <a:xfrm>
            <a:off x="457200" y="3035808"/>
            <a:ext cx="201168" cy="201168"/>
          </a:xfrm>
          <a:prstGeom prst="rect">
            <a:avLst/>
          </a:prstGeom>
        </p:spPr>
      </p:pic>
      <p:sp>
        <p:nvSpPr>
          <p:cNvPr id="13" name="text-498"/>
          <p:cNvSpPr txBox="1"/>
          <p:nvPr/>
        </p:nvSpPr>
        <p:spPr>
          <a:xfrm>
            <a:off x="768096" y="2999232"/>
            <a:ext cx="4809744" cy="512064"/>
          </a:xfrm>
          <a:prstGeom prst="rect">
            <a:avLst/>
          </a:prstGeom>
          <a:noFill/>
          <a:ln/>
        </p:spPr>
        <p:txBody>
          <a:bodyPr wrap="square" lIns="0" tIns="0" rIns="0" bIns="0" rtlCol="0" anchor="t"/>
          <a:lstStyle/>
          <a:p>
            <a:pPr marL="0" indent="0">
              <a:buNone/>
            </a:pPr>
            <a:r>
              <a:rPr lang="en-US" sz="1200" dirty="0">
                <a:solidFill>
                  <a:schemeClr val="tx1"/>
                </a:solidFill>
              </a:rPr>
              <a:t>Output validated against the agent's JSON Schema before it is written</a:t>
            </a:r>
            <a:endParaRPr lang="en-US" sz="1200" dirty="0"/>
          </a:p>
        </p:txBody>
      </p:sp>
      <p:pic>
        <p:nvPicPr>
          <p:cNvPr id="14" name="crit-icon-499" descr="preencoded.png"/>
          <p:cNvPicPr>
            <a:picLocks noChangeAspect="1"/>
          </p:cNvPicPr>
          <p:nvPr/>
        </p:nvPicPr>
        <p:blipFill>
          <a:blip r:embed="rId4"/>
          <a:stretch>
            <a:fillRect/>
          </a:stretch>
        </p:blipFill>
        <p:spPr>
          <a:xfrm>
            <a:off x="457200" y="3584448"/>
            <a:ext cx="201168" cy="201168"/>
          </a:xfrm>
          <a:prstGeom prst="rect">
            <a:avLst/>
          </a:prstGeom>
        </p:spPr>
      </p:pic>
      <p:sp>
        <p:nvSpPr>
          <p:cNvPr id="15" name="text-500"/>
          <p:cNvSpPr txBox="1"/>
          <p:nvPr/>
        </p:nvSpPr>
        <p:spPr>
          <a:xfrm>
            <a:off x="768096" y="3547872"/>
            <a:ext cx="4809744" cy="512064"/>
          </a:xfrm>
          <a:prstGeom prst="rect">
            <a:avLst/>
          </a:prstGeom>
          <a:noFill/>
          <a:ln/>
        </p:spPr>
        <p:txBody>
          <a:bodyPr wrap="square" lIns="0" tIns="0" rIns="0" bIns="0" rtlCol="0" anchor="t"/>
          <a:lstStyle/>
          <a:p>
            <a:pPr marL="0" indent="0">
              <a:buNone/>
            </a:pPr>
            <a:r>
              <a:rPr lang="en-US" sz="1200" dirty="0">
                <a:solidFill>
                  <a:schemeClr val="tx1"/>
                </a:solidFill>
              </a:rPr>
              <a:t>Missing field or wrong type: step marked failed, nothing stored</a:t>
            </a:r>
            <a:endParaRPr lang="en-US" sz="1200" dirty="0"/>
          </a:p>
        </p:txBody>
      </p:sp>
      <p:pic>
        <p:nvPicPr>
          <p:cNvPr id="16" name="crit-icon-501" descr="preencoded.png"/>
          <p:cNvPicPr>
            <a:picLocks noChangeAspect="1"/>
          </p:cNvPicPr>
          <p:nvPr/>
        </p:nvPicPr>
        <p:blipFill>
          <a:blip r:embed="rId4"/>
          <a:stretch>
            <a:fillRect/>
          </a:stretch>
        </p:blipFill>
        <p:spPr>
          <a:xfrm>
            <a:off x="457200" y="4133088"/>
            <a:ext cx="201168" cy="201168"/>
          </a:xfrm>
          <a:prstGeom prst="rect">
            <a:avLst/>
          </a:prstGeom>
        </p:spPr>
      </p:pic>
      <p:sp>
        <p:nvSpPr>
          <p:cNvPr id="17" name="text-502"/>
          <p:cNvSpPr txBox="1"/>
          <p:nvPr/>
        </p:nvSpPr>
        <p:spPr>
          <a:xfrm>
            <a:off x="768096" y="4096512"/>
            <a:ext cx="4809744" cy="512064"/>
          </a:xfrm>
          <a:prstGeom prst="rect">
            <a:avLst/>
          </a:prstGeom>
          <a:noFill/>
          <a:ln/>
        </p:spPr>
        <p:txBody>
          <a:bodyPr wrap="square" lIns="0" tIns="0" rIns="0" bIns="0" rtlCol="0" anchor="t"/>
          <a:lstStyle/>
          <a:p>
            <a:pPr marL="0" indent="0">
              <a:buNone/>
            </a:pPr>
            <a:r>
              <a:rPr lang="en-US" sz="1200" dirty="0">
                <a:solidFill>
                  <a:schemeClr val="tx1"/>
                </a:solidFill>
              </a:rPr>
              <a:t>Validation errors logged with agent ID and field path</a:t>
            </a:r>
            <a:endParaRPr lang="en-US" sz="1200" dirty="0"/>
          </a:p>
        </p:txBody>
      </p:sp>
      <p:sp>
        <p:nvSpPr>
          <p:cNvPr id="18" name="card-503"/>
          <p:cNvSpPr/>
          <p:nvPr/>
        </p:nvSpPr>
        <p:spPr>
          <a:xfrm>
            <a:off x="5852160" y="1234440"/>
            <a:ext cx="2834640" cy="3429000"/>
          </a:xfrm>
          <a:prstGeom prst="roundRect">
            <a:avLst>
              <a:gd name="adj" fmla="val 2581"/>
            </a:avLst>
          </a:prstGeom>
          <a:solidFill>
            <a:schemeClr val="tx2"/>
          </a:solidFill>
          <a:ln/>
        </p:spPr>
        <p:txBody>
          <a:bodyPr/>
          <a:lstStyle/>
          <a:p>
            <a:endParaRPr lang="en-US"/>
          </a:p>
        </p:txBody>
      </p:sp>
      <p:sp>
        <p:nvSpPr>
          <p:cNvPr id="19" name="badge-504"/>
          <p:cNvSpPr/>
          <p:nvPr/>
        </p:nvSpPr>
        <p:spPr>
          <a:xfrm>
            <a:off x="6016752" y="1389888"/>
            <a:ext cx="402336" cy="402336"/>
          </a:xfrm>
          <a:prstGeom prst="ellipse">
            <a:avLst/>
          </a:prstGeom>
          <a:solidFill>
            <a:schemeClr val="accent2"/>
          </a:solidFill>
          <a:ln/>
        </p:spPr>
        <p:txBody>
          <a:bodyPr/>
          <a:lstStyle/>
          <a:p>
            <a:endParaRPr lang="en-US"/>
          </a:p>
        </p:txBody>
      </p:sp>
      <p:pic>
        <p:nvPicPr>
          <p:cNvPr id="20" name="icon-505" descr="preencoded.png"/>
          <p:cNvPicPr>
            <a:picLocks noChangeAspect="1"/>
          </p:cNvPicPr>
          <p:nvPr/>
        </p:nvPicPr>
        <p:blipFill>
          <a:blip r:embed="rId5"/>
          <a:stretch>
            <a:fillRect/>
          </a:stretch>
        </p:blipFill>
        <p:spPr>
          <a:xfrm>
            <a:off x="6105266" y="1478402"/>
            <a:ext cx="225308" cy="225308"/>
          </a:xfrm>
          <a:prstGeom prst="rect">
            <a:avLst/>
          </a:prstGeom>
        </p:spPr>
      </p:pic>
      <p:sp>
        <p:nvSpPr>
          <p:cNvPr id="21" name="text-506"/>
          <p:cNvSpPr txBox="1"/>
          <p:nvPr/>
        </p:nvSpPr>
        <p:spPr>
          <a:xfrm>
            <a:off x="6510528" y="1389888"/>
            <a:ext cx="2103120" cy="402336"/>
          </a:xfrm>
          <a:prstGeom prst="rect">
            <a:avLst/>
          </a:prstGeom>
          <a:noFill/>
          <a:ln/>
        </p:spPr>
        <p:txBody>
          <a:bodyPr wrap="square" lIns="0" tIns="0" rIns="0" bIns="0" rtlCol="0" anchor="ctr"/>
          <a:lstStyle/>
          <a:p>
            <a:pPr marL="0" indent="0">
              <a:buNone/>
            </a:pPr>
            <a:r>
              <a:rPr lang="en-US" sz="1400" b="1" dirty="0">
                <a:solidFill>
                  <a:schemeClr val="bg1"/>
                </a:solidFill>
              </a:rPr>
              <a:t>How it works</a:t>
            </a:r>
            <a:endParaRPr lang="en-US" sz="1400" dirty="0"/>
          </a:p>
        </p:txBody>
      </p:sp>
      <p:sp>
        <p:nvSpPr>
          <p:cNvPr id="22" name="text-507"/>
          <p:cNvSpPr txBox="1"/>
          <p:nvPr/>
        </p:nvSpPr>
        <p:spPr>
          <a:xfrm>
            <a:off x="6035040" y="1938528"/>
            <a:ext cx="2514600" cy="21945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bg2"/>
                </a:solidFill>
              </a:rPr>
              <a:t>LLM output is treated as untrusted and parsed against JSON Schema (Draft 2020-12)</a:t>
            </a:r>
            <a:endParaRPr lang="en-US" sz="1100" dirty="0"/>
          </a:p>
          <a:p>
            <a:pPr marL="152400" indent="-152400">
              <a:spcAft>
                <a:spcPts val="500"/>
              </a:spcAft>
              <a:buSzPct val="100000"/>
              <a:buChar char="•"/>
            </a:pPr>
            <a:r>
              <a:rPr lang="en-US" sz="1100" dirty="0">
                <a:solidFill>
                  <a:schemeClr val="bg2"/>
                </a:solidFill>
              </a:rPr>
              <a:t>Errors name the field path, for example findings/0/severity</a:t>
            </a:r>
            <a:endParaRPr lang="en-US" sz="1100" dirty="0"/>
          </a:p>
          <a:p>
            <a:pPr marL="152400" indent="-152400">
              <a:spcAft>
                <a:spcPts val="500"/>
              </a:spcAft>
              <a:buSzPct val="100000"/>
              <a:buChar char="•"/>
            </a:pPr>
            <a:r>
              <a:rPr lang="en-US" sz="1100" dirty="0">
                <a:solidFill>
                  <a:schemeClr val="bg2"/>
                </a:solidFill>
              </a:rPr>
              <a:t>Invalid output is a retryable failure; raw text kept for debugging</a:t>
            </a:r>
            <a:endParaRPr lang="en-US" sz="1100" dirty="0"/>
          </a:p>
          <a:p>
            <a:pPr marL="152400" indent="-152400">
              <a:spcAft>
                <a:spcPts val="500"/>
              </a:spcAft>
              <a:buSzPct val="100000"/>
              <a:buChar char="•"/>
            </a:pPr>
            <a:r>
              <a:rPr lang="en-US" sz="1100" dirty="0">
                <a:solidFill>
                  <a:schemeClr val="bg2"/>
                </a:solidFill>
              </a:rPr>
              <a:t>Workflow plans are validated as DAGs: no cycles, valid edges</a:t>
            </a:r>
            <a:endParaRPr lang="en-US" sz="1100" dirty="0"/>
          </a:p>
        </p:txBody>
      </p:sp>
      <p:sp>
        <p:nvSpPr>
          <p:cNvPr id="23" name="text-508"/>
          <p:cNvSpPr txBox="1"/>
          <p:nvPr/>
        </p:nvSpPr>
        <p:spPr>
          <a:xfrm>
            <a:off x="6035040" y="4224528"/>
            <a:ext cx="2514600" cy="274320"/>
          </a:xfrm>
          <a:prstGeom prst="rect">
            <a:avLst/>
          </a:prstGeom>
          <a:noFill/>
          <a:ln/>
        </p:spPr>
        <p:txBody>
          <a:bodyPr wrap="square" lIns="0" tIns="0" rIns="0" bIns="0" rtlCol="0" anchor="t"/>
          <a:lstStyle/>
          <a:p>
            <a:pPr marL="0" indent="0">
              <a:buNone/>
            </a:pPr>
            <a:r>
              <a:rPr lang="en-US" sz="1000" b="1" dirty="0">
                <a:solidFill>
                  <a:schemeClr val="accent4"/>
                </a:solidFill>
              </a:rPr>
              <a:t>SCRUM-9  ·  SCRUM-11</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US_05  ·  FRONTEND  ·  8 PTS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One workspace, no API calls needed</a:t>
            </a:r>
            <a:endParaRPr lang="en-US" sz="2800" dirty="0"/>
          </a:p>
        </p:txBody>
      </p:sp>
      <p:sp>
        <p:nvSpPr>
          <p:cNvPr id="4" name="revised-tag-509"/>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510"/>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pic>
        <p:nvPicPr>
          <p:cNvPr id="6" name="office-shot-511" descr="/home/claude/work/assets/composer.jpg"/>
          <p:cNvPicPr>
            <a:picLocks noChangeAspect="1"/>
          </p:cNvPicPr>
          <p:nvPr/>
        </p:nvPicPr>
        <p:blipFill>
          <a:blip r:embed="rId3"/>
          <a:stretch>
            <a:fillRect/>
          </a:stretch>
        </p:blipFill>
        <p:spPr>
          <a:xfrm>
            <a:off x="457200" y="1234440"/>
            <a:ext cx="5029200" cy="1956816"/>
          </a:xfrm>
          <a:prstGeom prst="rect">
            <a:avLst/>
          </a:prstGeom>
          <a:effectLst>
            <a:outerShdw blurRad="76200" dist="25400" dir="5400000" algn="bl" rotWithShape="0">
              <a:srgbClr val="000000">
                <a:alpha val="12000"/>
              </a:srgbClr>
            </a:outerShdw>
          </a:effectLst>
        </p:spPr>
      </p:pic>
      <p:pic>
        <p:nvPicPr>
          <p:cNvPr id="7" name="status-shot-512" descr="/home/claude/work/assets/ws_card.jpg"/>
          <p:cNvPicPr>
            <a:picLocks noChangeAspect="1"/>
          </p:cNvPicPr>
          <p:nvPr/>
        </p:nvPicPr>
        <p:blipFill>
          <a:blip r:embed="rId4"/>
          <a:stretch>
            <a:fillRect/>
          </a:stretch>
        </p:blipFill>
        <p:spPr>
          <a:xfrm>
            <a:off x="457200" y="3310128"/>
            <a:ext cx="5029200" cy="1344168"/>
          </a:xfrm>
          <a:prstGeom prst="rect">
            <a:avLst/>
          </a:prstGeom>
          <a:effectLst>
            <a:outerShdw blurRad="76200" dist="25400" dir="5400000" algn="bl" rotWithShape="0">
              <a:srgbClr val="000000">
                <a:alpha val="12000"/>
              </a:srgbClr>
            </a:outerShdw>
          </a:effectLst>
        </p:spPr>
      </p:pic>
      <p:sp>
        <p:nvSpPr>
          <p:cNvPr id="8" name="text-513"/>
          <p:cNvSpPr txBox="1"/>
          <p:nvPr/>
        </p:nvSpPr>
        <p:spPr>
          <a:xfrm>
            <a:off x="5760720" y="1261872"/>
            <a:ext cx="18288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ACCEPTANCE CRITERIA</a:t>
            </a:r>
            <a:endParaRPr lang="en-US" sz="1050" dirty="0"/>
          </a:p>
        </p:txBody>
      </p:sp>
      <p:sp>
        <p:nvSpPr>
          <p:cNvPr id="9" name="pill-514"/>
          <p:cNvSpPr/>
          <p:nvPr/>
        </p:nvSpPr>
        <p:spPr>
          <a:xfrm>
            <a:off x="7635240" y="1234440"/>
            <a:ext cx="1051560" cy="256032"/>
          </a:xfrm>
          <a:prstGeom prst="roundRect">
            <a:avLst>
              <a:gd name="adj" fmla="val 50000"/>
            </a:avLst>
          </a:prstGeom>
          <a:solidFill>
            <a:schemeClr val="accent1"/>
          </a:solidFill>
          <a:ln/>
        </p:spPr>
        <p:txBody>
          <a:bodyPr/>
          <a:lstStyle/>
          <a:p>
            <a:endParaRPr lang="en-US"/>
          </a:p>
        </p:txBody>
      </p:sp>
      <p:sp>
        <p:nvSpPr>
          <p:cNvPr id="10" name="text-515"/>
          <p:cNvSpPr txBox="1"/>
          <p:nvPr/>
        </p:nvSpPr>
        <p:spPr>
          <a:xfrm>
            <a:off x="7635240" y="1234440"/>
            <a:ext cx="1051560"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ACCEPTED</a:t>
            </a:r>
            <a:endParaRPr lang="en-US" sz="1000" dirty="0"/>
          </a:p>
        </p:txBody>
      </p:sp>
      <p:pic>
        <p:nvPicPr>
          <p:cNvPr id="11" name="crit-icon-516" descr="preencoded.png"/>
          <p:cNvPicPr>
            <a:picLocks noChangeAspect="1"/>
          </p:cNvPicPr>
          <p:nvPr/>
        </p:nvPicPr>
        <p:blipFill>
          <a:blip r:embed="rId5"/>
          <a:stretch>
            <a:fillRect/>
          </a:stretch>
        </p:blipFill>
        <p:spPr>
          <a:xfrm>
            <a:off x="5760720" y="1682496"/>
            <a:ext cx="201168" cy="201168"/>
          </a:xfrm>
          <a:prstGeom prst="rect">
            <a:avLst/>
          </a:prstGeom>
        </p:spPr>
      </p:pic>
      <p:sp>
        <p:nvSpPr>
          <p:cNvPr id="12" name="text-517"/>
          <p:cNvSpPr txBox="1"/>
          <p:nvPr/>
        </p:nvSpPr>
        <p:spPr>
          <a:xfrm>
            <a:off x="6071616" y="1645920"/>
            <a:ext cx="2615184" cy="713232"/>
          </a:xfrm>
          <a:prstGeom prst="rect">
            <a:avLst/>
          </a:prstGeom>
          <a:noFill/>
          <a:ln/>
        </p:spPr>
        <p:txBody>
          <a:bodyPr wrap="square" lIns="0" tIns="0" rIns="0" bIns="0" rtlCol="0" anchor="t"/>
          <a:lstStyle/>
          <a:p>
            <a:pPr marL="0" indent="0">
              <a:buNone/>
            </a:pPr>
            <a:r>
              <a:rPr lang="en-US" sz="1200" dirty="0">
                <a:solidFill>
                  <a:schemeClr val="tx1"/>
                </a:solidFill>
              </a:rPr>
              <a:t>/office has a brief box and Start task; empty briefs keep the button disabled</a:t>
            </a:r>
            <a:endParaRPr lang="en-US" sz="1200" dirty="0"/>
          </a:p>
        </p:txBody>
      </p:sp>
      <p:pic>
        <p:nvPicPr>
          <p:cNvPr id="13" name="crit-icon-518" descr="preencoded.png"/>
          <p:cNvPicPr>
            <a:picLocks noChangeAspect="1"/>
          </p:cNvPicPr>
          <p:nvPr/>
        </p:nvPicPr>
        <p:blipFill>
          <a:blip r:embed="rId5"/>
          <a:stretch>
            <a:fillRect/>
          </a:stretch>
        </p:blipFill>
        <p:spPr>
          <a:xfrm>
            <a:off x="5760720" y="2432304"/>
            <a:ext cx="201168" cy="201168"/>
          </a:xfrm>
          <a:prstGeom prst="rect">
            <a:avLst/>
          </a:prstGeom>
        </p:spPr>
      </p:pic>
      <p:sp>
        <p:nvSpPr>
          <p:cNvPr id="14" name="text-519"/>
          <p:cNvSpPr txBox="1"/>
          <p:nvPr/>
        </p:nvSpPr>
        <p:spPr>
          <a:xfrm>
            <a:off x="6071616" y="2395728"/>
            <a:ext cx="2615184" cy="713232"/>
          </a:xfrm>
          <a:prstGeom prst="rect">
            <a:avLst/>
          </a:prstGeom>
          <a:noFill/>
          <a:ln/>
        </p:spPr>
        <p:txBody>
          <a:bodyPr wrap="square" lIns="0" tIns="0" rIns="0" bIns="0" rtlCol="0" anchor="t"/>
          <a:lstStyle/>
          <a:p>
            <a:pPr marL="0" indent="0">
              <a:buNone/>
            </a:pPr>
            <a:r>
              <a:rPr lang="en-US" sz="1200" dirty="0">
                <a:solidFill>
                  <a:schemeClr val="tx1"/>
                </a:solidFill>
              </a:rPr>
              <a:t>Agents page lists enrolled agents with capabilities and status from the API</a:t>
            </a:r>
            <a:endParaRPr lang="en-US" sz="1200" dirty="0"/>
          </a:p>
        </p:txBody>
      </p:sp>
      <p:pic>
        <p:nvPicPr>
          <p:cNvPr id="15" name="crit-icon-520" descr="preencoded.png"/>
          <p:cNvPicPr>
            <a:picLocks noChangeAspect="1"/>
          </p:cNvPicPr>
          <p:nvPr/>
        </p:nvPicPr>
        <p:blipFill>
          <a:blip r:embed="rId5"/>
          <a:stretch>
            <a:fillRect/>
          </a:stretch>
        </p:blipFill>
        <p:spPr>
          <a:xfrm>
            <a:off x="5760720" y="3182112"/>
            <a:ext cx="201168" cy="201168"/>
          </a:xfrm>
          <a:prstGeom prst="rect">
            <a:avLst/>
          </a:prstGeom>
        </p:spPr>
      </p:pic>
      <p:sp>
        <p:nvSpPr>
          <p:cNvPr id="16" name="text-521"/>
          <p:cNvSpPr txBox="1"/>
          <p:nvPr/>
        </p:nvSpPr>
        <p:spPr>
          <a:xfrm>
            <a:off x="6071616" y="3145536"/>
            <a:ext cx="2615184" cy="713232"/>
          </a:xfrm>
          <a:prstGeom prst="rect">
            <a:avLst/>
          </a:prstGeom>
          <a:noFill/>
          <a:ln/>
        </p:spPr>
        <p:txBody>
          <a:bodyPr wrap="square" lIns="0" tIns="0" rIns="0" bIns="0" rtlCol="0" anchor="t"/>
          <a:lstStyle/>
          <a:p>
            <a:pPr marL="0" indent="0">
              <a:buNone/>
            </a:pPr>
            <a:r>
              <a:rPr lang="en-US" sz="1200" dirty="0">
                <a:solidFill>
                  <a:schemeClr val="tx1"/>
                </a:solidFill>
              </a:rPr>
              <a:t>After submit, spawned agents appear with status and selection reason</a:t>
            </a:r>
            <a:endParaRPr lang="en-US" sz="1200" dirty="0"/>
          </a:p>
        </p:txBody>
      </p:sp>
      <p:pic>
        <p:nvPicPr>
          <p:cNvPr id="17" name="crit-icon-522" descr="preencoded.png"/>
          <p:cNvPicPr>
            <a:picLocks noChangeAspect="1"/>
          </p:cNvPicPr>
          <p:nvPr/>
        </p:nvPicPr>
        <p:blipFill>
          <a:blip r:embed="rId5"/>
          <a:stretch>
            <a:fillRect/>
          </a:stretch>
        </p:blipFill>
        <p:spPr>
          <a:xfrm>
            <a:off x="5760720" y="3931920"/>
            <a:ext cx="201168" cy="201168"/>
          </a:xfrm>
          <a:prstGeom prst="rect">
            <a:avLst/>
          </a:prstGeom>
        </p:spPr>
      </p:pic>
      <p:sp>
        <p:nvSpPr>
          <p:cNvPr id="18" name="text-523"/>
          <p:cNvSpPr txBox="1"/>
          <p:nvPr/>
        </p:nvSpPr>
        <p:spPr>
          <a:xfrm>
            <a:off x="6071616" y="3895344"/>
            <a:ext cx="2615184" cy="713232"/>
          </a:xfrm>
          <a:prstGeom prst="rect">
            <a:avLst/>
          </a:prstGeom>
          <a:noFill/>
          <a:ln/>
        </p:spPr>
        <p:txBody>
          <a:bodyPr wrap="square" lIns="0" tIns="0" rIns="0" bIns="0" rtlCol="0" anchor="t"/>
          <a:lstStyle/>
          <a:p>
            <a:pPr marL="0" indent="0">
              <a:buNone/>
            </a:pPr>
            <a:r>
              <a:rPr lang="en-US" sz="1200" dirty="0">
                <a:solidFill>
                  <a:schemeClr val="tx1"/>
                </a:solidFill>
              </a:rPr>
              <a:t>Backend validation and error messages are shown clearly</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1 BACKLOG  ·  TECHNICAL TASKS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Nine tasks that delivered the stories</a:t>
            </a:r>
            <a:endParaRPr lang="en-US" sz="2800" dirty="0"/>
          </a:p>
        </p:txBody>
      </p:sp>
      <p:sp>
        <p:nvSpPr>
          <p:cNvPr id="4" name="card-524"/>
          <p:cNvSpPr/>
          <p:nvPr/>
        </p:nvSpPr>
        <p:spPr>
          <a:xfrm>
            <a:off x="457200"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sp>
        <p:nvSpPr>
          <p:cNvPr id="5" name="badge-525"/>
          <p:cNvSpPr/>
          <p:nvPr/>
        </p:nvSpPr>
        <p:spPr>
          <a:xfrm>
            <a:off x="594360" y="1353312"/>
            <a:ext cx="365760" cy="365760"/>
          </a:xfrm>
          <a:prstGeom prst="ellipse">
            <a:avLst/>
          </a:prstGeom>
          <a:solidFill>
            <a:schemeClr val="accent2"/>
          </a:solidFill>
          <a:ln/>
        </p:spPr>
        <p:txBody>
          <a:bodyPr/>
          <a:lstStyle/>
          <a:p>
            <a:endParaRPr lang="en-US"/>
          </a:p>
        </p:txBody>
      </p:sp>
      <p:pic>
        <p:nvPicPr>
          <p:cNvPr id="6" name="icon-526" descr="preencoded.png"/>
          <p:cNvPicPr>
            <a:picLocks noChangeAspect="1"/>
          </p:cNvPicPr>
          <p:nvPr/>
        </p:nvPicPr>
        <p:blipFill>
          <a:blip r:embed="rId3"/>
          <a:stretch>
            <a:fillRect/>
          </a:stretch>
        </p:blipFill>
        <p:spPr>
          <a:xfrm>
            <a:off x="674827" y="1433779"/>
            <a:ext cx="204826" cy="204826"/>
          </a:xfrm>
          <a:prstGeom prst="rect">
            <a:avLst/>
          </a:prstGeom>
        </p:spPr>
      </p:pic>
      <p:sp>
        <p:nvSpPr>
          <p:cNvPr id="7" name="text-527"/>
          <p:cNvSpPr txBox="1"/>
          <p:nvPr/>
        </p:nvSpPr>
        <p:spPr>
          <a:xfrm>
            <a:off x="1051560" y="1371600"/>
            <a:ext cx="1828800" cy="329184"/>
          </a:xfrm>
          <a:prstGeom prst="rect">
            <a:avLst/>
          </a:prstGeom>
          <a:noFill/>
          <a:ln/>
        </p:spPr>
        <p:txBody>
          <a:bodyPr wrap="square" lIns="0" tIns="0" rIns="0" bIns="0" rtlCol="0" anchor="ctr"/>
          <a:lstStyle/>
          <a:p>
            <a:pPr marL="0" indent="0">
              <a:buNone/>
            </a:pPr>
            <a:r>
              <a:rPr lang="en-US" sz="1400" b="1" dirty="0">
                <a:solidFill>
                  <a:schemeClr val="tx2"/>
                </a:solidFill>
              </a:rPr>
              <a:t>Ship it</a:t>
            </a:r>
            <a:endParaRPr lang="en-US" sz="1400" dirty="0"/>
          </a:p>
        </p:txBody>
      </p:sp>
      <p:sp>
        <p:nvSpPr>
          <p:cNvPr id="8" name="card-528"/>
          <p:cNvSpPr/>
          <p:nvPr/>
        </p:nvSpPr>
        <p:spPr>
          <a:xfrm>
            <a:off x="566928" y="1837944"/>
            <a:ext cx="2377440" cy="822960"/>
          </a:xfrm>
          <a:prstGeom prst="roundRect">
            <a:avLst>
              <a:gd name="adj" fmla="val 6667"/>
            </a:avLst>
          </a:prstGeom>
          <a:solidFill>
            <a:schemeClr val="bg2"/>
          </a:solidFill>
          <a:ln/>
        </p:spPr>
        <p:txBody>
          <a:bodyPr/>
          <a:lstStyle/>
          <a:p>
            <a:endParaRPr lang="en-US"/>
          </a:p>
        </p:txBody>
      </p:sp>
      <p:sp>
        <p:nvSpPr>
          <p:cNvPr id="9" name="text-529"/>
          <p:cNvSpPr txBox="1"/>
          <p:nvPr/>
        </p:nvSpPr>
        <p:spPr>
          <a:xfrm>
            <a:off x="676656" y="19110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SCRUM-5</a:t>
            </a:r>
            <a:endParaRPr lang="en-US" sz="1000" dirty="0"/>
          </a:p>
        </p:txBody>
      </p:sp>
      <p:sp>
        <p:nvSpPr>
          <p:cNvPr id="10" name="text-530"/>
          <p:cNvSpPr txBox="1"/>
          <p:nvPr/>
        </p:nvSpPr>
        <p:spPr>
          <a:xfrm>
            <a:off x="1554480" y="19110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All</a:t>
            </a:r>
            <a:endParaRPr lang="en-US" sz="1000" dirty="0"/>
          </a:p>
        </p:txBody>
      </p:sp>
      <p:sp>
        <p:nvSpPr>
          <p:cNvPr id="11" name="text-531"/>
          <p:cNvSpPr txBox="1"/>
          <p:nvPr/>
        </p:nvSpPr>
        <p:spPr>
          <a:xfrm>
            <a:off x="676656" y="21122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Project root setup</a:t>
            </a:r>
            <a:endParaRPr lang="en-US" sz="1200" dirty="0"/>
          </a:p>
        </p:txBody>
      </p:sp>
      <p:sp>
        <p:nvSpPr>
          <p:cNvPr id="12" name="text-532"/>
          <p:cNvSpPr txBox="1"/>
          <p:nvPr/>
        </p:nvSpPr>
        <p:spPr>
          <a:xfrm>
            <a:off x="676656" y="2350008"/>
            <a:ext cx="2157984" cy="237744"/>
          </a:xfrm>
          <a:prstGeom prst="rect">
            <a:avLst/>
          </a:prstGeom>
          <a:noFill/>
          <a:ln/>
        </p:spPr>
        <p:txBody>
          <a:bodyPr wrap="square" lIns="0" tIns="0" rIns="0" bIns="0" rtlCol="0" anchor="t"/>
          <a:lstStyle/>
          <a:p>
            <a:pPr marL="0" indent="0">
              <a:buNone/>
            </a:pPr>
            <a:r>
              <a:rPr lang="en-US" sz="1000" dirty="0">
                <a:solidFill>
                  <a:schemeClr val="tx1"/>
                </a:solidFill>
              </a:rPr>
              <a:t>.gitignore, .env.example, Makefile, README</a:t>
            </a:r>
            <a:endParaRPr lang="en-US" sz="1000" dirty="0"/>
          </a:p>
        </p:txBody>
      </p:sp>
      <p:sp>
        <p:nvSpPr>
          <p:cNvPr id="13" name="card-533"/>
          <p:cNvSpPr/>
          <p:nvPr/>
        </p:nvSpPr>
        <p:spPr>
          <a:xfrm>
            <a:off x="566928" y="2752344"/>
            <a:ext cx="2377440" cy="822960"/>
          </a:xfrm>
          <a:prstGeom prst="roundRect">
            <a:avLst>
              <a:gd name="adj" fmla="val 6667"/>
            </a:avLst>
          </a:prstGeom>
          <a:solidFill>
            <a:schemeClr val="bg2"/>
          </a:solidFill>
          <a:ln/>
        </p:spPr>
        <p:txBody>
          <a:bodyPr/>
          <a:lstStyle/>
          <a:p>
            <a:endParaRPr lang="en-US"/>
          </a:p>
        </p:txBody>
      </p:sp>
      <p:sp>
        <p:nvSpPr>
          <p:cNvPr id="14" name="text-534"/>
          <p:cNvSpPr txBox="1"/>
          <p:nvPr/>
        </p:nvSpPr>
        <p:spPr>
          <a:xfrm>
            <a:off x="676656" y="28254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SCRUM-6</a:t>
            </a:r>
            <a:endParaRPr lang="en-US" sz="1000" dirty="0"/>
          </a:p>
        </p:txBody>
      </p:sp>
      <p:sp>
        <p:nvSpPr>
          <p:cNvPr id="15" name="text-535"/>
          <p:cNvSpPr txBox="1"/>
          <p:nvPr/>
        </p:nvSpPr>
        <p:spPr>
          <a:xfrm>
            <a:off x="1554480" y="28254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US_05</a:t>
            </a:r>
            <a:endParaRPr lang="en-US" sz="1000" dirty="0"/>
          </a:p>
        </p:txBody>
      </p:sp>
      <p:sp>
        <p:nvSpPr>
          <p:cNvPr id="16" name="text-536"/>
          <p:cNvSpPr txBox="1"/>
          <p:nvPr/>
        </p:nvSpPr>
        <p:spPr>
          <a:xfrm>
            <a:off x="676656" y="30266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Docker Compose environments</a:t>
            </a:r>
            <a:endParaRPr lang="en-US" sz="1200" dirty="0"/>
          </a:p>
        </p:txBody>
      </p:sp>
      <p:sp>
        <p:nvSpPr>
          <p:cNvPr id="17" name="text-537"/>
          <p:cNvSpPr txBox="1"/>
          <p:nvPr/>
        </p:nvSpPr>
        <p:spPr>
          <a:xfrm>
            <a:off x="676656" y="3264408"/>
            <a:ext cx="2157984" cy="237744"/>
          </a:xfrm>
          <a:prstGeom prst="rect">
            <a:avLst/>
          </a:prstGeom>
          <a:noFill/>
          <a:ln/>
        </p:spPr>
        <p:txBody>
          <a:bodyPr wrap="square" lIns="0" tIns="0" rIns="0" bIns="0" rtlCol="0" anchor="t"/>
          <a:lstStyle/>
          <a:p>
            <a:pPr marL="0" indent="0">
              <a:buNone/>
            </a:pPr>
            <a:r>
              <a:rPr lang="en-US" sz="1000" dirty="0">
                <a:solidFill>
                  <a:schemeClr val="tx1"/>
                </a:solidFill>
              </a:rPr>
              <a:t>4 services, health-gated, hot reload</a:t>
            </a:r>
            <a:endParaRPr lang="en-US" sz="1000" dirty="0"/>
          </a:p>
        </p:txBody>
      </p:sp>
      <p:sp>
        <p:nvSpPr>
          <p:cNvPr id="18" name="card-538"/>
          <p:cNvSpPr/>
          <p:nvPr/>
        </p:nvSpPr>
        <p:spPr>
          <a:xfrm>
            <a:off x="566928" y="3666744"/>
            <a:ext cx="2377440" cy="822960"/>
          </a:xfrm>
          <a:prstGeom prst="roundRect">
            <a:avLst>
              <a:gd name="adj" fmla="val 6667"/>
            </a:avLst>
          </a:prstGeom>
          <a:solidFill>
            <a:schemeClr val="bg2"/>
          </a:solidFill>
          <a:ln/>
        </p:spPr>
        <p:txBody>
          <a:bodyPr/>
          <a:lstStyle/>
          <a:p>
            <a:endParaRPr lang="en-US"/>
          </a:p>
        </p:txBody>
      </p:sp>
      <p:sp>
        <p:nvSpPr>
          <p:cNvPr id="19" name="text-539"/>
          <p:cNvSpPr txBox="1"/>
          <p:nvPr/>
        </p:nvSpPr>
        <p:spPr>
          <a:xfrm>
            <a:off x="676656" y="37398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SCRUM-7</a:t>
            </a:r>
            <a:endParaRPr lang="en-US" sz="1000" dirty="0"/>
          </a:p>
        </p:txBody>
      </p:sp>
      <p:sp>
        <p:nvSpPr>
          <p:cNvPr id="20" name="text-540"/>
          <p:cNvSpPr txBox="1"/>
          <p:nvPr/>
        </p:nvSpPr>
        <p:spPr>
          <a:xfrm>
            <a:off x="1554480" y="37398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All</a:t>
            </a:r>
            <a:endParaRPr lang="en-US" sz="1000" dirty="0"/>
          </a:p>
        </p:txBody>
      </p:sp>
      <p:sp>
        <p:nvSpPr>
          <p:cNvPr id="21" name="text-541"/>
          <p:cNvSpPr txBox="1"/>
          <p:nvPr/>
        </p:nvSpPr>
        <p:spPr>
          <a:xfrm>
            <a:off x="676656" y="39410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GitHub Actions CI</a:t>
            </a:r>
            <a:endParaRPr lang="en-US" sz="1200" dirty="0"/>
          </a:p>
        </p:txBody>
      </p:sp>
      <p:sp>
        <p:nvSpPr>
          <p:cNvPr id="22" name="text-542"/>
          <p:cNvSpPr txBox="1"/>
          <p:nvPr/>
        </p:nvSpPr>
        <p:spPr>
          <a:xfrm>
            <a:off x="676656" y="4178808"/>
            <a:ext cx="2157984" cy="237744"/>
          </a:xfrm>
          <a:prstGeom prst="rect">
            <a:avLst/>
          </a:prstGeom>
          <a:noFill/>
          <a:ln/>
        </p:spPr>
        <p:txBody>
          <a:bodyPr wrap="square" lIns="0" tIns="0" rIns="0" bIns="0" rtlCol="0" anchor="t"/>
          <a:lstStyle/>
          <a:p>
            <a:pPr marL="0" indent="0">
              <a:buNone/>
            </a:pPr>
            <a:r>
              <a:rPr lang="en-US" sz="1000" dirty="0">
                <a:solidFill>
                  <a:schemeClr val="tx1"/>
                </a:solidFill>
              </a:rPr>
              <a:t>5 automated jobs on every PR</a:t>
            </a:r>
            <a:endParaRPr lang="en-US" sz="1000" dirty="0"/>
          </a:p>
        </p:txBody>
      </p:sp>
      <p:sp>
        <p:nvSpPr>
          <p:cNvPr id="23" name="card-543"/>
          <p:cNvSpPr/>
          <p:nvPr/>
        </p:nvSpPr>
        <p:spPr>
          <a:xfrm>
            <a:off x="3273552"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sp>
        <p:nvSpPr>
          <p:cNvPr id="24" name="badge-544"/>
          <p:cNvSpPr/>
          <p:nvPr/>
        </p:nvSpPr>
        <p:spPr>
          <a:xfrm>
            <a:off x="3410712" y="1353312"/>
            <a:ext cx="365760" cy="365760"/>
          </a:xfrm>
          <a:prstGeom prst="ellipse">
            <a:avLst/>
          </a:prstGeom>
          <a:solidFill>
            <a:schemeClr val="accent2"/>
          </a:solidFill>
          <a:ln/>
        </p:spPr>
        <p:txBody>
          <a:bodyPr/>
          <a:lstStyle/>
          <a:p>
            <a:endParaRPr lang="en-US"/>
          </a:p>
        </p:txBody>
      </p:sp>
      <p:pic>
        <p:nvPicPr>
          <p:cNvPr id="25" name="icon-545" descr="preencoded.png"/>
          <p:cNvPicPr>
            <a:picLocks noChangeAspect="1"/>
          </p:cNvPicPr>
          <p:nvPr/>
        </p:nvPicPr>
        <p:blipFill>
          <a:blip r:embed="rId4"/>
          <a:stretch>
            <a:fillRect/>
          </a:stretch>
        </p:blipFill>
        <p:spPr>
          <a:xfrm>
            <a:off x="3491179" y="1433779"/>
            <a:ext cx="204826" cy="204826"/>
          </a:xfrm>
          <a:prstGeom prst="rect">
            <a:avLst/>
          </a:prstGeom>
        </p:spPr>
      </p:pic>
      <p:sp>
        <p:nvSpPr>
          <p:cNvPr id="26" name="text-546"/>
          <p:cNvSpPr txBox="1"/>
          <p:nvPr/>
        </p:nvSpPr>
        <p:spPr>
          <a:xfrm>
            <a:off x="3867912" y="1371600"/>
            <a:ext cx="1828800" cy="329184"/>
          </a:xfrm>
          <a:prstGeom prst="rect">
            <a:avLst/>
          </a:prstGeom>
          <a:noFill/>
          <a:ln/>
        </p:spPr>
        <p:txBody>
          <a:bodyPr wrap="square" lIns="0" tIns="0" rIns="0" bIns="0" rtlCol="0" anchor="ctr"/>
          <a:lstStyle/>
          <a:p>
            <a:pPr marL="0" indent="0">
              <a:buNone/>
            </a:pPr>
            <a:r>
              <a:rPr lang="en-US" sz="1400" b="1" dirty="0">
                <a:solidFill>
                  <a:schemeClr val="tx2"/>
                </a:solidFill>
              </a:rPr>
              <a:t>Backend core</a:t>
            </a:r>
            <a:endParaRPr lang="en-US" sz="1400" dirty="0"/>
          </a:p>
        </p:txBody>
      </p:sp>
      <p:sp>
        <p:nvSpPr>
          <p:cNvPr id="27" name="card-547"/>
          <p:cNvSpPr/>
          <p:nvPr/>
        </p:nvSpPr>
        <p:spPr>
          <a:xfrm>
            <a:off x="3383280" y="1837944"/>
            <a:ext cx="2377440" cy="822960"/>
          </a:xfrm>
          <a:prstGeom prst="roundRect">
            <a:avLst>
              <a:gd name="adj" fmla="val 6667"/>
            </a:avLst>
          </a:prstGeom>
          <a:solidFill>
            <a:schemeClr val="bg2"/>
          </a:solidFill>
          <a:ln/>
        </p:spPr>
        <p:txBody>
          <a:bodyPr/>
          <a:lstStyle/>
          <a:p>
            <a:endParaRPr lang="en-US"/>
          </a:p>
        </p:txBody>
      </p:sp>
      <p:sp>
        <p:nvSpPr>
          <p:cNvPr id="28" name="text-548"/>
          <p:cNvSpPr txBox="1"/>
          <p:nvPr/>
        </p:nvSpPr>
        <p:spPr>
          <a:xfrm>
            <a:off x="3493008" y="19110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SCRUM-8</a:t>
            </a:r>
            <a:endParaRPr lang="en-US" sz="1000" dirty="0"/>
          </a:p>
        </p:txBody>
      </p:sp>
      <p:sp>
        <p:nvSpPr>
          <p:cNvPr id="29" name="text-549"/>
          <p:cNvSpPr txBox="1"/>
          <p:nvPr/>
        </p:nvSpPr>
        <p:spPr>
          <a:xfrm>
            <a:off x="4370832" y="19110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All</a:t>
            </a:r>
            <a:endParaRPr lang="en-US" sz="1000" dirty="0"/>
          </a:p>
        </p:txBody>
      </p:sp>
      <p:sp>
        <p:nvSpPr>
          <p:cNvPr id="30" name="text-550"/>
          <p:cNvSpPr txBox="1"/>
          <p:nvPr/>
        </p:nvSpPr>
        <p:spPr>
          <a:xfrm>
            <a:off x="3493008" y="21122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Backend requirements, pyproject</a:t>
            </a:r>
            <a:endParaRPr lang="en-US" sz="1200" dirty="0"/>
          </a:p>
        </p:txBody>
      </p:sp>
      <p:sp>
        <p:nvSpPr>
          <p:cNvPr id="31" name="text-551"/>
          <p:cNvSpPr txBox="1"/>
          <p:nvPr/>
        </p:nvSpPr>
        <p:spPr>
          <a:xfrm>
            <a:off x="3493008" y="2350008"/>
            <a:ext cx="2157984" cy="237744"/>
          </a:xfrm>
          <a:prstGeom prst="rect">
            <a:avLst/>
          </a:prstGeom>
          <a:noFill/>
          <a:ln/>
        </p:spPr>
        <p:txBody>
          <a:bodyPr wrap="square" lIns="0" tIns="0" rIns="0" bIns="0" rtlCol="0" anchor="t"/>
          <a:lstStyle/>
          <a:p>
            <a:pPr marL="0" indent="0">
              <a:buNone/>
            </a:pPr>
            <a:r>
              <a:rPr lang="en-US" sz="1000" dirty="0">
                <a:solidFill>
                  <a:schemeClr val="tx1"/>
                </a:solidFill>
              </a:rPr>
              <a:t>pinned deps, ruff, mypy, pytest</a:t>
            </a:r>
            <a:endParaRPr lang="en-US" sz="1000" dirty="0"/>
          </a:p>
        </p:txBody>
      </p:sp>
      <p:sp>
        <p:nvSpPr>
          <p:cNvPr id="32" name="card-552"/>
          <p:cNvSpPr/>
          <p:nvPr/>
        </p:nvSpPr>
        <p:spPr>
          <a:xfrm>
            <a:off x="3383280" y="2752344"/>
            <a:ext cx="2377440" cy="822960"/>
          </a:xfrm>
          <a:prstGeom prst="roundRect">
            <a:avLst>
              <a:gd name="adj" fmla="val 6667"/>
            </a:avLst>
          </a:prstGeom>
          <a:solidFill>
            <a:schemeClr val="bg2"/>
          </a:solidFill>
          <a:ln/>
        </p:spPr>
        <p:txBody>
          <a:bodyPr/>
          <a:lstStyle/>
          <a:p>
            <a:endParaRPr lang="en-US"/>
          </a:p>
        </p:txBody>
      </p:sp>
      <p:sp>
        <p:nvSpPr>
          <p:cNvPr id="33" name="text-553"/>
          <p:cNvSpPr txBox="1"/>
          <p:nvPr/>
        </p:nvSpPr>
        <p:spPr>
          <a:xfrm>
            <a:off x="3493008" y="28254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SCRUM-9</a:t>
            </a:r>
            <a:endParaRPr lang="en-US" sz="1000" dirty="0"/>
          </a:p>
        </p:txBody>
      </p:sp>
      <p:sp>
        <p:nvSpPr>
          <p:cNvPr id="34" name="text-554"/>
          <p:cNvSpPr txBox="1"/>
          <p:nvPr/>
        </p:nvSpPr>
        <p:spPr>
          <a:xfrm>
            <a:off x="4370832" y="28254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US_02 · US_04</a:t>
            </a:r>
            <a:endParaRPr lang="en-US" sz="1000" dirty="0"/>
          </a:p>
        </p:txBody>
      </p:sp>
      <p:sp>
        <p:nvSpPr>
          <p:cNvPr id="35" name="text-555"/>
          <p:cNvSpPr txBox="1"/>
          <p:nvPr/>
        </p:nvSpPr>
        <p:spPr>
          <a:xfrm>
            <a:off x="3493008" y="30266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Config, logging, middleware</a:t>
            </a:r>
            <a:endParaRPr lang="en-US" sz="1200" dirty="0"/>
          </a:p>
        </p:txBody>
      </p:sp>
      <p:sp>
        <p:nvSpPr>
          <p:cNvPr id="36" name="text-556"/>
          <p:cNvSpPr txBox="1"/>
          <p:nvPr/>
        </p:nvSpPr>
        <p:spPr>
          <a:xfrm>
            <a:off x="3493008" y="3264408"/>
            <a:ext cx="2157984" cy="237744"/>
          </a:xfrm>
          <a:prstGeom prst="rect">
            <a:avLst/>
          </a:prstGeom>
          <a:noFill/>
          <a:ln/>
        </p:spPr>
        <p:txBody>
          <a:bodyPr wrap="square" lIns="0" tIns="0" rIns="0" bIns="0" rtlCol="0" anchor="t"/>
          <a:lstStyle/>
          <a:p>
            <a:pPr marL="0" indent="0">
              <a:buNone/>
            </a:pPr>
            <a:r>
              <a:rPr lang="en-US" sz="1000" dirty="0">
                <a:solidFill>
                  <a:schemeClr val="tx1"/>
                </a:solidFill>
              </a:rPr>
              <a:t>typed settings, structlog, request IDs</a:t>
            </a:r>
            <a:endParaRPr lang="en-US" sz="1000" dirty="0"/>
          </a:p>
        </p:txBody>
      </p:sp>
      <p:sp>
        <p:nvSpPr>
          <p:cNvPr id="37" name="card-557"/>
          <p:cNvSpPr/>
          <p:nvPr/>
        </p:nvSpPr>
        <p:spPr>
          <a:xfrm>
            <a:off x="3383280" y="3666744"/>
            <a:ext cx="2377440" cy="822960"/>
          </a:xfrm>
          <a:prstGeom prst="roundRect">
            <a:avLst>
              <a:gd name="adj" fmla="val 6667"/>
            </a:avLst>
          </a:prstGeom>
          <a:solidFill>
            <a:schemeClr val="bg2"/>
          </a:solidFill>
          <a:ln/>
        </p:spPr>
        <p:txBody>
          <a:bodyPr/>
          <a:lstStyle/>
          <a:p>
            <a:endParaRPr lang="en-US"/>
          </a:p>
        </p:txBody>
      </p:sp>
      <p:sp>
        <p:nvSpPr>
          <p:cNvPr id="38" name="text-558"/>
          <p:cNvSpPr txBox="1"/>
          <p:nvPr/>
        </p:nvSpPr>
        <p:spPr>
          <a:xfrm>
            <a:off x="3493008" y="37398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SCRUM-10</a:t>
            </a:r>
            <a:endParaRPr lang="en-US" sz="1000" dirty="0"/>
          </a:p>
        </p:txBody>
      </p:sp>
      <p:sp>
        <p:nvSpPr>
          <p:cNvPr id="39" name="text-559"/>
          <p:cNvSpPr txBox="1"/>
          <p:nvPr/>
        </p:nvSpPr>
        <p:spPr>
          <a:xfrm>
            <a:off x="4370832" y="37398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US_01 · US_03</a:t>
            </a:r>
            <a:endParaRPr lang="en-US" sz="1000" dirty="0"/>
          </a:p>
        </p:txBody>
      </p:sp>
      <p:sp>
        <p:nvSpPr>
          <p:cNvPr id="40" name="text-560"/>
          <p:cNvSpPr txBox="1"/>
          <p:nvPr/>
        </p:nvSpPr>
        <p:spPr>
          <a:xfrm>
            <a:off x="3493008" y="39410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Database session handling</a:t>
            </a:r>
            <a:endParaRPr lang="en-US" sz="1200" dirty="0"/>
          </a:p>
        </p:txBody>
      </p:sp>
      <p:sp>
        <p:nvSpPr>
          <p:cNvPr id="41" name="text-561"/>
          <p:cNvSpPr txBox="1"/>
          <p:nvPr/>
        </p:nvSpPr>
        <p:spPr>
          <a:xfrm>
            <a:off x="3493008" y="4178808"/>
            <a:ext cx="2157984" cy="237744"/>
          </a:xfrm>
          <a:prstGeom prst="rect">
            <a:avLst/>
          </a:prstGeom>
          <a:noFill/>
          <a:ln/>
        </p:spPr>
        <p:txBody>
          <a:bodyPr wrap="square" lIns="0" tIns="0" rIns="0" bIns="0" rtlCol="0" anchor="t"/>
          <a:lstStyle/>
          <a:p>
            <a:pPr marL="0" indent="0">
              <a:buNone/>
            </a:pPr>
            <a:r>
              <a:rPr lang="en-US" sz="1000" dirty="0">
                <a:solidFill>
                  <a:schemeClr val="tx1"/>
                </a:solidFill>
              </a:rPr>
              <a:t>async engine, sessions, base classes</a:t>
            </a:r>
            <a:endParaRPr lang="en-US" sz="1000" dirty="0"/>
          </a:p>
        </p:txBody>
      </p:sp>
      <p:sp>
        <p:nvSpPr>
          <p:cNvPr id="42" name="card-562"/>
          <p:cNvSpPr/>
          <p:nvPr/>
        </p:nvSpPr>
        <p:spPr>
          <a:xfrm>
            <a:off x="6089904" y="1234440"/>
            <a:ext cx="2596896" cy="3429000"/>
          </a:xfrm>
          <a:prstGeom prst="roundRect">
            <a:avLst>
              <a:gd name="adj" fmla="val 2817"/>
            </a:avLst>
          </a:prstGeom>
          <a:solidFill>
            <a:schemeClr val="bg1"/>
          </a:solidFill>
          <a:ln w="9525">
            <a:solidFill>
              <a:srgbClr val="E1E5F5"/>
            </a:solidFill>
            <a:prstDash val="solid"/>
          </a:ln>
        </p:spPr>
        <p:txBody>
          <a:bodyPr/>
          <a:lstStyle/>
          <a:p>
            <a:endParaRPr lang="en-US"/>
          </a:p>
        </p:txBody>
      </p:sp>
      <p:sp>
        <p:nvSpPr>
          <p:cNvPr id="43" name="badge-563"/>
          <p:cNvSpPr/>
          <p:nvPr/>
        </p:nvSpPr>
        <p:spPr>
          <a:xfrm>
            <a:off x="6227064" y="1353312"/>
            <a:ext cx="365760" cy="365760"/>
          </a:xfrm>
          <a:prstGeom prst="ellipse">
            <a:avLst/>
          </a:prstGeom>
          <a:solidFill>
            <a:schemeClr val="accent2"/>
          </a:solidFill>
          <a:ln/>
        </p:spPr>
        <p:txBody>
          <a:bodyPr/>
          <a:lstStyle/>
          <a:p>
            <a:endParaRPr lang="en-US"/>
          </a:p>
        </p:txBody>
      </p:sp>
      <p:pic>
        <p:nvPicPr>
          <p:cNvPr id="44" name="icon-564" descr="preencoded.png"/>
          <p:cNvPicPr>
            <a:picLocks noChangeAspect="1"/>
          </p:cNvPicPr>
          <p:nvPr/>
        </p:nvPicPr>
        <p:blipFill>
          <a:blip r:embed="rId5"/>
          <a:stretch>
            <a:fillRect/>
          </a:stretch>
        </p:blipFill>
        <p:spPr>
          <a:xfrm>
            <a:off x="6307531" y="1433779"/>
            <a:ext cx="204826" cy="204826"/>
          </a:xfrm>
          <a:prstGeom prst="rect">
            <a:avLst/>
          </a:prstGeom>
        </p:spPr>
      </p:pic>
      <p:sp>
        <p:nvSpPr>
          <p:cNvPr id="45" name="text-565"/>
          <p:cNvSpPr txBox="1"/>
          <p:nvPr/>
        </p:nvSpPr>
        <p:spPr>
          <a:xfrm>
            <a:off x="6684264" y="1371600"/>
            <a:ext cx="1828800" cy="329184"/>
          </a:xfrm>
          <a:prstGeom prst="rect">
            <a:avLst/>
          </a:prstGeom>
          <a:noFill/>
          <a:ln/>
        </p:spPr>
        <p:txBody>
          <a:bodyPr wrap="square" lIns="0" tIns="0" rIns="0" bIns="0" rtlCol="0" anchor="ctr"/>
          <a:lstStyle/>
          <a:p>
            <a:pPr marL="0" indent="0">
              <a:buNone/>
            </a:pPr>
            <a:r>
              <a:rPr lang="en-US" sz="1400" b="1" dirty="0">
                <a:solidFill>
                  <a:schemeClr val="tx2"/>
                </a:solidFill>
              </a:rPr>
              <a:t>Data and design</a:t>
            </a:r>
            <a:endParaRPr lang="en-US" sz="1400" dirty="0"/>
          </a:p>
        </p:txBody>
      </p:sp>
      <p:sp>
        <p:nvSpPr>
          <p:cNvPr id="46" name="card-566"/>
          <p:cNvSpPr/>
          <p:nvPr/>
        </p:nvSpPr>
        <p:spPr>
          <a:xfrm>
            <a:off x="6199632" y="1837944"/>
            <a:ext cx="2377440" cy="822960"/>
          </a:xfrm>
          <a:prstGeom prst="roundRect">
            <a:avLst>
              <a:gd name="adj" fmla="val 6667"/>
            </a:avLst>
          </a:prstGeom>
          <a:solidFill>
            <a:schemeClr val="bg2"/>
          </a:solidFill>
          <a:ln/>
        </p:spPr>
        <p:txBody>
          <a:bodyPr/>
          <a:lstStyle/>
          <a:p>
            <a:endParaRPr lang="en-US"/>
          </a:p>
        </p:txBody>
      </p:sp>
      <p:sp>
        <p:nvSpPr>
          <p:cNvPr id="47" name="text-567"/>
          <p:cNvSpPr txBox="1"/>
          <p:nvPr/>
        </p:nvSpPr>
        <p:spPr>
          <a:xfrm>
            <a:off x="6309360" y="19110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SCRUM-11</a:t>
            </a:r>
            <a:endParaRPr lang="en-US" sz="1000" dirty="0"/>
          </a:p>
        </p:txBody>
      </p:sp>
      <p:sp>
        <p:nvSpPr>
          <p:cNvPr id="48" name="text-568"/>
          <p:cNvSpPr txBox="1"/>
          <p:nvPr/>
        </p:nvSpPr>
        <p:spPr>
          <a:xfrm>
            <a:off x="7187184" y="19110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US_01 · US_04</a:t>
            </a:r>
            <a:endParaRPr lang="en-US" sz="1000" dirty="0"/>
          </a:p>
        </p:txBody>
      </p:sp>
      <p:sp>
        <p:nvSpPr>
          <p:cNvPr id="49" name="text-569"/>
          <p:cNvSpPr txBox="1"/>
          <p:nvPr/>
        </p:nvSpPr>
        <p:spPr>
          <a:xfrm>
            <a:off x="6309360" y="21122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SQLAlchemy models + schemas</a:t>
            </a:r>
            <a:endParaRPr lang="en-US" sz="1200" dirty="0"/>
          </a:p>
        </p:txBody>
      </p:sp>
      <p:sp>
        <p:nvSpPr>
          <p:cNvPr id="50" name="text-570"/>
          <p:cNvSpPr txBox="1"/>
          <p:nvPr/>
        </p:nvSpPr>
        <p:spPr>
          <a:xfrm>
            <a:off x="6309360" y="2350008"/>
            <a:ext cx="2157984" cy="237744"/>
          </a:xfrm>
          <a:prstGeom prst="rect">
            <a:avLst/>
          </a:prstGeom>
          <a:noFill/>
          <a:ln/>
        </p:spPr>
        <p:txBody>
          <a:bodyPr wrap="square" lIns="0" tIns="0" rIns="0" bIns="0" rtlCol="0" anchor="t"/>
          <a:lstStyle/>
          <a:p>
            <a:pPr marL="0" indent="0">
              <a:buNone/>
            </a:pPr>
            <a:r>
              <a:rPr lang="en-US" sz="1000" dirty="0">
                <a:solidFill>
                  <a:schemeClr val="tx1"/>
                </a:solidFill>
              </a:rPr>
              <a:t>10 tables, Pydantic contracts</a:t>
            </a:r>
            <a:endParaRPr lang="en-US" sz="1000" dirty="0"/>
          </a:p>
        </p:txBody>
      </p:sp>
      <p:sp>
        <p:nvSpPr>
          <p:cNvPr id="51" name="card-571"/>
          <p:cNvSpPr/>
          <p:nvPr/>
        </p:nvSpPr>
        <p:spPr>
          <a:xfrm>
            <a:off x="6199632" y="2752344"/>
            <a:ext cx="2377440" cy="822960"/>
          </a:xfrm>
          <a:prstGeom prst="roundRect">
            <a:avLst>
              <a:gd name="adj" fmla="val 6667"/>
            </a:avLst>
          </a:prstGeom>
          <a:solidFill>
            <a:schemeClr val="bg2"/>
          </a:solidFill>
          <a:ln/>
        </p:spPr>
        <p:txBody>
          <a:bodyPr/>
          <a:lstStyle/>
          <a:p>
            <a:endParaRPr lang="en-US"/>
          </a:p>
        </p:txBody>
      </p:sp>
      <p:sp>
        <p:nvSpPr>
          <p:cNvPr id="52" name="text-572"/>
          <p:cNvSpPr txBox="1"/>
          <p:nvPr/>
        </p:nvSpPr>
        <p:spPr>
          <a:xfrm>
            <a:off x="6309360" y="28254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SCRUM-12</a:t>
            </a:r>
            <a:endParaRPr lang="en-US" sz="1000" dirty="0"/>
          </a:p>
        </p:txBody>
      </p:sp>
      <p:sp>
        <p:nvSpPr>
          <p:cNvPr id="53" name="text-573"/>
          <p:cNvSpPr txBox="1"/>
          <p:nvPr/>
        </p:nvSpPr>
        <p:spPr>
          <a:xfrm>
            <a:off x="7187184" y="28254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US_01 · US_03</a:t>
            </a:r>
            <a:endParaRPr lang="en-US" sz="1000" dirty="0"/>
          </a:p>
        </p:txBody>
      </p:sp>
      <p:sp>
        <p:nvSpPr>
          <p:cNvPr id="54" name="text-574"/>
          <p:cNvSpPr txBox="1"/>
          <p:nvPr/>
        </p:nvSpPr>
        <p:spPr>
          <a:xfrm>
            <a:off x="6309360" y="30266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Alembic migrations</a:t>
            </a:r>
            <a:endParaRPr lang="en-US" sz="1200" dirty="0"/>
          </a:p>
        </p:txBody>
      </p:sp>
      <p:sp>
        <p:nvSpPr>
          <p:cNvPr id="55" name="text-575"/>
          <p:cNvSpPr txBox="1"/>
          <p:nvPr/>
        </p:nvSpPr>
        <p:spPr>
          <a:xfrm>
            <a:off x="6309360" y="3264408"/>
            <a:ext cx="2157984" cy="237744"/>
          </a:xfrm>
          <a:prstGeom prst="rect">
            <a:avLst/>
          </a:prstGeom>
          <a:noFill/>
          <a:ln/>
        </p:spPr>
        <p:txBody>
          <a:bodyPr wrap="square" lIns="0" tIns="0" rIns="0" bIns="0" rtlCol="0" anchor="t"/>
          <a:lstStyle/>
          <a:p>
            <a:pPr marL="0" indent="0">
              <a:buNone/>
            </a:pPr>
            <a:r>
              <a:rPr lang="en-US" sz="1000" dirty="0">
                <a:solidFill>
                  <a:schemeClr val="tx1"/>
                </a:solidFill>
              </a:rPr>
              <a:t>versioned, reversible schema</a:t>
            </a:r>
            <a:endParaRPr lang="en-US" sz="1000" dirty="0"/>
          </a:p>
        </p:txBody>
      </p:sp>
      <p:sp>
        <p:nvSpPr>
          <p:cNvPr id="56" name="card-576"/>
          <p:cNvSpPr/>
          <p:nvPr/>
        </p:nvSpPr>
        <p:spPr>
          <a:xfrm>
            <a:off x="6199632" y="3666744"/>
            <a:ext cx="2377440" cy="822960"/>
          </a:xfrm>
          <a:prstGeom prst="roundRect">
            <a:avLst>
              <a:gd name="adj" fmla="val 6667"/>
            </a:avLst>
          </a:prstGeom>
          <a:solidFill>
            <a:schemeClr val="bg2"/>
          </a:solidFill>
          <a:ln/>
        </p:spPr>
        <p:txBody>
          <a:bodyPr/>
          <a:lstStyle/>
          <a:p>
            <a:endParaRPr lang="en-US"/>
          </a:p>
        </p:txBody>
      </p:sp>
      <p:sp>
        <p:nvSpPr>
          <p:cNvPr id="57" name="text-577"/>
          <p:cNvSpPr txBox="1"/>
          <p:nvPr/>
        </p:nvSpPr>
        <p:spPr>
          <a:xfrm>
            <a:off x="6309360" y="3739896"/>
            <a:ext cx="914400" cy="201168"/>
          </a:xfrm>
          <a:prstGeom prst="rect">
            <a:avLst/>
          </a:prstGeom>
          <a:noFill/>
          <a:ln/>
        </p:spPr>
        <p:txBody>
          <a:bodyPr wrap="square" lIns="0" tIns="0" rIns="0" bIns="0" rtlCol="0" anchor="t"/>
          <a:lstStyle/>
          <a:p>
            <a:pPr marL="0" indent="0">
              <a:buNone/>
            </a:pPr>
            <a:r>
              <a:rPr lang="en-US" sz="1000" b="1" dirty="0">
                <a:solidFill>
                  <a:schemeClr val="accent1"/>
                </a:solidFill>
              </a:rPr>
              <a:t>SCRUM-13</a:t>
            </a:r>
            <a:endParaRPr lang="en-US" sz="1000" dirty="0"/>
          </a:p>
        </p:txBody>
      </p:sp>
      <p:sp>
        <p:nvSpPr>
          <p:cNvPr id="58" name="text-578"/>
          <p:cNvSpPr txBox="1"/>
          <p:nvPr/>
        </p:nvSpPr>
        <p:spPr>
          <a:xfrm>
            <a:off x="7187184" y="3739896"/>
            <a:ext cx="1280160" cy="201168"/>
          </a:xfrm>
          <a:prstGeom prst="rect">
            <a:avLst/>
          </a:prstGeom>
          <a:noFill/>
          <a:ln/>
        </p:spPr>
        <p:txBody>
          <a:bodyPr wrap="square" lIns="0" tIns="0" rIns="0" bIns="0" rtlCol="0" anchor="t"/>
          <a:lstStyle/>
          <a:p>
            <a:pPr marL="0" indent="0" algn="r">
              <a:buNone/>
            </a:pPr>
            <a:r>
              <a:rPr lang="en-US" sz="1000" b="1" dirty="0">
                <a:solidFill>
                  <a:schemeClr val="accent1"/>
                </a:solidFill>
              </a:rPr>
              <a:t>→ US_02</a:t>
            </a:r>
            <a:endParaRPr lang="en-US" sz="1000" dirty="0"/>
          </a:p>
        </p:txBody>
      </p:sp>
      <p:sp>
        <p:nvSpPr>
          <p:cNvPr id="59" name="text-579"/>
          <p:cNvSpPr txBox="1"/>
          <p:nvPr/>
        </p:nvSpPr>
        <p:spPr>
          <a:xfrm>
            <a:off x="6309360" y="3941064"/>
            <a:ext cx="2157984" cy="237744"/>
          </a:xfrm>
          <a:prstGeom prst="rect">
            <a:avLst/>
          </a:prstGeom>
          <a:noFill/>
          <a:ln/>
        </p:spPr>
        <p:txBody>
          <a:bodyPr wrap="square" lIns="0" tIns="0" rIns="0" bIns="0" rtlCol="0" anchor="t"/>
          <a:lstStyle/>
          <a:p>
            <a:pPr marL="0" indent="0">
              <a:buNone/>
            </a:pPr>
            <a:r>
              <a:rPr lang="en-US" sz="1200" b="1" dirty="0">
                <a:solidFill>
                  <a:schemeClr val="tx2"/>
                </a:solidFill>
              </a:rPr>
              <a:t>Architecture documentation</a:t>
            </a:r>
            <a:endParaRPr lang="en-US" sz="1200" dirty="0"/>
          </a:p>
        </p:txBody>
      </p:sp>
      <p:sp>
        <p:nvSpPr>
          <p:cNvPr id="60" name="text-580"/>
          <p:cNvSpPr txBox="1"/>
          <p:nvPr/>
        </p:nvSpPr>
        <p:spPr>
          <a:xfrm>
            <a:off x="6309360" y="4178808"/>
            <a:ext cx="2157984" cy="237744"/>
          </a:xfrm>
          <a:prstGeom prst="rect">
            <a:avLst/>
          </a:prstGeom>
          <a:noFill/>
          <a:ln/>
        </p:spPr>
        <p:txBody>
          <a:bodyPr wrap="square" lIns="0" tIns="0" rIns="0" bIns="0" rtlCol="0" anchor="t"/>
          <a:lstStyle/>
          <a:p>
            <a:pPr marL="0" indent="0">
              <a:buNone/>
            </a:pPr>
            <a:r>
              <a:rPr lang="en-US" sz="1000" dirty="0">
                <a:solidFill>
                  <a:schemeClr val="tx1"/>
                </a:solidFill>
              </a:rPr>
              <a:t>architecture.md and ADRs</a:t>
            </a:r>
            <a:endParaRPr lang="en-US" sz="1000" dirty="0"/>
          </a:p>
        </p:txBody>
      </p:sp>
      <p:sp>
        <p:nvSpPr>
          <p:cNvPr id="61"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1  ·  APPLICATION TEST CASES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23 test cases, all passing</a:t>
            </a:r>
            <a:endParaRPr lang="en-US" sz="2800" dirty="0"/>
          </a:p>
        </p:txBody>
      </p:sp>
      <p:graphicFrame>
        <p:nvGraphicFramePr>
          <p:cNvPr id="25" name="tc-table-581"/>
          <p:cNvGraphicFramePr>
            <a:graphicFrameLocks noGrp="1"/>
          </p:cNvGraphicFramePr>
          <p:nvPr>
            <p:extLst>
              <p:ext uri="{D42A27DB-BD31-4B8C-83A1-F6EECF244321}">
                <p14:modId xmlns:p14="http://schemas.microsoft.com/office/powerpoint/2010/main" val="1579011935"/>
              </p:ext>
            </p:extLst>
          </p:nvPr>
        </p:nvGraphicFramePr>
        <p:xfrm>
          <a:off x="457200" y="1143000"/>
          <a:ext cx="4059936" cy="3209544"/>
        </p:xfrm>
        <a:graphic>
          <a:graphicData uri="http://schemas.openxmlformats.org/drawingml/2006/table">
            <a:tbl>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865376">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246888">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TC</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Story</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Scenario</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Type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Enroll an agent with valid details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Enroll with a missing required field</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Enroll a duplicate agent name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Single fast enrollment request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Disable an enrolled agent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TC_06</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Brief needing several capabilities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TC_07</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Brief needing one capability</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TC_08</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Brief with no matching agent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TC_09</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Empty or vague brief</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TC_10</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Same brief submitted twice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10"/>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Selection reason is shown</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11"/>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Table created on enrollment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12"/>
                  </a:ext>
                </a:extLst>
              </a:tr>
            </a:tbl>
          </a:graphicData>
        </a:graphic>
      </p:graphicFrame>
      <p:graphicFrame>
        <p:nvGraphicFramePr>
          <p:cNvPr id="49" name="tc-table-582"/>
          <p:cNvGraphicFramePr>
            <a:graphicFrameLocks noGrp="1"/>
          </p:cNvGraphicFramePr>
          <p:nvPr>
            <p:extLst>
              <p:ext uri="{D42A27DB-BD31-4B8C-83A1-F6EECF244321}">
                <p14:modId xmlns:p14="http://schemas.microsoft.com/office/powerpoint/2010/main" val="1579011935"/>
              </p:ext>
            </p:extLst>
          </p:nvPr>
        </p:nvGraphicFramePr>
        <p:xfrm>
          <a:off x="4626864" y="1143000"/>
          <a:ext cx="4059936" cy="2962656"/>
        </p:xfrm>
        <a:graphic>
          <a:graphicData uri="http://schemas.openxmlformats.org/drawingml/2006/table">
            <a:tbl>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865376">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246888">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TC</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Story</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l">
                        <a:buNone/>
                      </a:pPr>
                      <a:r>
                        <a:rPr lang="en-US" sz="950" b="1" dirty="0">
                          <a:solidFill>
                            <a:schemeClr val="bg1"/>
                          </a:solidFill>
                          <a:latin typeface="Calibri" pitchFamily="34" charset="0"/>
                          <a:ea typeface="Calibri" pitchFamily="34" charset="-122"/>
                          <a:cs typeface="Calibri" pitchFamily="34" charset="-120"/>
                        </a:rPr>
                        <a:t>Scenario</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Type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Unsafe table name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Repeat table creation</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Table creation failure rolls back</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TC_16</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Reject a malformed schema</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TC_17</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Store valid agent output</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TC_18</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Output missing a required field</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TC_19</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US_04</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Output with the wrong data type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TC_20</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Submit a brief from the UI</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TC_21</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Empty brief blocked in the UI</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TC_22</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Agents page matches the API</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dirty="0">
                          <a:solidFill>
                            <a:schemeClr val="accent1"/>
                          </a:solidFill>
                          <a:latin typeface="Calibri" pitchFamily="34" charset="0"/>
                          <a:ea typeface="Calibri" pitchFamily="34" charset="-122"/>
                          <a:cs typeface="Calibri" pitchFamily="34" charset="-120"/>
                        </a:rPr>
                        <a:t>Positive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2"/>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10"/>
                  </a:ext>
                </a:extLst>
              </a:tr>
              <a:tr h="246888">
                <a:tc>
                  <a:txBody>
                    <a:bodyPr/>
                    <a:lstStyle/>
                    <a:p>
                      <a:pPr marL="0" indent="0">
                        <a:buNone/>
                      </a:pPr>
                      <a:r>
                        <a:rPr lang="en-US" sz="950" b="1" dirty="0">
                          <a:solidFill>
                            <a:schemeClr val="accent1"/>
                          </a:solidFill>
                          <a:latin typeface="Calibri" pitchFamily="34" charset="0"/>
                          <a:ea typeface="Calibri" pitchFamily="34" charset="-122"/>
                          <a:cs typeface="Calibri" pitchFamily="34" charset="-120"/>
                        </a:rPr>
                        <a:t>TC_23</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1"/>
                          </a:solidFill>
                          <a:latin typeface="Calibri" pitchFamily="34" charset="0"/>
                          <a:ea typeface="Calibri" pitchFamily="34" charset="-122"/>
                          <a:cs typeface="Calibri" pitchFamily="34" charset="-120"/>
                        </a:rPr>
                        <a:t>US_05</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buNone/>
                      </a:pPr>
                      <a:r>
                        <a:rPr lang="en-US" sz="950" dirty="0">
                          <a:solidFill>
                            <a:schemeClr val="tx2"/>
                          </a:solidFill>
                          <a:latin typeface="Calibri" pitchFamily="34" charset="0"/>
                          <a:ea typeface="Calibri" pitchFamily="34" charset="-122"/>
                          <a:cs typeface="Calibri" pitchFamily="34" charset="-120"/>
                        </a:rPr>
                        <a:t>Backend error shown to the user</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dirty="0">
                          <a:solidFill>
                            <a:schemeClr val="accent6"/>
                          </a:solidFill>
                          <a:latin typeface="Calibri" pitchFamily="34" charset="0"/>
                          <a:ea typeface="Calibri" pitchFamily="34" charset="-122"/>
                          <a:cs typeface="Calibri" pitchFamily="34" charset="-120"/>
                        </a:rPr>
                        <a:t>Negative</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bg1"/>
                    </a:solidFill>
                  </a:tcPr>
                </a:tc>
                <a:tc>
                  <a:txBody>
                    <a:bodyPr/>
                    <a:lstStyle/>
                    <a:p>
                      <a:pPr marL="0" indent="0" algn="ctr">
                        <a:buNone/>
                      </a:pPr>
                      <a:r>
                        <a:rPr lang="en-US" sz="950" b="1" dirty="0">
                          <a:solidFill>
                            <a:schemeClr val="bg1"/>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54864" marR="54864" marT="9144" marB="9144" anchor="ctr">
                    <a:lnL w="6350" cap="flat" cmpd="sng" algn="ctr">
                      <a:solidFill>
                        <a:srgbClr val="D6DAF5"/>
                      </a:solidFill>
                      <a:prstDash val="solid"/>
                      <a:round/>
                      <a:headEnd type="none" w="med" len="med"/>
                      <a:tailEnd type="none" w="med" len="med"/>
                    </a:lnL>
                    <a:lnR w="6350" cap="flat" cmpd="sng" algn="ctr">
                      <a:solidFill>
                        <a:srgbClr val="D6DAF5"/>
                      </a:solidFill>
                      <a:prstDash val="solid"/>
                      <a:round/>
                      <a:headEnd type="none" w="med" len="med"/>
                      <a:tailEnd type="none" w="med" len="med"/>
                    </a:lnR>
                    <a:lnT w="6350" cap="flat" cmpd="sng" algn="ctr">
                      <a:solidFill>
                        <a:srgbClr val="D6DAF5"/>
                      </a:solidFill>
                      <a:prstDash val="solid"/>
                      <a:round/>
                      <a:headEnd type="none" w="med" len="med"/>
                      <a:tailEnd type="none" w="med" len="med"/>
                    </a:lnT>
                    <a:lnB w="6350" cap="flat" cmpd="sng" algn="ctr">
                      <a:solidFill>
                        <a:srgbClr val="D6DAF5"/>
                      </a:solidFill>
                      <a:prstDash val="solid"/>
                      <a:round/>
                      <a:headEnd type="none" w="med" len="med"/>
                      <a:tailEnd type="none" w="med" len="med"/>
                    </a:lnB>
                    <a:solidFill>
                      <a:schemeClr val="accent1"/>
                    </a:solidFill>
                  </a:tcPr>
                </a:tc>
                <a:extLst>
                  <a:ext uri="{0D108BD9-81ED-4DB2-BD59-A6C34878D82A}">
                    <a16:rowId xmlns:a16="http://schemas.microsoft.com/office/drawing/2014/main" val="10011"/>
                  </a:ext>
                </a:extLst>
              </a:tr>
            </a:tbl>
          </a:graphicData>
        </a:graphic>
      </p:graphicFrame>
      <p:sp>
        <p:nvSpPr>
          <p:cNvPr id="6" name="card-583"/>
          <p:cNvSpPr/>
          <p:nvPr/>
        </p:nvSpPr>
        <p:spPr>
          <a:xfrm>
            <a:off x="4626864" y="4206240"/>
            <a:ext cx="4059936" cy="457200"/>
          </a:xfrm>
          <a:prstGeom prst="roundRect">
            <a:avLst>
              <a:gd name="adj" fmla="val 16000"/>
            </a:avLst>
          </a:prstGeom>
          <a:solidFill>
            <a:schemeClr val="tx2"/>
          </a:solidFill>
          <a:ln/>
        </p:spPr>
        <p:txBody>
          <a:bodyPr/>
          <a:lstStyle/>
          <a:p>
            <a:endParaRPr lang="en-US"/>
          </a:p>
        </p:txBody>
      </p:sp>
      <p:sp>
        <p:nvSpPr>
          <p:cNvPr id="7" name="text-584"/>
          <p:cNvSpPr txBox="1"/>
          <p:nvPr/>
        </p:nvSpPr>
        <p:spPr>
          <a:xfrm>
            <a:off x="4754880" y="4206240"/>
            <a:ext cx="3840480" cy="457200"/>
          </a:xfrm>
          <a:prstGeom prst="rect">
            <a:avLst/>
          </a:prstGeom>
          <a:noFill/>
          <a:ln/>
        </p:spPr>
        <p:txBody>
          <a:bodyPr wrap="square" lIns="0" tIns="0" rIns="0" bIns="0" rtlCol="0" anchor="ctr"/>
          <a:lstStyle/>
          <a:p>
            <a:pPr marL="0" indent="0">
              <a:buNone/>
            </a:pPr>
            <a:r>
              <a:rPr lang="en-US" sz="1050" b="1" dirty="0">
                <a:solidFill>
                  <a:schemeClr val="accent4"/>
                </a:solidFill>
              </a:rPr>
              <a:t>23 / 23 passed  </a:t>
            </a:r>
            <a:r>
              <a:rPr lang="en-US" sz="1050" dirty="0">
                <a:solidFill>
                  <a:schemeClr val="bg1"/>
                </a:solidFill>
              </a:rPr>
              <a:t>12 positive · 11 negative · automated in CI on Oct 18, 2026</a:t>
            </a:r>
            <a:endParaRPr lang="en-US" sz="1050" dirty="0"/>
          </a:p>
        </p:txBody>
      </p:sp>
      <p:sp>
        <p:nvSpPr>
          <p:cNvPr id="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1 OUTCOME</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Stories completed and not completed</a:t>
            </a:r>
            <a:endParaRPr lang="en-US" sz="2800" dirty="0"/>
          </a:p>
        </p:txBody>
      </p:sp>
      <p:sp>
        <p:nvSpPr>
          <p:cNvPr id="4" name="card-585"/>
          <p:cNvSpPr/>
          <p:nvPr/>
        </p:nvSpPr>
        <p:spPr>
          <a:xfrm>
            <a:off x="457200" y="1188720"/>
            <a:ext cx="5120640" cy="3474720"/>
          </a:xfrm>
          <a:prstGeom prst="roundRect">
            <a:avLst>
              <a:gd name="adj" fmla="val 2105"/>
            </a:avLst>
          </a:prstGeom>
          <a:solidFill>
            <a:schemeClr val="bg1"/>
          </a:solidFill>
          <a:ln w="9525">
            <a:solidFill>
              <a:srgbClr val="E1E5F5"/>
            </a:solidFill>
            <a:prstDash val="solid"/>
          </a:ln>
        </p:spPr>
        <p:txBody>
          <a:bodyPr/>
          <a:lstStyle/>
          <a:p>
            <a:endParaRPr lang="en-US"/>
          </a:p>
        </p:txBody>
      </p:sp>
      <p:sp>
        <p:nvSpPr>
          <p:cNvPr id="5" name="text-586"/>
          <p:cNvSpPr txBox="1"/>
          <p:nvPr/>
        </p:nvSpPr>
        <p:spPr>
          <a:xfrm>
            <a:off x="640080" y="1325880"/>
            <a:ext cx="27432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COMPLETED</a:t>
            </a:r>
            <a:endParaRPr lang="en-US" sz="1050" dirty="0"/>
          </a:p>
        </p:txBody>
      </p:sp>
      <p:sp>
        <p:nvSpPr>
          <p:cNvPr id="6" name="text-587"/>
          <p:cNvSpPr txBox="1"/>
          <p:nvPr/>
        </p:nvSpPr>
        <p:spPr>
          <a:xfrm>
            <a:off x="3291840" y="1325880"/>
            <a:ext cx="2103120" cy="219456"/>
          </a:xfrm>
          <a:prstGeom prst="rect">
            <a:avLst/>
          </a:prstGeom>
          <a:noFill/>
          <a:ln/>
        </p:spPr>
        <p:txBody>
          <a:bodyPr wrap="square" lIns="0" tIns="0" rIns="0" bIns="0" rtlCol="0" anchor="t"/>
          <a:lstStyle/>
          <a:p>
            <a:pPr marL="0" indent="0" algn="r">
              <a:buNone/>
            </a:pPr>
            <a:r>
              <a:rPr lang="en-US" sz="1050" b="1" dirty="0">
                <a:solidFill>
                  <a:schemeClr val="tx2"/>
                </a:solidFill>
              </a:rPr>
              <a:t>5 stories · 42 pts</a:t>
            </a:r>
            <a:endParaRPr lang="en-US" sz="1050" dirty="0"/>
          </a:p>
        </p:txBody>
      </p:sp>
      <p:sp>
        <p:nvSpPr>
          <p:cNvPr id="7" name="card-588"/>
          <p:cNvSpPr/>
          <p:nvPr/>
        </p:nvSpPr>
        <p:spPr>
          <a:xfrm>
            <a:off x="640080" y="1691640"/>
            <a:ext cx="4754880" cy="475488"/>
          </a:xfrm>
          <a:prstGeom prst="roundRect">
            <a:avLst>
              <a:gd name="adj" fmla="val 11538"/>
            </a:avLst>
          </a:prstGeom>
          <a:solidFill>
            <a:schemeClr val="bg2"/>
          </a:solidFill>
          <a:ln/>
        </p:spPr>
        <p:txBody>
          <a:bodyPr/>
          <a:lstStyle/>
          <a:p>
            <a:endParaRPr lang="en-US"/>
          </a:p>
        </p:txBody>
      </p:sp>
      <p:pic>
        <p:nvPicPr>
          <p:cNvPr id="8" name="ok-589" descr="preencoded.png"/>
          <p:cNvPicPr>
            <a:picLocks noChangeAspect="1"/>
          </p:cNvPicPr>
          <p:nvPr/>
        </p:nvPicPr>
        <p:blipFill>
          <a:blip r:embed="rId3"/>
          <a:stretch>
            <a:fillRect/>
          </a:stretch>
        </p:blipFill>
        <p:spPr>
          <a:xfrm>
            <a:off x="777240" y="1819656"/>
            <a:ext cx="219456" cy="219456"/>
          </a:xfrm>
          <a:prstGeom prst="rect">
            <a:avLst/>
          </a:prstGeom>
        </p:spPr>
      </p:pic>
      <p:sp>
        <p:nvSpPr>
          <p:cNvPr id="9" name="text-590"/>
          <p:cNvSpPr txBox="1"/>
          <p:nvPr/>
        </p:nvSpPr>
        <p:spPr>
          <a:xfrm>
            <a:off x="1115568" y="1691640"/>
            <a:ext cx="685800" cy="475488"/>
          </a:xfrm>
          <a:prstGeom prst="rect">
            <a:avLst/>
          </a:prstGeom>
          <a:noFill/>
          <a:ln/>
        </p:spPr>
        <p:txBody>
          <a:bodyPr wrap="square" lIns="0" tIns="0" rIns="0" bIns="0" rtlCol="0" anchor="ctr"/>
          <a:lstStyle/>
          <a:p>
            <a:pPr marL="0" indent="0">
              <a:buNone/>
            </a:pPr>
            <a:r>
              <a:rPr lang="en-US" sz="1200" b="1" dirty="0">
                <a:solidFill>
                  <a:schemeClr val="accent1"/>
                </a:solidFill>
              </a:rPr>
              <a:t>US_01</a:t>
            </a:r>
            <a:endParaRPr lang="en-US" sz="1200" dirty="0"/>
          </a:p>
        </p:txBody>
      </p:sp>
      <p:sp>
        <p:nvSpPr>
          <p:cNvPr id="10" name="text-591"/>
          <p:cNvSpPr txBox="1"/>
          <p:nvPr/>
        </p:nvSpPr>
        <p:spPr>
          <a:xfrm>
            <a:off x="1828800" y="1691640"/>
            <a:ext cx="2651760" cy="475488"/>
          </a:xfrm>
          <a:prstGeom prst="rect">
            <a:avLst/>
          </a:prstGeom>
          <a:noFill/>
          <a:ln/>
        </p:spPr>
        <p:txBody>
          <a:bodyPr wrap="square" lIns="0" tIns="0" rIns="0" bIns="0" rtlCol="0" anchor="ctr"/>
          <a:lstStyle/>
          <a:p>
            <a:pPr marL="0" indent="0">
              <a:buNone/>
            </a:pPr>
            <a:r>
              <a:rPr lang="en-US" sz="1250" b="1" dirty="0">
                <a:solidFill>
                  <a:schemeClr val="tx2"/>
                </a:solidFill>
              </a:rPr>
              <a:t>Agent Enrollment</a:t>
            </a:r>
            <a:endParaRPr lang="en-US" sz="1250" dirty="0"/>
          </a:p>
        </p:txBody>
      </p:sp>
      <p:sp>
        <p:nvSpPr>
          <p:cNvPr id="11" name="text-592"/>
          <p:cNvSpPr txBox="1"/>
          <p:nvPr/>
        </p:nvSpPr>
        <p:spPr>
          <a:xfrm>
            <a:off x="4480560" y="1691640"/>
            <a:ext cx="777240" cy="475488"/>
          </a:xfrm>
          <a:prstGeom prst="rect">
            <a:avLst/>
          </a:prstGeom>
          <a:noFill/>
          <a:ln/>
        </p:spPr>
        <p:txBody>
          <a:bodyPr wrap="square" lIns="0" tIns="0" rIns="0" bIns="0" rtlCol="0" anchor="ctr"/>
          <a:lstStyle/>
          <a:p>
            <a:pPr marL="0" indent="0" algn="r">
              <a:buNone/>
            </a:pPr>
            <a:r>
              <a:rPr lang="en-US" sz="1200" dirty="0">
                <a:solidFill>
                  <a:schemeClr val="tx1"/>
                </a:solidFill>
              </a:rPr>
              <a:t>8 pts</a:t>
            </a:r>
            <a:endParaRPr lang="en-US" sz="1200" dirty="0"/>
          </a:p>
        </p:txBody>
      </p:sp>
      <p:sp>
        <p:nvSpPr>
          <p:cNvPr id="12" name="card-593"/>
          <p:cNvSpPr/>
          <p:nvPr/>
        </p:nvSpPr>
        <p:spPr>
          <a:xfrm>
            <a:off x="640080" y="2267712"/>
            <a:ext cx="4754880" cy="475488"/>
          </a:xfrm>
          <a:prstGeom prst="roundRect">
            <a:avLst>
              <a:gd name="adj" fmla="val 11538"/>
            </a:avLst>
          </a:prstGeom>
          <a:solidFill>
            <a:schemeClr val="bg2"/>
          </a:solidFill>
          <a:ln/>
        </p:spPr>
        <p:txBody>
          <a:bodyPr/>
          <a:lstStyle/>
          <a:p>
            <a:endParaRPr lang="en-US"/>
          </a:p>
        </p:txBody>
      </p:sp>
      <p:pic>
        <p:nvPicPr>
          <p:cNvPr id="13" name="ok-594" descr="preencoded.png"/>
          <p:cNvPicPr>
            <a:picLocks noChangeAspect="1"/>
          </p:cNvPicPr>
          <p:nvPr/>
        </p:nvPicPr>
        <p:blipFill>
          <a:blip r:embed="rId3"/>
          <a:stretch>
            <a:fillRect/>
          </a:stretch>
        </p:blipFill>
        <p:spPr>
          <a:xfrm>
            <a:off x="777240" y="2395728"/>
            <a:ext cx="219456" cy="219456"/>
          </a:xfrm>
          <a:prstGeom prst="rect">
            <a:avLst/>
          </a:prstGeom>
        </p:spPr>
      </p:pic>
      <p:sp>
        <p:nvSpPr>
          <p:cNvPr id="14" name="text-595"/>
          <p:cNvSpPr txBox="1"/>
          <p:nvPr/>
        </p:nvSpPr>
        <p:spPr>
          <a:xfrm>
            <a:off x="1115568" y="2267712"/>
            <a:ext cx="685800" cy="475488"/>
          </a:xfrm>
          <a:prstGeom prst="rect">
            <a:avLst/>
          </a:prstGeom>
          <a:noFill/>
          <a:ln/>
        </p:spPr>
        <p:txBody>
          <a:bodyPr wrap="square" lIns="0" tIns="0" rIns="0" bIns="0" rtlCol="0" anchor="ctr"/>
          <a:lstStyle/>
          <a:p>
            <a:pPr marL="0" indent="0">
              <a:buNone/>
            </a:pPr>
            <a:r>
              <a:rPr lang="en-US" sz="1200" b="1" dirty="0">
                <a:solidFill>
                  <a:schemeClr val="accent1"/>
                </a:solidFill>
              </a:rPr>
              <a:t>US_02</a:t>
            </a:r>
            <a:endParaRPr lang="en-US" sz="1200" dirty="0"/>
          </a:p>
        </p:txBody>
      </p:sp>
      <p:sp>
        <p:nvSpPr>
          <p:cNvPr id="15" name="text-596"/>
          <p:cNvSpPr txBox="1"/>
          <p:nvPr/>
        </p:nvSpPr>
        <p:spPr>
          <a:xfrm>
            <a:off x="1828800" y="2267712"/>
            <a:ext cx="2651760" cy="475488"/>
          </a:xfrm>
          <a:prstGeom prst="rect">
            <a:avLst/>
          </a:prstGeom>
          <a:noFill/>
          <a:ln/>
        </p:spPr>
        <p:txBody>
          <a:bodyPr wrap="square" lIns="0" tIns="0" rIns="0" bIns="0" rtlCol="0" anchor="ctr"/>
          <a:lstStyle/>
          <a:p>
            <a:pPr marL="0" indent="0">
              <a:buNone/>
            </a:pPr>
            <a:r>
              <a:rPr lang="en-US" sz="1250" b="1" dirty="0">
                <a:solidFill>
                  <a:schemeClr val="tx2"/>
                </a:solidFill>
              </a:rPr>
              <a:t>Agent Spawning</a:t>
            </a:r>
            <a:endParaRPr lang="en-US" sz="1250" dirty="0"/>
          </a:p>
        </p:txBody>
      </p:sp>
      <p:sp>
        <p:nvSpPr>
          <p:cNvPr id="16" name="text-597"/>
          <p:cNvSpPr txBox="1"/>
          <p:nvPr/>
        </p:nvSpPr>
        <p:spPr>
          <a:xfrm>
            <a:off x="4480560" y="2267712"/>
            <a:ext cx="777240" cy="475488"/>
          </a:xfrm>
          <a:prstGeom prst="rect">
            <a:avLst/>
          </a:prstGeom>
          <a:noFill/>
          <a:ln/>
        </p:spPr>
        <p:txBody>
          <a:bodyPr wrap="square" lIns="0" tIns="0" rIns="0" bIns="0" rtlCol="0" anchor="ctr"/>
          <a:lstStyle/>
          <a:p>
            <a:pPr marL="0" indent="0" algn="r">
              <a:buNone/>
            </a:pPr>
            <a:r>
              <a:rPr lang="en-US" sz="1200" dirty="0">
                <a:solidFill>
                  <a:schemeClr val="tx1"/>
                </a:solidFill>
              </a:rPr>
              <a:t>13 pts</a:t>
            </a:r>
            <a:endParaRPr lang="en-US" sz="1200" dirty="0"/>
          </a:p>
        </p:txBody>
      </p:sp>
      <p:sp>
        <p:nvSpPr>
          <p:cNvPr id="17" name="card-598"/>
          <p:cNvSpPr/>
          <p:nvPr/>
        </p:nvSpPr>
        <p:spPr>
          <a:xfrm>
            <a:off x="640080" y="2843784"/>
            <a:ext cx="4754880" cy="475488"/>
          </a:xfrm>
          <a:prstGeom prst="roundRect">
            <a:avLst>
              <a:gd name="adj" fmla="val 11538"/>
            </a:avLst>
          </a:prstGeom>
          <a:solidFill>
            <a:schemeClr val="bg2"/>
          </a:solidFill>
          <a:ln/>
        </p:spPr>
        <p:txBody>
          <a:bodyPr/>
          <a:lstStyle/>
          <a:p>
            <a:endParaRPr lang="en-US"/>
          </a:p>
        </p:txBody>
      </p:sp>
      <p:pic>
        <p:nvPicPr>
          <p:cNvPr id="18" name="ok-599" descr="preencoded.png"/>
          <p:cNvPicPr>
            <a:picLocks noChangeAspect="1"/>
          </p:cNvPicPr>
          <p:nvPr/>
        </p:nvPicPr>
        <p:blipFill>
          <a:blip r:embed="rId3"/>
          <a:stretch>
            <a:fillRect/>
          </a:stretch>
        </p:blipFill>
        <p:spPr>
          <a:xfrm>
            <a:off x="777240" y="2971800"/>
            <a:ext cx="219456" cy="219456"/>
          </a:xfrm>
          <a:prstGeom prst="rect">
            <a:avLst/>
          </a:prstGeom>
        </p:spPr>
      </p:pic>
      <p:sp>
        <p:nvSpPr>
          <p:cNvPr id="19" name="text-600"/>
          <p:cNvSpPr txBox="1"/>
          <p:nvPr/>
        </p:nvSpPr>
        <p:spPr>
          <a:xfrm>
            <a:off x="1115568" y="2843784"/>
            <a:ext cx="685800" cy="475488"/>
          </a:xfrm>
          <a:prstGeom prst="rect">
            <a:avLst/>
          </a:prstGeom>
          <a:noFill/>
          <a:ln/>
        </p:spPr>
        <p:txBody>
          <a:bodyPr wrap="square" lIns="0" tIns="0" rIns="0" bIns="0" rtlCol="0" anchor="ctr"/>
          <a:lstStyle/>
          <a:p>
            <a:pPr marL="0" indent="0">
              <a:buNone/>
            </a:pPr>
            <a:r>
              <a:rPr lang="en-US" sz="1200" b="1" dirty="0">
                <a:solidFill>
                  <a:schemeClr val="accent1"/>
                </a:solidFill>
              </a:rPr>
              <a:t>US_03</a:t>
            </a:r>
            <a:endParaRPr lang="en-US" sz="1200" dirty="0"/>
          </a:p>
        </p:txBody>
      </p:sp>
      <p:sp>
        <p:nvSpPr>
          <p:cNvPr id="20" name="text-601"/>
          <p:cNvSpPr txBox="1"/>
          <p:nvPr/>
        </p:nvSpPr>
        <p:spPr>
          <a:xfrm>
            <a:off x="1828800" y="2843784"/>
            <a:ext cx="2651760" cy="475488"/>
          </a:xfrm>
          <a:prstGeom prst="rect">
            <a:avLst/>
          </a:prstGeom>
          <a:noFill/>
          <a:ln/>
        </p:spPr>
        <p:txBody>
          <a:bodyPr wrap="square" lIns="0" tIns="0" rIns="0" bIns="0" rtlCol="0" anchor="ctr"/>
          <a:lstStyle/>
          <a:p>
            <a:pPr marL="0" indent="0">
              <a:buNone/>
            </a:pPr>
            <a:r>
              <a:rPr lang="en-US" sz="1250" b="1" dirty="0">
                <a:solidFill>
                  <a:schemeClr val="tx2"/>
                </a:solidFill>
              </a:rPr>
              <a:t>Dynamic Table Creation</a:t>
            </a:r>
            <a:endParaRPr lang="en-US" sz="1250" dirty="0"/>
          </a:p>
        </p:txBody>
      </p:sp>
      <p:sp>
        <p:nvSpPr>
          <p:cNvPr id="21" name="text-602"/>
          <p:cNvSpPr txBox="1"/>
          <p:nvPr/>
        </p:nvSpPr>
        <p:spPr>
          <a:xfrm>
            <a:off x="4480560" y="2843784"/>
            <a:ext cx="777240" cy="475488"/>
          </a:xfrm>
          <a:prstGeom prst="rect">
            <a:avLst/>
          </a:prstGeom>
          <a:noFill/>
          <a:ln/>
        </p:spPr>
        <p:txBody>
          <a:bodyPr wrap="square" lIns="0" tIns="0" rIns="0" bIns="0" rtlCol="0" anchor="ctr"/>
          <a:lstStyle/>
          <a:p>
            <a:pPr marL="0" indent="0" algn="r">
              <a:buNone/>
            </a:pPr>
            <a:r>
              <a:rPr lang="en-US" sz="1200" dirty="0">
                <a:solidFill>
                  <a:schemeClr val="tx1"/>
                </a:solidFill>
              </a:rPr>
              <a:t>8 pts</a:t>
            </a:r>
            <a:endParaRPr lang="en-US" sz="1200" dirty="0"/>
          </a:p>
        </p:txBody>
      </p:sp>
      <p:sp>
        <p:nvSpPr>
          <p:cNvPr id="22" name="card-603"/>
          <p:cNvSpPr/>
          <p:nvPr/>
        </p:nvSpPr>
        <p:spPr>
          <a:xfrm>
            <a:off x="640080" y="3419856"/>
            <a:ext cx="4754880" cy="475488"/>
          </a:xfrm>
          <a:prstGeom prst="roundRect">
            <a:avLst>
              <a:gd name="adj" fmla="val 11538"/>
            </a:avLst>
          </a:prstGeom>
          <a:solidFill>
            <a:schemeClr val="bg2"/>
          </a:solidFill>
          <a:ln/>
        </p:spPr>
        <p:txBody>
          <a:bodyPr/>
          <a:lstStyle/>
          <a:p>
            <a:endParaRPr lang="en-US"/>
          </a:p>
        </p:txBody>
      </p:sp>
      <p:pic>
        <p:nvPicPr>
          <p:cNvPr id="23" name="ok-604" descr="preencoded.png"/>
          <p:cNvPicPr>
            <a:picLocks noChangeAspect="1"/>
          </p:cNvPicPr>
          <p:nvPr/>
        </p:nvPicPr>
        <p:blipFill>
          <a:blip r:embed="rId3"/>
          <a:stretch>
            <a:fillRect/>
          </a:stretch>
        </p:blipFill>
        <p:spPr>
          <a:xfrm>
            <a:off x="777240" y="3547872"/>
            <a:ext cx="219456" cy="219456"/>
          </a:xfrm>
          <a:prstGeom prst="rect">
            <a:avLst/>
          </a:prstGeom>
        </p:spPr>
      </p:pic>
      <p:sp>
        <p:nvSpPr>
          <p:cNvPr id="24" name="text-605"/>
          <p:cNvSpPr txBox="1"/>
          <p:nvPr/>
        </p:nvSpPr>
        <p:spPr>
          <a:xfrm>
            <a:off x="1115568" y="3419856"/>
            <a:ext cx="685800" cy="475488"/>
          </a:xfrm>
          <a:prstGeom prst="rect">
            <a:avLst/>
          </a:prstGeom>
          <a:noFill/>
          <a:ln/>
        </p:spPr>
        <p:txBody>
          <a:bodyPr wrap="square" lIns="0" tIns="0" rIns="0" bIns="0" rtlCol="0" anchor="ctr"/>
          <a:lstStyle/>
          <a:p>
            <a:pPr marL="0" indent="0">
              <a:buNone/>
            </a:pPr>
            <a:r>
              <a:rPr lang="en-US" sz="1200" b="1" dirty="0">
                <a:solidFill>
                  <a:schemeClr val="accent1"/>
                </a:solidFill>
              </a:rPr>
              <a:t>US_04</a:t>
            </a:r>
            <a:endParaRPr lang="en-US" sz="1200" dirty="0"/>
          </a:p>
        </p:txBody>
      </p:sp>
      <p:sp>
        <p:nvSpPr>
          <p:cNvPr id="25" name="text-606"/>
          <p:cNvSpPr txBox="1"/>
          <p:nvPr/>
        </p:nvSpPr>
        <p:spPr>
          <a:xfrm>
            <a:off x="1828800" y="3419856"/>
            <a:ext cx="2651760" cy="475488"/>
          </a:xfrm>
          <a:prstGeom prst="rect">
            <a:avLst/>
          </a:prstGeom>
          <a:noFill/>
          <a:ln/>
        </p:spPr>
        <p:txBody>
          <a:bodyPr wrap="square" lIns="0" tIns="0" rIns="0" bIns="0" rtlCol="0" anchor="ctr"/>
          <a:lstStyle/>
          <a:p>
            <a:pPr marL="0" indent="0">
              <a:buNone/>
            </a:pPr>
            <a:r>
              <a:rPr lang="en-US" sz="1250" b="1" dirty="0">
                <a:solidFill>
                  <a:schemeClr val="tx2"/>
                </a:solidFill>
              </a:rPr>
              <a:t>Schema Validation</a:t>
            </a:r>
            <a:endParaRPr lang="en-US" sz="1250" dirty="0"/>
          </a:p>
        </p:txBody>
      </p:sp>
      <p:sp>
        <p:nvSpPr>
          <p:cNvPr id="26" name="text-607"/>
          <p:cNvSpPr txBox="1"/>
          <p:nvPr/>
        </p:nvSpPr>
        <p:spPr>
          <a:xfrm>
            <a:off x="4480560" y="3419856"/>
            <a:ext cx="777240" cy="475488"/>
          </a:xfrm>
          <a:prstGeom prst="rect">
            <a:avLst/>
          </a:prstGeom>
          <a:noFill/>
          <a:ln/>
        </p:spPr>
        <p:txBody>
          <a:bodyPr wrap="square" lIns="0" tIns="0" rIns="0" bIns="0" rtlCol="0" anchor="ctr"/>
          <a:lstStyle/>
          <a:p>
            <a:pPr marL="0" indent="0" algn="r">
              <a:buNone/>
            </a:pPr>
            <a:r>
              <a:rPr lang="en-US" sz="1200" dirty="0">
                <a:solidFill>
                  <a:schemeClr val="tx1"/>
                </a:solidFill>
              </a:rPr>
              <a:t>5 pts</a:t>
            </a:r>
            <a:endParaRPr lang="en-US" sz="1200" dirty="0"/>
          </a:p>
        </p:txBody>
      </p:sp>
      <p:sp>
        <p:nvSpPr>
          <p:cNvPr id="27" name="card-608"/>
          <p:cNvSpPr/>
          <p:nvPr/>
        </p:nvSpPr>
        <p:spPr>
          <a:xfrm>
            <a:off x="640080" y="3995928"/>
            <a:ext cx="4754880" cy="475488"/>
          </a:xfrm>
          <a:prstGeom prst="roundRect">
            <a:avLst>
              <a:gd name="adj" fmla="val 11538"/>
            </a:avLst>
          </a:prstGeom>
          <a:solidFill>
            <a:schemeClr val="bg2"/>
          </a:solidFill>
          <a:ln/>
        </p:spPr>
        <p:txBody>
          <a:bodyPr/>
          <a:lstStyle/>
          <a:p>
            <a:endParaRPr lang="en-US"/>
          </a:p>
        </p:txBody>
      </p:sp>
      <p:pic>
        <p:nvPicPr>
          <p:cNvPr id="28" name="ok-609" descr="preencoded.png"/>
          <p:cNvPicPr>
            <a:picLocks noChangeAspect="1"/>
          </p:cNvPicPr>
          <p:nvPr/>
        </p:nvPicPr>
        <p:blipFill>
          <a:blip r:embed="rId3"/>
          <a:stretch>
            <a:fillRect/>
          </a:stretch>
        </p:blipFill>
        <p:spPr>
          <a:xfrm>
            <a:off x="777240" y="4123944"/>
            <a:ext cx="219456" cy="219456"/>
          </a:xfrm>
          <a:prstGeom prst="rect">
            <a:avLst/>
          </a:prstGeom>
        </p:spPr>
      </p:pic>
      <p:sp>
        <p:nvSpPr>
          <p:cNvPr id="29" name="text-610"/>
          <p:cNvSpPr txBox="1"/>
          <p:nvPr/>
        </p:nvSpPr>
        <p:spPr>
          <a:xfrm>
            <a:off x="1115568" y="3995928"/>
            <a:ext cx="685800" cy="475488"/>
          </a:xfrm>
          <a:prstGeom prst="rect">
            <a:avLst/>
          </a:prstGeom>
          <a:noFill/>
          <a:ln/>
        </p:spPr>
        <p:txBody>
          <a:bodyPr wrap="square" lIns="0" tIns="0" rIns="0" bIns="0" rtlCol="0" anchor="ctr"/>
          <a:lstStyle/>
          <a:p>
            <a:pPr marL="0" indent="0">
              <a:buNone/>
            </a:pPr>
            <a:r>
              <a:rPr lang="en-US" sz="1200" b="1" dirty="0">
                <a:solidFill>
                  <a:schemeClr val="accent1"/>
                </a:solidFill>
              </a:rPr>
              <a:t>US_05</a:t>
            </a:r>
            <a:endParaRPr lang="en-US" sz="1200" dirty="0"/>
          </a:p>
        </p:txBody>
      </p:sp>
      <p:sp>
        <p:nvSpPr>
          <p:cNvPr id="30" name="text-611"/>
          <p:cNvSpPr txBox="1"/>
          <p:nvPr/>
        </p:nvSpPr>
        <p:spPr>
          <a:xfrm>
            <a:off x="1828800" y="3995928"/>
            <a:ext cx="2651760" cy="475488"/>
          </a:xfrm>
          <a:prstGeom prst="rect">
            <a:avLst/>
          </a:prstGeom>
          <a:noFill/>
          <a:ln/>
        </p:spPr>
        <p:txBody>
          <a:bodyPr wrap="square" lIns="0" tIns="0" rIns="0" bIns="0" rtlCol="0" anchor="ctr"/>
          <a:lstStyle/>
          <a:p>
            <a:pPr marL="0" indent="0">
              <a:buNone/>
            </a:pPr>
            <a:r>
              <a:rPr lang="en-US" sz="1250" b="1" dirty="0">
                <a:solidFill>
                  <a:schemeClr val="tx2"/>
                </a:solidFill>
              </a:rPr>
              <a:t>Frontend</a:t>
            </a:r>
            <a:endParaRPr lang="en-US" sz="1250" dirty="0"/>
          </a:p>
        </p:txBody>
      </p:sp>
      <p:sp>
        <p:nvSpPr>
          <p:cNvPr id="31" name="text-612"/>
          <p:cNvSpPr txBox="1"/>
          <p:nvPr/>
        </p:nvSpPr>
        <p:spPr>
          <a:xfrm>
            <a:off x="4480560" y="3995928"/>
            <a:ext cx="777240" cy="475488"/>
          </a:xfrm>
          <a:prstGeom prst="rect">
            <a:avLst/>
          </a:prstGeom>
          <a:noFill/>
          <a:ln/>
        </p:spPr>
        <p:txBody>
          <a:bodyPr wrap="square" lIns="0" tIns="0" rIns="0" bIns="0" rtlCol="0" anchor="ctr"/>
          <a:lstStyle/>
          <a:p>
            <a:pPr marL="0" indent="0" algn="r">
              <a:buNone/>
            </a:pPr>
            <a:r>
              <a:rPr lang="en-US" sz="1200" dirty="0">
                <a:solidFill>
                  <a:schemeClr val="tx1"/>
                </a:solidFill>
              </a:rPr>
              <a:t>8 pts</a:t>
            </a:r>
            <a:endParaRPr lang="en-US" sz="1200" dirty="0"/>
          </a:p>
        </p:txBody>
      </p:sp>
      <p:sp>
        <p:nvSpPr>
          <p:cNvPr id="32" name="card-613"/>
          <p:cNvSpPr/>
          <p:nvPr/>
        </p:nvSpPr>
        <p:spPr>
          <a:xfrm>
            <a:off x="5806440" y="1188720"/>
            <a:ext cx="2880360" cy="3474720"/>
          </a:xfrm>
          <a:prstGeom prst="roundRect">
            <a:avLst>
              <a:gd name="adj" fmla="val 2540"/>
            </a:avLst>
          </a:prstGeom>
          <a:solidFill>
            <a:schemeClr val="tx2"/>
          </a:solidFill>
          <a:ln/>
        </p:spPr>
        <p:txBody>
          <a:bodyPr/>
          <a:lstStyle/>
          <a:p>
            <a:endParaRPr lang="en-US"/>
          </a:p>
        </p:txBody>
      </p:sp>
      <p:sp>
        <p:nvSpPr>
          <p:cNvPr id="33" name="text-614"/>
          <p:cNvSpPr txBox="1"/>
          <p:nvPr/>
        </p:nvSpPr>
        <p:spPr>
          <a:xfrm>
            <a:off x="5989320" y="1325880"/>
            <a:ext cx="256032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NOT COMPLETED</a:t>
            </a:r>
            <a:endParaRPr lang="en-US" sz="1050" dirty="0"/>
          </a:p>
        </p:txBody>
      </p:sp>
      <p:sp>
        <p:nvSpPr>
          <p:cNvPr id="34" name="text-615"/>
          <p:cNvSpPr txBox="1"/>
          <p:nvPr/>
        </p:nvSpPr>
        <p:spPr>
          <a:xfrm>
            <a:off x="5989320" y="1737360"/>
            <a:ext cx="2560320" cy="914400"/>
          </a:xfrm>
          <a:prstGeom prst="rect">
            <a:avLst/>
          </a:prstGeom>
          <a:noFill/>
          <a:ln/>
        </p:spPr>
        <p:txBody>
          <a:bodyPr wrap="square" lIns="0" tIns="0" rIns="0" bIns="0" rtlCol="0" anchor="t"/>
          <a:lstStyle/>
          <a:p>
            <a:pPr marL="0" indent="0">
              <a:buNone/>
            </a:pPr>
            <a:r>
              <a:rPr lang="en-US" sz="6000" b="1" dirty="0">
                <a:solidFill>
                  <a:schemeClr val="bg1"/>
                </a:solidFill>
                <a:latin typeface="Cambria" pitchFamily="34" charset="0"/>
                <a:ea typeface="Cambria" pitchFamily="34" charset="-122"/>
                <a:cs typeface="Cambria" pitchFamily="34" charset="-120"/>
              </a:rPr>
              <a:t>0</a:t>
            </a:r>
            <a:endParaRPr lang="en-US" sz="6000" dirty="0"/>
          </a:p>
        </p:txBody>
      </p:sp>
      <p:sp>
        <p:nvSpPr>
          <p:cNvPr id="35" name="text-616"/>
          <p:cNvSpPr txBox="1"/>
          <p:nvPr/>
        </p:nvSpPr>
        <p:spPr>
          <a:xfrm>
            <a:off x="5989320" y="2697480"/>
            <a:ext cx="2560320" cy="274320"/>
          </a:xfrm>
          <a:prstGeom prst="rect">
            <a:avLst/>
          </a:prstGeom>
          <a:noFill/>
          <a:ln/>
        </p:spPr>
        <p:txBody>
          <a:bodyPr wrap="square" lIns="0" tIns="0" rIns="0" bIns="0" rtlCol="0" anchor="t"/>
          <a:lstStyle/>
          <a:p>
            <a:pPr marL="0" indent="0">
              <a:buNone/>
            </a:pPr>
            <a:r>
              <a:rPr lang="en-US" sz="1300" b="1" dirty="0">
                <a:solidFill>
                  <a:schemeClr val="bg2"/>
                </a:solidFill>
              </a:rPr>
              <a:t>stories carried over</a:t>
            </a:r>
            <a:endParaRPr lang="en-US" sz="1300" dirty="0"/>
          </a:p>
        </p:txBody>
      </p:sp>
      <p:sp>
        <p:nvSpPr>
          <p:cNvPr id="36" name="text-617"/>
          <p:cNvSpPr txBox="1"/>
          <p:nvPr/>
        </p:nvSpPr>
        <p:spPr>
          <a:xfrm>
            <a:off x="5989320" y="3108960"/>
            <a:ext cx="2560320" cy="1097280"/>
          </a:xfrm>
          <a:prstGeom prst="rect">
            <a:avLst/>
          </a:prstGeom>
          <a:noFill/>
          <a:ln/>
        </p:spPr>
        <p:txBody>
          <a:bodyPr wrap="square" lIns="0" tIns="0" rIns="0" bIns="0" rtlCol="0" anchor="t"/>
          <a:lstStyle/>
          <a:p>
            <a:pPr marL="0" indent="0">
              <a:buNone/>
            </a:pPr>
            <a:r>
              <a:rPr lang="en-US" sz="1200" dirty="0">
                <a:solidFill>
                  <a:schemeClr val="bg2"/>
                </a:solidFill>
              </a:rPr>
              <a:t>Every committed story met all of its acceptance criteria, so nothing moves to Sprint 2.</a:t>
            </a:r>
            <a:endParaRPr lang="en-US" sz="1200" dirty="0"/>
          </a:p>
        </p:txBody>
      </p:sp>
      <p:sp>
        <p:nvSpPr>
          <p:cNvPr id="37"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1">
            <a:extLst>
              <a:ext uri="{FF2B5EF4-FFF2-40B4-BE49-F238E27FC236}">
                <a16:creationId xmlns:a16="http://schemas.microsoft.com/office/drawing/2014/main" id="{D01FCC0F-3AA9-C22F-4C62-0CCD5A90A3C7}"/>
              </a:ext>
            </a:extLst>
          </p:cNvPr>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2 AND SPRINT 3</a:t>
            </a:r>
            <a:endParaRPr lang="en-US" sz="1100" dirty="0"/>
          </a:p>
        </p:txBody>
      </p:sp>
      <p:sp>
        <p:nvSpPr>
          <p:cNvPr id="7" name="Text 1">
            <a:extLst>
              <a:ext uri="{FF2B5EF4-FFF2-40B4-BE49-F238E27FC236}">
                <a16:creationId xmlns:a16="http://schemas.microsoft.com/office/drawing/2014/main" id="{FCFAC28F-0FB2-E37C-C149-3612463663D5}"/>
              </a:ext>
            </a:extLst>
          </p:cNvPr>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Product backlog</a:t>
            </a:r>
            <a:endParaRPr lang="en-US" sz="2800" dirty="0"/>
          </a:p>
        </p:txBody>
      </p:sp>
      <p:sp>
        <p:nvSpPr>
          <p:cNvPr id="8" name="Slide Number Placeholder 0">
            <a:extLst>
              <a:ext uri="{FF2B5EF4-FFF2-40B4-BE49-F238E27FC236}">
                <a16:creationId xmlns:a16="http://schemas.microsoft.com/office/drawing/2014/main" id="{B5EB6CF4-AB67-5E45-5BD3-80EABB12D375}"/>
              </a:ext>
            </a:extLst>
          </p:cNvPr>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r>
              <a:rPr lang="en-US" dirty="0"/>
              <a:t>26</a:t>
            </a:r>
          </a:p>
        </p:txBody>
      </p:sp>
      <p:pic>
        <p:nvPicPr>
          <p:cNvPr id="9" name="Picture 8">
            <a:extLst>
              <a:ext uri="{FF2B5EF4-FFF2-40B4-BE49-F238E27FC236}">
                <a16:creationId xmlns:a16="http://schemas.microsoft.com/office/drawing/2014/main" id="{49C345BF-D0A8-D544-9E80-CD3FECE67253}"/>
              </a:ext>
            </a:extLst>
          </p:cNvPr>
          <p:cNvPicPr>
            <a:picLocks noChangeAspect="1"/>
          </p:cNvPicPr>
          <p:nvPr/>
        </p:nvPicPr>
        <p:blipFill>
          <a:blip r:embed="rId3"/>
          <a:stretch>
            <a:fillRect/>
          </a:stretch>
        </p:blipFill>
        <p:spPr>
          <a:xfrm>
            <a:off x="457200" y="1300190"/>
            <a:ext cx="7772400" cy="2855807"/>
          </a:xfrm>
          <a:prstGeom prst="rect">
            <a:avLst/>
          </a:prstGeom>
        </p:spPr>
      </p:pic>
    </p:spTree>
    <p:extLst>
      <p:ext uri="{BB962C8B-B14F-4D97-AF65-F5344CB8AC3E}">
        <p14:creationId xmlns:p14="http://schemas.microsoft.com/office/powerpoint/2010/main" val="607547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2 AND SPRINT 3</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Product backlog</a:t>
            </a:r>
            <a:endParaRPr lang="en-US" sz="2800" dirty="0"/>
          </a:p>
        </p:txBody>
      </p:sp>
      <p:sp>
        <p:nvSpPr>
          <p:cNvPr id="53"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r>
              <a:rPr lang="en-US" dirty="0"/>
              <a:t>27</a:t>
            </a:r>
          </a:p>
        </p:txBody>
      </p:sp>
      <p:pic>
        <p:nvPicPr>
          <p:cNvPr id="54" name="Picture 53">
            <a:extLst>
              <a:ext uri="{FF2B5EF4-FFF2-40B4-BE49-F238E27FC236}">
                <a16:creationId xmlns:a16="http://schemas.microsoft.com/office/drawing/2014/main" id="{3AF720A2-D570-3EEE-B713-5ED198AE182A}"/>
              </a:ext>
            </a:extLst>
          </p:cNvPr>
          <p:cNvPicPr>
            <a:picLocks noChangeAspect="1"/>
          </p:cNvPicPr>
          <p:nvPr/>
        </p:nvPicPr>
        <p:blipFill>
          <a:blip r:embed="rId3"/>
          <a:stretch>
            <a:fillRect/>
          </a:stretch>
        </p:blipFill>
        <p:spPr>
          <a:xfrm>
            <a:off x="457200" y="1335024"/>
            <a:ext cx="7772400" cy="251398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METRICS  ·  TEAM VELOCITY</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Velocity and completion ratio</a:t>
            </a:r>
            <a:endParaRPr lang="en-US" sz="2800" dirty="0"/>
          </a:p>
        </p:txBody>
      </p:sp>
      <p:sp>
        <p:nvSpPr>
          <p:cNvPr id="4" name="card-667"/>
          <p:cNvSpPr/>
          <p:nvPr/>
        </p:nvSpPr>
        <p:spPr>
          <a:xfrm>
            <a:off x="457200" y="1188720"/>
            <a:ext cx="5394960" cy="3474720"/>
          </a:xfrm>
          <a:prstGeom prst="roundRect">
            <a:avLst>
              <a:gd name="adj" fmla="val 2105"/>
            </a:avLst>
          </a:prstGeom>
          <a:solidFill>
            <a:schemeClr val="bg1"/>
          </a:solidFill>
          <a:ln w="9525">
            <a:solidFill>
              <a:srgbClr val="E1E5F5"/>
            </a:solidFill>
            <a:prstDash val="solid"/>
          </a:ln>
        </p:spPr>
        <p:txBody>
          <a:bodyPr/>
          <a:lstStyle/>
          <a:p>
            <a:endParaRPr lang="en-US"/>
          </a:p>
        </p:txBody>
      </p:sp>
      <p:graphicFrame>
        <p:nvGraphicFramePr>
          <p:cNvPr id="5" name="velocity-chart-668"/>
          <p:cNvGraphicFramePr/>
          <p:nvPr/>
        </p:nvGraphicFramePr>
        <p:xfrm>
          <a:off x="594360" y="128016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669"/>
          <p:cNvSpPr/>
          <p:nvPr/>
        </p:nvSpPr>
        <p:spPr>
          <a:xfrm>
            <a:off x="6080760" y="1188720"/>
            <a:ext cx="2606040" cy="1645920"/>
          </a:xfrm>
          <a:prstGeom prst="roundRect">
            <a:avLst>
              <a:gd name="adj" fmla="val 4444"/>
            </a:avLst>
          </a:prstGeom>
          <a:solidFill>
            <a:schemeClr val="tx2"/>
          </a:solidFill>
          <a:ln/>
        </p:spPr>
        <p:txBody>
          <a:bodyPr/>
          <a:lstStyle/>
          <a:p>
            <a:endParaRPr lang="en-US"/>
          </a:p>
        </p:txBody>
      </p:sp>
      <p:sp>
        <p:nvSpPr>
          <p:cNvPr id="7" name="text-670"/>
          <p:cNvSpPr txBox="1"/>
          <p:nvPr/>
        </p:nvSpPr>
        <p:spPr>
          <a:xfrm>
            <a:off x="6263640" y="1325880"/>
            <a:ext cx="228600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TEAM VELOCITY</a:t>
            </a:r>
            <a:endParaRPr lang="en-US" sz="1050" dirty="0"/>
          </a:p>
        </p:txBody>
      </p:sp>
      <p:sp>
        <p:nvSpPr>
          <p:cNvPr id="8" name="text-671"/>
          <p:cNvSpPr txBox="1"/>
          <p:nvPr/>
        </p:nvSpPr>
        <p:spPr>
          <a:xfrm>
            <a:off x="6263640" y="1572768"/>
            <a:ext cx="2286000" cy="731520"/>
          </a:xfrm>
          <a:prstGeom prst="rect">
            <a:avLst/>
          </a:prstGeom>
          <a:noFill/>
          <a:ln/>
        </p:spPr>
        <p:txBody>
          <a:bodyPr wrap="square" lIns="0" tIns="0" rIns="0" bIns="0" rtlCol="0" anchor="t"/>
          <a:lstStyle/>
          <a:p>
            <a:pPr marL="0" indent="0">
              <a:buNone/>
            </a:pPr>
            <a:r>
              <a:rPr lang="en-US" sz="4800" b="1" dirty="0">
                <a:solidFill>
                  <a:schemeClr val="bg1"/>
                </a:solidFill>
                <a:latin typeface="Cambria" pitchFamily="34" charset="0"/>
                <a:ea typeface="Cambria" pitchFamily="34" charset="-122"/>
                <a:cs typeface="Cambria" pitchFamily="34" charset="-120"/>
              </a:rPr>
              <a:t>42</a:t>
            </a:r>
            <a:endParaRPr lang="en-US" sz="4800" dirty="0"/>
          </a:p>
        </p:txBody>
      </p:sp>
      <p:sp>
        <p:nvSpPr>
          <p:cNvPr id="9" name="text-672"/>
          <p:cNvSpPr txBox="1"/>
          <p:nvPr/>
        </p:nvSpPr>
        <p:spPr>
          <a:xfrm>
            <a:off x="6263640" y="2377440"/>
            <a:ext cx="2286000" cy="274320"/>
          </a:xfrm>
          <a:prstGeom prst="rect">
            <a:avLst/>
          </a:prstGeom>
          <a:noFill/>
          <a:ln/>
        </p:spPr>
        <p:txBody>
          <a:bodyPr wrap="square" lIns="0" tIns="0" rIns="0" bIns="0" rtlCol="0" anchor="t"/>
          <a:lstStyle/>
          <a:p>
            <a:pPr marL="0" indent="0">
              <a:buNone/>
            </a:pPr>
            <a:r>
              <a:rPr lang="en-US" sz="1200" dirty="0">
                <a:solidFill>
                  <a:schemeClr val="bg2"/>
                </a:solidFill>
              </a:rPr>
              <a:t>story points completed</a:t>
            </a:r>
            <a:endParaRPr lang="en-US" sz="1200" dirty="0"/>
          </a:p>
        </p:txBody>
      </p:sp>
      <p:sp>
        <p:nvSpPr>
          <p:cNvPr id="10" name="card-673"/>
          <p:cNvSpPr/>
          <p:nvPr/>
        </p:nvSpPr>
        <p:spPr>
          <a:xfrm>
            <a:off x="6080760" y="3017520"/>
            <a:ext cx="2606040" cy="1645920"/>
          </a:xfrm>
          <a:prstGeom prst="roundRect">
            <a:avLst>
              <a:gd name="adj" fmla="val 4444"/>
            </a:avLst>
          </a:prstGeom>
          <a:solidFill>
            <a:schemeClr val="bg1"/>
          </a:solidFill>
          <a:ln w="9525">
            <a:solidFill>
              <a:srgbClr val="E1E5F5"/>
            </a:solidFill>
            <a:prstDash val="solid"/>
          </a:ln>
        </p:spPr>
        <p:txBody>
          <a:bodyPr/>
          <a:lstStyle/>
          <a:p>
            <a:endParaRPr lang="en-US"/>
          </a:p>
        </p:txBody>
      </p:sp>
      <p:sp>
        <p:nvSpPr>
          <p:cNvPr id="11" name="text-674"/>
          <p:cNvSpPr txBox="1"/>
          <p:nvPr/>
        </p:nvSpPr>
        <p:spPr>
          <a:xfrm>
            <a:off x="6263640" y="3154680"/>
            <a:ext cx="228600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COMPLETED / COMMITTED</a:t>
            </a:r>
            <a:endParaRPr lang="en-US" sz="1050" dirty="0"/>
          </a:p>
        </p:txBody>
      </p:sp>
      <p:sp>
        <p:nvSpPr>
          <p:cNvPr id="12" name="text-675"/>
          <p:cNvSpPr txBox="1"/>
          <p:nvPr/>
        </p:nvSpPr>
        <p:spPr>
          <a:xfrm>
            <a:off x="6263640" y="3401568"/>
            <a:ext cx="2286000" cy="73152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13" name="text-676"/>
          <p:cNvSpPr txBox="1"/>
          <p:nvPr/>
        </p:nvSpPr>
        <p:spPr>
          <a:xfrm>
            <a:off x="6263640" y="4206240"/>
            <a:ext cx="2286000" cy="274320"/>
          </a:xfrm>
          <a:prstGeom prst="rect">
            <a:avLst/>
          </a:prstGeom>
          <a:noFill/>
          <a:ln/>
        </p:spPr>
        <p:txBody>
          <a:bodyPr wrap="square" lIns="0" tIns="0" rIns="0" bIns="0" rtlCol="0" anchor="t"/>
          <a:lstStyle/>
          <a:p>
            <a:pPr marL="0" indent="0">
              <a:buNone/>
            </a:pPr>
            <a:r>
              <a:rPr lang="en-US" sz="1200" dirty="0">
                <a:solidFill>
                  <a:schemeClr val="tx1"/>
                </a:solidFill>
              </a:rPr>
              <a:t>42 of 42 points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METRICS  ·  BURNDOWN CHART</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Sprint 1 burndown</a:t>
            </a:r>
            <a:endParaRPr lang="en-US" sz="2800" dirty="0"/>
          </a:p>
        </p:txBody>
      </p:sp>
      <p:sp>
        <p:nvSpPr>
          <p:cNvPr id="4" name="card-677"/>
          <p:cNvSpPr/>
          <p:nvPr/>
        </p:nvSpPr>
        <p:spPr>
          <a:xfrm>
            <a:off x="457200" y="1234440"/>
            <a:ext cx="5120640" cy="3429000"/>
          </a:xfrm>
          <a:prstGeom prst="roundRect">
            <a:avLst>
              <a:gd name="adj" fmla="val 2133"/>
            </a:avLst>
          </a:prstGeom>
          <a:solidFill>
            <a:schemeClr val="bg1"/>
          </a:solidFill>
          <a:ln w="9525">
            <a:solidFill>
              <a:srgbClr val="E1E5F5"/>
            </a:solidFill>
            <a:prstDash val="solid"/>
          </a:ln>
        </p:spPr>
        <p:txBody>
          <a:bodyPr/>
          <a:lstStyle/>
          <a:p>
            <a:endParaRPr lang="en-US"/>
          </a:p>
        </p:txBody>
      </p:sp>
      <p:pic>
        <p:nvPicPr>
          <p:cNvPr id="5" name="burndown-chart-678" descr="/home/claude/work/assets/burndown.png"/>
          <p:cNvPicPr>
            <a:picLocks noChangeAspect="1"/>
          </p:cNvPicPr>
          <p:nvPr/>
        </p:nvPicPr>
        <p:blipFill>
          <a:blip r:embed="rId3"/>
          <a:stretch>
            <a:fillRect/>
          </a:stretch>
        </p:blipFill>
        <p:spPr>
          <a:xfrm>
            <a:off x="566928" y="1709928"/>
            <a:ext cx="4901184" cy="2450592"/>
          </a:xfrm>
          <a:prstGeom prst="rect">
            <a:avLst/>
          </a:prstGeom>
        </p:spPr>
      </p:pic>
      <p:sp>
        <p:nvSpPr>
          <p:cNvPr id="6" name="card-679"/>
          <p:cNvSpPr/>
          <p:nvPr/>
        </p:nvSpPr>
        <p:spPr>
          <a:xfrm>
            <a:off x="5852160" y="1234440"/>
            <a:ext cx="2834640" cy="3429000"/>
          </a:xfrm>
          <a:prstGeom prst="roundRect">
            <a:avLst>
              <a:gd name="adj" fmla="val 2581"/>
            </a:avLst>
          </a:prstGeom>
          <a:solidFill>
            <a:schemeClr val="tx2"/>
          </a:solidFill>
          <a:ln/>
        </p:spPr>
        <p:txBody>
          <a:bodyPr/>
          <a:lstStyle/>
          <a:p>
            <a:endParaRPr lang="en-US"/>
          </a:p>
        </p:txBody>
      </p:sp>
      <p:sp>
        <p:nvSpPr>
          <p:cNvPr id="7" name="text-680"/>
          <p:cNvSpPr txBox="1"/>
          <p:nvPr/>
        </p:nvSpPr>
        <p:spPr>
          <a:xfrm>
            <a:off x="6035040" y="1389888"/>
            <a:ext cx="246888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COMPLETED TASKS</a:t>
            </a:r>
            <a:endParaRPr lang="en-US" sz="1050" dirty="0"/>
          </a:p>
        </p:txBody>
      </p:sp>
      <p:sp>
        <p:nvSpPr>
          <p:cNvPr id="8" name="text-681"/>
          <p:cNvSpPr txBox="1"/>
          <p:nvPr/>
        </p:nvSpPr>
        <p:spPr>
          <a:xfrm>
            <a:off x="6035040" y="1645920"/>
            <a:ext cx="2468880" cy="566928"/>
          </a:xfrm>
          <a:prstGeom prst="rect">
            <a:avLst/>
          </a:prstGeom>
          <a:noFill/>
          <a:ln/>
        </p:spPr>
        <p:txBody>
          <a:bodyPr wrap="square" lIns="0" tIns="0" rIns="0" bIns="0" rtlCol="0" anchor="t"/>
          <a:lstStyle/>
          <a:p>
            <a:pPr marL="0" indent="0">
              <a:buNone/>
            </a:pPr>
            <a:r>
              <a:rPr lang="en-US" sz="3400" b="1" dirty="0">
                <a:solidFill>
                  <a:schemeClr val="bg1"/>
                </a:solidFill>
                <a:latin typeface="Cambria" pitchFamily="34" charset="0"/>
                <a:ea typeface="Cambria" pitchFamily="34" charset="-122"/>
                <a:cs typeface="Cambria" pitchFamily="34" charset="-120"/>
              </a:rPr>
              <a:t>9 / 9</a:t>
            </a:r>
            <a:endParaRPr lang="en-US" sz="3400" dirty="0"/>
          </a:p>
        </p:txBody>
      </p:sp>
      <p:sp>
        <p:nvSpPr>
          <p:cNvPr id="9" name="text-682"/>
          <p:cNvSpPr txBox="1"/>
          <p:nvPr/>
        </p:nvSpPr>
        <p:spPr>
          <a:xfrm>
            <a:off x="6035040" y="2212848"/>
            <a:ext cx="2468880" cy="228600"/>
          </a:xfrm>
          <a:prstGeom prst="rect">
            <a:avLst/>
          </a:prstGeom>
          <a:noFill/>
          <a:ln/>
        </p:spPr>
        <p:txBody>
          <a:bodyPr wrap="square" lIns="0" tIns="0" rIns="0" bIns="0" rtlCol="0" anchor="t"/>
          <a:lstStyle/>
          <a:p>
            <a:pPr marL="0" indent="0">
              <a:buNone/>
            </a:pPr>
            <a:r>
              <a:rPr lang="en-US" sz="1100" dirty="0">
                <a:solidFill>
                  <a:schemeClr val="bg2"/>
                </a:solidFill>
              </a:rPr>
              <a:t>engineering tickets closed</a:t>
            </a:r>
            <a:endParaRPr lang="en-US" sz="1100" dirty="0"/>
          </a:p>
        </p:txBody>
      </p:sp>
      <p:pic>
        <p:nvPicPr>
          <p:cNvPr id="10" name="ck-683" descr="preencoded.png"/>
          <p:cNvPicPr>
            <a:picLocks noChangeAspect="1"/>
          </p:cNvPicPr>
          <p:nvPr/>
        </p:nvPicPr>
        <p:blipFill>
          <a:blip r:embed="rId4"/>
          <a:stretch>
            <a:fillRect/>
          </a:stretch>
        </p:blipFill>
        <p:spPr>
          <a:xfrm>
            <a:off x="6035040" y="2596896"/>
            <a:ext cx="128016" cy="128016"/>
          </a:xfrm>
          <a:prstGeom prst="rect">
            <a:avLst/>
          </a:prstGeom>
        </p:spPr>
      </p:pic>
      <p:sp>
        <p:nvSpPr>
          <p:cNvPr id="11" name="text-684"/>
          <p:cNvSpPr txBox="1"/>
          <p:nvPr/>
        </p:nvSpPr>
        <p:spPr>
          <a:xfrm>
            <a:off x="6236208" y="2560320"/>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SCRUM-5  Project root setup</a:t>
            </a:r>
            <a:endParaRPr lang="en-US" sz="1000" dirty="0"/>
          </a:p>
        </p:txBody>
      </p:sp>
      <p:pic>
        <p:nvPicPr>
          <p:cNvPr id="12" name="ck-685" descr="preencoded.png"/>
          <p:cNvPicPr>
            <a:picLocks noChangeAspect="1"/>
          </p:cNvPicPr>
          <p:nvPr/>
        </p:nvPicPr>
        <p:blipFill>
          <a:blip r:embed="rId4"/>
          <a:stretch>
            <a:fillRect/>
          </a:stretch>
        </p:blipFill>
        <p:spPr>
          <a:xfrm>
            <a:off x="6035040" y="2820924"/>
            <a:ext cx="128016" cy="128016"/>
          </a:xfrm>
          <a:prstGeom prst="rect">
            <a:avLst/>
          </a:prstGeom>
        </p:spPr>
      </p:pic>
      <p:sp>
        <p:nvSpPr>
          <p:cNvPr id="13" name="text-686"/>
          <p:cNvSpPr txBox="1"/>
          <p:nvPr/>
        </p:nvSpPr>
        <p:spPr>
          <a:xfrm>
            <a:off x="6236208" y="2784348"/>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SCRUM-6  Docker Compose</a:t>
            </a:r>
            <a:endParaRPr lang="en-US" sz="1000" dirty="0"/>
          </a:p>
        </p:txBody>
      </p:sp>
      <p:pic>
        <p:nvPicPr>
          <p:cNvPr id="14" name="ck-687" descr="preencoded.png"/>
          <p:cNvPicPr>
            <a:picLocks noChangeAspect="1"/>
          </p:cNvPicPr>
          <p:nvPr/>
        </p:nvPicPr>
        <p:blipFill>
          <a:blip r:embed="rId4"/>
          <a:stretch>
            <a:fillRect/>
          </a:stretch>
        </p:blipFill>
        <p:spPr>
          <a:xfrm>
            <a:off x="6035040" y="3044952"/>
            <a:ext cx="128016" cy="128016"/>
          </a:xfrm>
          <a:prstGeom prst="rect">
            <a:avLst/>
          </a:prstGeom>
        </p:spPr>
      </p:pic>
      <p:sp>
        <p:nvSpPr>
          <p:cNvPr id="15" name="text-688"/>
          <p:cNvSpPr txBox="1"/>
          <p:nvPr/>
        </p:nvSpPr>
        <p:spPr>
          <a:xfrm>
            <a:off x="6236208" y="3008376"/>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SCRUM-7  GitHub Actions CI</a:t>
            </a:r>
            <a:endParaRPr lang="en-US" sz="1000" dirty="0"/>
          </a:p>
        </p:txBody>
      </p:sp>
      <p:pic>
        <p:nvPicPr>
          <p:cNvPr id="16" name="ck-689" descr="preencoded.png"/>
          <p:cNvPicPr>
            <a:picLocks noChangeAspect="1"/>
          </p:cNvPicPr>
          <p:nvPr/>
        </p:nvPicPr>
        <p:blipFill>
          <a:blip r:embed="rId4"/>
          <a:stretch>
            <a:fillRect/>
          </a:stretch>
        </p:blipFill>
        <p:spPr>
          <a:xfrm>
            <a:off x="6035040" y="3268980"/>
            <a:ext cx="128016" cy="128016"/>
          </a:xfrm>
          <a:prstGeom prst="rect">
            <a:avLst/>
          </a:prstGeom>
        </p:spPr>
      </p:pic>
      <p:sp>
        <p:nvSpPr>
          <p:cNvPr id="17" name="text-690"/>
          <p:cNvSpPr txBox="1"/>
          <p:nvPr/>
        </p:nvSpPr>
        <p:spPr>
          <a:xfrm>
            <a:off x="6236208" y="3232404"/>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SCRUM-8  Backend requirements</a:t>
            </a:r>
            <a:endParaRPr lang="en-US" sz="1000" dirty="0"/>
          </a:p>
        </p:txBody>
      </p:sp>
      <p:pic>
        <p:nvPicPr>
          <p:cNvPr id="18" name="ck-691" descr="preencoded.png"/>
          <p:cNvPicPr>
            <a:picLocks noChangeAspect="1"/>
          </p:cNvPicPr>
          <p:nvPr/>
        </p:nvPicPr>
        <p:blipFill>
          <a:blip r:embed="rId4"/>
          <a:stretch>
            <a:fillRect/>
          </a:stretch>
        </p:blipFill>
        <p:spPr>
          <a:xfrm>
            <a:off x="6035040" y="3493008"/>
            <a:ext cx="128016" cy="128016"/>
          </a:xfrm>
          <a:prstGeom prst="rect">
            <a:avLst/>
          </a:prstGeom>
        </p:spPr>
      </p:pic>
      <p:sp>
        <p:nvSpPr>
          <p:cNvPr id="19" name="text-692"/>
          <p:cNvSpPr txBox="1"/>
          <p:nvPr/>
        </p:nvSpPr>
        <p:spPr>
          <a:xfrm>
            <a:off x="6236208" y="3456432"/>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SCRUM-9  Config and logging</a:t>
            </a:r>
            <a:endParaRPr lang="en-US" sz="1000" dirty="0"/>
          </a:p>
        </p:txBody>
      </p:sp>
      <p:pic>
        <p:nvPicPr>
          <p:cNvPr id="20" name="ck-693" descr="preencoded.png"/>
          <p:cNvPicPr>
            <a:picLocks noChangeAspect="1"/>
          </p:cNvPicPr>
          <p:nvPr/>
        </p:nvPicPr>
        <p:blipFill>
          <a:blip r:embed="rId4"/>
          <a:stretch>
            <a:fillRect/>
          </a:stretch>
        </p:blipFill>
        <p:spPr>
          <a:xfrm>
            <a:off x="6035040" y="3717036"/>
            <a:ext cx="128016" cy="128016"/>
          </a:xfrm>
          <a:prstGeom prst="rect">
            <a:avLst/>
          </a:prstGeom>
        </p:spPr>
      </p:pic>
      <p:sp>
        <p:nvSpPr>
          <p:cNvPr id="21" name="text-694"/>
          <p:cNvSpPr txBox="1"/>
          <p:nvPr/>
        </p:nvSpPr>
        <p:spPr>
          <a:xfrm>
            <a:off x="6236208" y="3680460"/>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SCRUM-10  DB session handling</a:t>
            </a:r>
            <a:endParaRPr lang="en-US" sz="1000" dirty="0"/>
          </a:p>
        </p:txBody>
      </p:sp>
      <p:pic>
        <p:nvPicPr>
          <p:cNvPr id="22" name="ck-695" descr="preencoded.png"/>
          <p:cNvPicPr>
            <a:picLocks noChangeAspect="1"/>
          </p:cNvPicPr>
          <p:nvPr/>
        </p:nvPicPr>
        <p:blipFill>
          <a:blip r:embed="rId4"/>
          <a:stretch>
            <a:fillRect/>
          </a:stretch>
        </p:blipFill>
        <p:spPr>
          <a:xfrm>
            <a:off x="6035040" y="3941064"/>
            <a:ext cx="128016" cy="128016"/>
          </a:xfrm>
          <a:prstGeom prst="rect">
            <a:avLst/>
          </a:prstGeom>
        </p:spPr>
      </p:pic>
      <p:sp>
        <p:nvSpPr>
          <p:cNvPr id="23" name="text-696"/>
          <p:cNvSpPr txBox="1"/>
          <p:nvPr/>
        </p:nvSpPr>
        <p:spPr>
          <a:xfrm>
            <a:off x="6236208" y="3904488"/>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SCRUM-11  Models and schemas</a:t>
            </a:r>
            <a:endParaRPr lang="en-US" sz="1000" dirty="0"/>
          </a:p>
        </p:txBody>
      </p:sp>
      <p:pic>
        <p:nvPicPr>
          <p:cNvPr id="24" name="ck-697" descr="preencoded.png"/>
          <p:cNvPicPr>
            <a:picLocks noChangeAspect="1"/>
          </p:cNvPicPr>
          <p:nvPr/>
        </p:nvPicPr>
        <p:blipFill>
          <a:blip r:embed="rId4"/>
          <a:stretch>
            <a:fillRect/>
          </a:stretch>
        </p:blipFill>
        <p:spPr>
          <a:xfrm>
            <a:off x="6035040" y="4165092"/>
            <a:ext cx="128016" cy="128016"/>
          </a:xfrm>
          <a:prstGeom prst="rect">
            <a:avLst/>
          </a:prstGeom>
        </p:spPr>
      </p:pic>
      <p:sp>
        <p:nvSpPr>
          <p:cNvPr id="25" name="text-698"/>
          <p:cNvSpPr txBox="1"/>
          <p:nvPr/>
        </p:nvSpPr>
        <p:spPr>
          <a:xfrm>
            <a:off x="6236208" y="4128516"/>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SCRUM-12  Alembic migrations</a:t>
            </a:r>
            <a:endParaRPr lang="en-US" sz="1000" dirty="0"/>
          </a:p>
        </p:txBody>
      </p:sp>
      <p:pic>
        <p:nvPicPr>
          <p:cNvPr id="26" name="ck-699" descr="preencoded.png"/>
          <p:cNvPicPr>
            <a:picLocks noChangeAspect="1"/>
          </p:cNvPicPr>
          <p:nvPr/>
        </p:nvPicPr>
        <p:blipFill>
          <a:blip r:embed="rId4"/>
          <a:stretch>
            <a:fillRect/>
          </a:stretch>
        </p:blipFill>
        <p:spPr>
          <a:xfrm>
            <a:off x="6035040" y="4389120"/>
            <a:ext cx="128016" cy="128016"/>
          </a:xfrm>
          <a:prstGeom prst="rect">
            <a:avLst/>
          </a:prstGeom>
        </p:spPr>
      </p:pic>
      <p:sp>
        <p:nvSpPr>
          <p:cNvPr id="27" name="text-700"/>
          <p:cNvSpPr txBox="1"/>
          <p:nvPr/>
        </p:nvSpPr>
        <p:spPr>
          <a:xfrm>
            <a:off x="6236208" y="4352544"/>
            <a:ext cx="2377440" cy="210312"/>
          </a:xfrm>
          <a:prstGeom prst="rect">
            <a:avLst/>
          </a:prstGeom>
          <a:noFill/>
          <a:ln/>
        </p:spPr>
        <p:txBody>
          <a:bodyPr wrap="square" lIns="0" tIns="0" rIns="0" bIns="0" rtlCol="0" anchor="t"/>
          <a:lstStyle/>
          <a:p>
            <a:pPr marL="0" indent="0">
              <a:buNone/>
            </a:pPr>
            <a:r>
              <a:rPr lang="en-US" sz="1000" dirty="0">
                <a:solidFill>
                  <a:schemeClr val="bg1"/>
                </a:solidFill>
              </a:rPr>
              <a:t>SCRUM-13  Architecture docs</a:t>
            </a:r>
            <a:endParaRPr lang="en-US" sz="1000" dirty="0"/>
          </a:p>
        </p:txBody>
      </p:sp>
      <p:sp>
        <p:nvSpPr>
          <p:cNvPr id="28"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RETROSPECTIVE</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Sprint 1 taught us</a:t>
            </a:r>
            <a:endParaRPr lang="en-US" sz="2800" dirty="0"/>
          </a:p>
        </p:txBody>
      </p:sp>
      <p:sp>
        <p:nvSpPr>
          <p:cNvPr id="4" name="revised-tag-701"/>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702"/>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sp>
        <p:nvSpPr>
          <p:cNvPr id="6" name="card-703"/>
          <p:cNvSpPr/>
          <p:nvPr/>
        </p:nvSpPr>
        <p:spPr>
          <a:xfrm>
            <a:off x="457200" y="1170432"/>
            <a:ext cx="2688336" cy="384048"/>
          </a:xfrm>
          <a:prstGeom prst="roundRect">
            <a:avLst>
              <a:gd name="adj" fmla="val 14286"/>
            </a:avLst>
          </a:prstGeom>
          <a:solidFill>
            <a:schemeClr val="tx2"/>
          </a:solidFill>
          <a:ln/>
        </p:spPr>
        <p:txBody>
          <a:bodyPr/>
          <a:lstStyle/>
          <a:p>
            <a:endParaRPr lang="en-US"/>
          </a:p>
        </p:txBody>
      </p:sp>
      <p:sp>
        <p:nvSpPr>
          <p:cNvPr id="7" name="badge-704"/>
          <p:cNvSpPr/>
          <p:nvPr/>
        </p:nvSpPr>
        <p:spPr>
          <a:xfrm>
            <a:off x="530352" y="1216152"/>
            <a:ext cx="292608" cy="292608"/>
          </a:xfrm>
          <a:prstGeom prst="ellipse">
            <a:avLst/>
          </a:prstGeom>
          <a:solidFill>
            <a:schemeClr val="accent1"/>
          </a:solidFill>
          <a:ln/>
        </p:spPr>
        <p:txBody>
          <a:bodyPr/>
          <a:lstStyle/>
          <a:p>
            <a:endParaRPr lang="en-US"/>
          </a:p>
        </p:txBody>
      </p:sp>
      <p:pic>
        <p:nvPicPr>
          <p:cNvPr id="8" name="icon-705" descr="preencoded.png"/>
          <p:cNvPicPr>
            <a:picLocks noChangeAspect="1"/>
          </p:cNvPicPr>
          <p:nvPr/>
        </p:nvPicPr>
        <p:blipFill>
          <a:blip r:embed="rId3"/>
          <a:stretch>
            <a:fillRect/>
          </a:stretch>
        </p:blipFill>
        <p:spPr>
          <a:xfrm>
            <a:off x="594726" y="1280526"/>
            <a:ext cx="163860" cy="163860"/>
          </a:xfrm>
          <a:prstGeom prst="rect">
            <a:avLst/>
          </a:prstGeom>
        </p:spPr>
      </p:pic>
      <p:sp>
        <p:nvSpPr>
          <p:cNvPr id="9" name="text-706"/>
          <p:cNvSpPr txBox="1"/>
          <p:nvPr/>
        </p:nvSpPr>
        <p:spPr>
          <a:xfrm>
            <a:off x="914400" y="1170432"/>
            <a:ext cx="2176272" cy="384048"/>
          </a:xfrm>
          <a:prstGeom prst="rect">
            <a:avLst/>
          </a:prstGeom>
          <a:noFill/>
          <a:ln/>
        </p:spPr>
        <p:txBody>
          <a:bodyPr wrap="square" lIns="0" tIns="0" rIns="0" bIns="0" rtlCol="0" anchor="ctr"/>
          <a:lstStyle/>
          <a:p>
            <a:pPr marL="0" indent="0">
              <a:buNone/>
            </a:pPr>
            <a:r>
              <a:rPr lang="en-US" sz="1300" b="1" dirty="0">
                <a:solidFill>
                  <a:schemeClr val="bg1"/>
                </a:solidFill>
              </a:rPr>
              <a:t>What went well</a:t>
            </a:r>
            <a:endParaRPr lang="en-US" sz="1300" dirty="0"/>
          </a:p>
        </p:txBody>
      </p:sp>
      <p:sp>
        <p:nvSpPr>
          <p:cNvPr id="10" name="card-707"/>
          <p:cNvSpPr/>
          <p:nvPr/>
        </p:nvSpPr>
        <p:spPr>
          <a:xfrm>
            <a:off x="457200" y="162763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11" name="text-708"/>
          <p:cNvSpPr txBox="1"/>
          <p:nvPr/>
        </p:nvSpPr>
        <p:spPr>
          <a:xfrm>
            <a:off x="512064" y="163677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Completed Sprint 1 Planning effectively, establishing clear roles right from day one.</a:t>
            </a:r>
            <a:endParaRPr lang="en-US" sz="950" dirty="0"/>
          </a:p>
        </p:txBody>
      </p:sp>
      <p:sp>
        <p:nvSpPr>
          <p:cNvPr id="12" name="card-709"/>
          <p:cNvSpPr/>
          <p:nvPr/>
        </p:nvSpPr>
        <p:spPr>
          <a:xfrm>
            <a:off x="457200" y="2139696"/>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13" name="text-710"/>
          <p:cNvSpPr txBox="1"/>
          <p:nvPr/>
        </p:nvSpPr>
        <p:spPr>
          <a:xfrm>
            <a:off x="512064" y="2148840"/>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Mapped out the initial foundation for the core Agent Mesh Enrollment Workflow.</a:t>
            </a:r>
            <a:endParaRPr lang="en-US" sz="950" dirty="0"/>
          </a:p>
        </p:txBody>
      </p:sp>
      <p:sp>
        <p:nvSpPr>
          <p:cNvPr id="14" name="card-711"/>
          <p:cNvSpPr/>
          <p:nvPr/>
        </p:nvSpPr>
        <p:spPr>
          <a:xfrm>
            <a:off x="457200" y="2651760"/>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15" name="text-712"/>
          <p:cNvSpPr txBox="1"/>
          <p:nvPr/>
        </p:nvSpPr>
        <p:spPr>
          <a:xfrm>
            <a:off x="512064" y="2660904"/>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Made significant theoretical headway on core optimization logic before code modification.</a:t>
            </a:r>
            <a:endParaRPr lang="en-US" sz="950" dirty="0"/>
          </a:p>
        </p:txBody>
      </p:sp>
      <p:sp>
        <p:nvSpPr>
          <p:cNvPr id="16" name="card-713"/>
          <p:cNvSpPr/>
          <p:nvPr/>
        </p:nvSpPr>
        <p:spPr>
          <a:xfrm>
            <a:off x="457200" y="3163824"/>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17" name="text-714"/>
          <p:cNvSpPr txBox="1"/>
          <p:nvPr/>
        </p:nvSpPr>
        <p:spPr>
          <a:xfrm>
            <a:off x="512064" y="3172968"/>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Kicked off frontend design and development tasks early to provide visual mock-ups.</a:t>
            </a:r>
            <a:endParaRPr lang="en-US" sz="950" dirty="0"/>
          </a:p>
        </p:txBody>
      </p:sp>
      <p:sp>
        <p:nvSpPr>
          <p:cNvPr id="18" name="card-715"/>
          <p:cNvSpPr/>
          <p:nvPr/>
        </p:nvSpPr>
        <p:spPr>
          <a:xfrm>
            <a:off x="457200" y="3675888"/>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19" name="text-716"/>
          <p:cNvSpPr txBox="1"/>
          <p:nvPr/>
        </p:nvSpPr>
        <p:spPr>
          <a:xfrm>
            <a:off x="512064" y="3685032"/>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Solidified user stories and technical acceptance criteria to establish product guardrails.</a:t>
            </a:r>
            <a:endParaRPr lang="en-US" sz="950" dirty="0"/>
          </a:p>
        </p:txBody>
      </p:sp>
      <p:sp>
        <p:nvSpPr>
          <p:cNvPr id="20" name="card-717"/>
          <p:cNvSpPr/>
          <p:nvPr/>
        </p:nvSpPr>
        <p:spPr>
          <a:xfrm>
            <a:off x="457200" y="418795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21" name="text-718"/>
          <p:cNvSpPr txBox="1"/>
          <p:nvPr/>
        </p:nvSpPr>
        <p:spPr>
          <a:xfrm>
            <a:off x="512064" y="419709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Structured the initial metrics tracking framework to gauge agent processing efficiency later.</a:t>
            </a:r>
            <a:endParaRPr lang="en-US" sz="950" dirty="0"/>
          </a:p>
        </p:txBody>
      </p:sp>
      <p:sp>
        <p:nvSpPr>
          <p:cNvPr id="22" name="card-719"/>
          <p:cNvSpPr/>
          <p:nvPr/>
        </p:nvSpPr>
        <p:spPr>
          <a:xfrm>
            <a:off x="3227832" y="1170432"/>
            <a:ext cx="2688336" cy="384048"/>
          </a:xfrm>
          <a:prstGeom prst="roundRect">
            <a:avLst>
              <a:gd name="adj" fmla="val 14286"/>
            </a:avLst>
          </a:prstGeom>
          <a:solidFill>
            <a:schemeClr val="tx2"/>
          </a:solidFill>
          <a:ln/>
        </p:spPr>
        <p:txBody>
          <a:bodyPr/>
          <a:lstStyle/>
          <a:p>
            <a:endParaRPr lang="en-US"/>
          </a:p>
        </p:txBody>
      </p:sp>
      <p:sp>
        <p:nvSpPr>
          <p:cNvPr id="23" name="badge-720"/>
          <p:cNvSpPr/>
          <p:nvPr/>
        </p:nvSpPr>
        <p:spPr>
          <a:xfrm>
            <a:off x="3300984" y="1216152"/>
            <a:ext cx="292608" cy="292608"/>
          </a:xfrm>
          <a:prstGeom prst="ellipse">
            <a:avLst/>
          </a:prstGeom>
          <a:solidFill>
            <a:schemeClr val="accent6"/>
          </a:solidFill>
          <a:ln/>
        </p:spPr>
        <p:txBody>
          <a:bodyPr/>
          <a:lstStyle/>
          <a:p>
            <a:endParaRPr lang="en-US"/>
          </a:p>
        </p:txBody>
      </p:sp>
      <p:pic>
        <p:nvPicPr>
          <p:cNvPr id="24" name="icon-721" descr="preencoded.png"/>
          <p:cNvPicPr>
            <a:picLocks noChangeAspect="1"/>
          </p:cNvPicPr>
          <p:nvPr/>
        </p:nvPicPr>
        <p:blipFill>
          <a:blip r:embed="rId4"/>
          <a:stretch>
            <a:fillRect/>
          </a:stretch>
        </p:blipFill>
        <p:spPr>
          <a:xfrm>
            <a:off x="3365358" y="1280526"/>
            <a:ext cx="163860" cy="163860"/>
          </a:xfrm>
          <a:prstGeom prst="rect">
            <a:avLst/>
          </a:prstGeom>
        </p:spPr>
      </p:pic>
      <p:sp>
        <p:nvSpPr>
          <p:cNvPr id="25" name="text-722"/>
          <p:cNvSpPr txBox="1"/>
          <p:nvPr/>
        </p:nvSpPr>
        <p:spPr>
          <a:xfrm>
            <a:off x="3685032" y="1170432"/>
            <a:ext cx="2176272" cy="384048"/>
          </a:xfrm>
          <a:prstGeom prst="rect">
            <a:avLst/>
          </a:prstGeom>
          <a:noFill/>
          <a:ln/>
        </p:spPr>
        <p:txBody>
          <a:bodyPr wrap="square" lIns="0" tIns="0" rIns="0" bIns="0" rtlCol="0" anchor="ctr"/>
          <a:lstStyle/>
          <a:p>
            <a:pPr marL="0" indent="0">
              <a:buNone/>
            </a:pPr>
            <a:r>
              <a:rPr lang="en-US" sz="1300" b="1" dirty="0">
                <a:solidFill>
                  <a:schemeClr val="bg1"/>
                </a:solidFill>
              </a:rPr>
              <a:t>What can be improved</a:t>
            </a:r>
            <a:endParaRPr lang="en-US" sz="1300" dirty="0"/>
          </a:p>
        </p:txBody>
      </p:sp>
      <p:sp>
        <p:nvSpPr>
          <p:cNvPr id="26" name="card-723"/>
          <p:cNvSpPr/>
          <p:nvPr/>
        </p:nvSpPr>
        <p:spPr>
          <a:xfrm>
            <a:off x="3227832" y="162763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27" name="text-724"/>
          <p:cNvSpPr txBox="1"/>
          <p:nvPr/>
        </p:nvSpPr>
        <p:spPr>
          <a:xfrm>
            <a:off x="3282696" y="163677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The 13-point ticket for multi-agent spawning was too massive, creating a delivery bottleneck.</a:t>
            </a:r>
            <a:endParaRPr lang="en-US" sz="950" dirty="0"/>
          </a:p>
        </p:txBody>
      </p:sp>
      <p:sp>
        <p:nvSpPr>
          <p:cNvPr id="28" name="card-725"/>
          <p:cNvSpPr/>
          <p:nvPr/>
        </p:nvSpPr>
        <p:spPr>
          <a:xfrm>
            <a:off x="3227832" y="2139696"/>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29" name="text-726"/>
          <p:cNvSpPr txBox="1"/>
          <p:nvPr/>
        </p:nvSpPr>
        <p:spPr>
          <a:xfrm>
            <a:off x="3282696" y="2148840"/>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Schema validation and dynamic table creation stalled because verifying structures required manual checks.</a:t>
            </a:r>
            <a:endParaRPr lang="en-US" sz="950" dirty="0"/>
          </a:p>
        </p:txBody>
      </p:sp>
      <p:sp>
        <p:nvSpPr>
          <p:cNvPr id="30" name="card-727"/>
          <p:cNvSpPr/>
          <p:nvPr/>
        </p:nvSpPr>
        <p:spPr>
          <a:xfrm>
            <a:off x="3227832" y="2651760"/>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31" name="text-728"/>
          <p:cNvSpPr txBox="1"/>
          <p:nvPr/>
        </p:nvSpPr>
        <p:spPr>
          <a:xfrm>
            <a:off x="3282696" y="2660904"/>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Technical documentation and Wiki page updates were neglected early on, resulting in a last-minute rush.</a:t>
            </a:r>
            <a:endParaRPr lang="en-US" sz="950" dirty="0"/>
          </a:p>
        </p:txBody>
      </p:sp>
      <p:sp>
        <p:nvSpPr>
          <p:cNvPr id="32" name="card-729"/>
          <p:cNvSpPr/>
          <p:nvPr/>
        </p:nvSpPr>
        <p:spPr>
          <a:xfrm>
            <a:off x="3227832" y="3163824"/>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33" name="text-730"/>
          <p:cNvSpPr txBox="1"/>
          <p:nvPr/>
        </p:nvSpPr>
        <p:spPr>
          <a:xfrm>
            <a:off x="3282696" y="3172968"/>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Technical dependencies between the frontend interface and backend workflows caused idle blocking time.</a:t>
            </a:r>
            <a:endParaRPr lang="en-US" sz="950" dirty="0"/>
          </a:p>
        </p:txBody>
      </p:sp>
      <p:sp>
        <p:nvSpPr>
          <p:cNvPr id="34" name="card-731"/>
          <p:cNvSpPr/>
          <p:nvPr/>
        </p:nvSpPr>
        <p:spPr>
          <a:xfrm>
            <a:off x="3227832" y="3675888"/>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35" name="text-732"/>
          <p:cNvSpPr txBox="1"/>
          <p:nvPr/>
        </p:nvSpPr>
        <p:spPr>
          <a:xfrm>
            <a:off x="3282696" y="3685032"/>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End-to-end testing of workflows lacked a dedicated setup, resulting in local environment confusion.</a:t>
            </a:r>
            <a:endParaRPr lang="en-US" sz="950" dirty="0"/>
          </a:p>
        </p:txBody>
      </p:sp>
      <p:sp>
        <p:nvSpPr>
          <p:cNvPr id="36" name="card-733"/>
          <p:cNvSpPr/>
          <p:nvPr/>
        </p:nvSpPr>
        <p:spPr>
          <a:xfrm>
            <a:off x="3227832" y="418795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37" name="text-734"/>
          <p:cNvSpPr txBox="1"/>
          <p:nvPr/>
        </p:nvSpPr>
        <p:spPr>
          <a:xfrm>
            <a:off x="3282696" y="419709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Minor feature scope creep entered the sprint via loose parameters, delaying optimization code.</a:t>
            </a:r>
            <a:endParaRPr lang="en-US" sz="950" dirty="0"/>
          </a:p>
        </p:txBody>
      </p:sp>
      <p:sp>
        <p:nvSpPr>
          <p:cNvPr id="38" name="card-735"/>
          <p:cNvSpPr/>
          <p:nvPr/>
        </p:nvSpPr>
        <p:spPr>
          <a:xfrm>
            <a:off x="5998464" y="1170432"/>
            <a:ext cx="2688336" cy="384048"/>
          </a:xfrm>
          <a:prstGeom prst="roundRect">
            <a:avLst>
              <a:gd name="adj" fmla="val 14286"/>
            </a:avLst>
          </a:prstGeom>
          <a:solidFill>
            <a:schemeClr val="tx2"/>
          </a:solidFill>
          <a:ln/>
        </p:spPr>
        <p:txBody>
          <a:bodyPr/>
          <a:lstStyle/>
          <a:p>
            <a:endParaRPr lang="en-US"/>
          </a:p>
        </p:txBody>
      </p:sp>
      <p:sp>
        <p:nvSpPr>
          <p:cNvPr id="39" name="badge-736"/>
          <p:cNvSpPr/>
          <p:nvPr/>
        </p:nvSpPr>
        <p:spPr>
          <a:xfrm>
            <a:off x="6071616" y="1216152"/>
            <a:ext cx="292608" cy="292608"/>
          </a:xfrm>
          <a:prstGeom prst="ellipse">
            <a:avLst/>
          </a:prstGeom>
          <a:solidFill>
            <a:schemeClr val="accent2"/>
          </a:solidFill>
          <a:ln/>
        </p:spPr>
        <p:txBody>
          <a:bodyPr/>
          <a:lstStyle/>
          <a:p>
            <a:endParaRPr lang="en-US"/>
          </a:p>
        </p:txBody>
      </p:sp>
      <p:pic>
        <p:nvPicPr>
          <p:cNvPr id="40" name="icon-737" descr="preencoded.png"/>
          <p:cNvPicPr>
            <a:picLocks noChangeAspect="1"/>
          </p:cNvPicPr>
          <p:nvPr/>
        </p:nvPicPr>
        <p:blipFill>
          <a:blip r:embed="rId5"/>
          <a:stretch>
            <a:fillRect/>
          </a:stretch>
        </p:blipFill>
        <p:spPr>
          <a:xfrm>
            <a:off x="6135990" y="1280526"/>
            <a:ext cx="163860" cy="163860"/>
          </a:xfrm>
          <a:prstGeom prst="rect">
            <a:avLst/>
          </a:prstGeom>
        </p:spPr>
      </p:pic>
      <p:sp>
        <p:nvSpPr>
          <p:cNvPr id="41" name="text-738"/>
          <p:cNvSpPr txBox="1"/>
          <p:nvPr/>
        </p:nvSpPr>
        <p:spPr>
          <a:xfrm>
            <a:off x="6455664" y="1170432"/>
            <a:ext cx="2176272" cy="384048"/>
          </a:xfrm>
          <a:prstGeom prst="rect">
            <a:avLst/>
          </a:prstGeom>
          <a:noFill/>
          <a:ln/>
        </p:spPr>
        <p:txBody>
          <a:bodyPr wrap="square" lIns="0" tIns="0" rIns="0" bIns="0" rtlCol="0" anchor="ctr"/>
          <a:lstStyle/>
          <a:p>
            <a:pPr marL="0" indent="0">
              <a:buNone/>
            </a:pPr>
            <a:r>
              <a:rPr lang="en-US" sz="1300" b="1" dirty="0">
                <a:solidFill>
                  <a:schemeClr val="bg1"/>
                </a:solidFill>
              </a:rPr>
              <a:t>Action items</a:t>
            </a:r>
            <a:endParaRPr lang="en-US" sz="1300" dirty="0"/>
          </a:p>
        </p:txBody>
      </p:sp>
      <p:sp>
        <p:nvSpPr>
          <p:cNvPr id="42" name="card-739"/>
          <p:cNvSpPr/>
          <p:nvPr/>
        </p:nvSpPr>
        <p:spPr>
          <a:xfrm>
            <a:off x="5998464" y="162763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43" name="text-740"/>
          <p:cNvSpPr txBox="1"/>
          <p:nvPr/>
        </p:nvSpPr>
        <p:spPr>
          <a:xfrm>
            <a:off x="6053328" y="163677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Split any ticket larger than 5 story points into smaller, independent sub-tasks during planning.</a:t>
            </a:r>
            <a:endParaRPr lang="en-US" sz="950" dirty="0"/>
          </a:p>
        </p:txBody>
      </p:sp>
      <p:sp>
        <p:nvSpPr>
          <p:cNvPr id="44" name="card-741"/>
          <p:cNvSpPr/>
          <p:nvPr/>
        </p:nvSpPr>
        <p:spPr>
          <a:xfrm>
            <a:off x="5998464" y="2139696"/>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45" name="text-742"/>
          <p:cNvSpPr txBox="1"/>
          <p:nvPr/>
        </p:nvSpPr>
        <p:spPr>
          <a:xfrm>
            <a:off x="6053328" y="2148840"/>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Implement automated schema assertion tests to validate database fields on every code commit.</a:t>
            </a:r>
            <a:endParaRPr lang="en-US" sz="950" dirty="0"/>
          </a:p>
        </p:txBody>
      </p:sp>
      <p:sp>
        <p:nvSpPr>
          <p:cNvPr id="46" name="card-743"/>
          <p:cNvSpPr/>
          <p:nvPr/>
        </p:nvSpPr>
        <p:spPr>
          <a:xfrm>
            <a:off x="5998464" y="2651760"/>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47" name="text-744"/>
          <p:cNvSpPr txBox="1"/>
          <p:nvPr/>
        </p:nvSpPr>
        <p:spPr>
          <a:xfrm>
            <a:off x="6053328" y="2660904"/>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Enforce a strict 'Definition of Done' where a feature cannot be closed until its documentation is written.</a:t>
            </a:r>
            <a:endParaRPr lang="en-US" sz="950" dirty="0"/>
          </a:p>
        </p:txBody>
      </p:sp>
      <p:sp>
        <p:nvSpPr>
          <p:cNvPr id="48" name="card-745"/>
          <p:cNvSpPr/>
          <p:nvPr/>
        </p:nvSpPr>
        <p:spPr>
          <a:xfrm>
            <a:off x="5998464" y="3163824"/>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49" name="text-746"/>
          <p:cNvSpPr txBox="1"/>
          <p:nvPr/>
        </p:nvSpPr>
        <p:spPr>
          <a:xfrm>
            <a:off x="6053328" y="3172968"/>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Create mock API schemas on Day 1 of the sprint so frontend and backend teams can develop in parallel.</a:t>
            </a:r>
            <a:endParaRPr lang="en-US" sz="950" dirty="0"/>
          </a:p>
        </p:txBody>
      </p:sp>
      <p:sp>
        <p:nvSpPr>
          <p:cNvPr id="50" name="card-747"/>
          <p:cNvSpPr/>
          <p:nvPr/>
        </p:nvSpPr>
        <p:spPr>
          <a:xfrm>
            <a:off x="5998464" y="3675888"/>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51" name="text-748"/>
          <p:cNvSpPr txBox="1"/>
          <p:nvPr/>
        </p:nvSpPr>
        <p:spPr>
          <a:xfrm>
            <a:off x="6053328" y="3685032"/>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Build a lightweight Docker Compose script to launch the entire agent mesh locally with one command.</a:t>
            </a:r>
            <a:endParaRPr lang="en-US" sz="950" dirty="0"/>
          </a:p>
        </p:txBody>
      </p:sp>
      <p:sp>
        <p:nvSpPr>
          <p:cNvPr id="52" name="card-749"/>
          <p:cNvSpPr/>
          <p:nvPr/>
        </p:nvSpPr>
        <p:spPr>
          <a:xfrm>
            <a:off x="5998464" y="4187952"/>
            <a:ext cx="2688336" cy="457200"/>
          </a:xfrm>
          <a:prstGeom prst="roundRect">
            <a:avLst>
              <a:gd name="adj" fmla="val 10000"/>
            </a:avLst>
          </a:prstGeom>
          <a:solidFill>
            <a:schemeClr val="bg1"/>
          </a:solidFill>
          <a:ln w="9525">
            <a:solidFill>
              <a:srgbClr val="E1E5F5"/>
            </a:solidFill>
            <a:prstDash val="solid"/>
          </a:ln>
        </p:spPr>
        <p:txBody>
          <a:bodyPr/>
          <a:lstStyle/>
          <a:p>
            <a:endParaRPr lang="en-US"/>
          </a:p>
        </p:txBody>
      </p:sp>
      <p:sp>
        <p:nvSpPr>
          <p:cNvPr id="53" name="text-750"/>
          <p:cNvSpPr txBox="1"/>
          <p:nvPr/>
        </p:nvSpPr>
        <p:spPr>
          <a:xfrm>
            <a:off x="6053328" y="4197096"/>
            <a:ext cx="2578608" cy="438912"/>
          </a:xfrm>
          <a:prstGeom prst="rect">
            <a:avLst/>
          </a:prstGeom>
          <a:noFill/>
          <a:ln/>
        </p:spPr>
        <p:txBody>
          <a:bodyPr wrap="square" lIns="0" tIns="0" rIns="0" bIns="0" rtlCol="0" anchor="ctr"/>
          <a:lstStyle/>
          <a:p>
            <a:pPr marL="127000" indent="-127000">
              <a:buSzPct val="100000"/>
              <a:buChar char="•"/>
            </a:pPr>
            <a:r>
              <a:rPr lang="en-US" sz="950" dirty="0">
                <a:solidFill>
                  <a:schemeClr val="tx1"/>
                </a:solidFill>
              </a:rPr>
              <a:t>Require explicit Product Owner approval before any functional scope adjustments are made mid-sprint.</a:t>
            </a:r>
            <a:endParaRPr lang="en-US" sz="950" dirty="0"/>
          </a:p>
        </p:txBody>
      </p:sp>
      <p:sp>
        <p:nvSpPr>
          <p:cNvPr id="5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SPRINT 2  ·  PLANNED AND COMMITTED</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Stories committed for Sprint 2</a:t>
            </a:r>
            <a:endParaRPr lang="en-US" sz="2800" dirty="0"/>
          </a:p>
        </p:txBody>
      </p:sp>
      <p:sp>
        <p:nvSpPr>
          <p:cNvPr id="4" name="card-751"/>
          <p:cNvSpPr/>
          <p:nvPr/>
        </p:nvSpPr>
        <p:spPr>
          <a:xfrm>
            <a:off x="457200" y="1188720"/>
            <a:ext cx="5486400" cy="566928"/>
          </a:xfrm>
          <a:prstGeom prst="roundRect">
            <a:avLst>
              <a:gd name="adj" fmla="val 12903"/>
            </a:avLst>
          </a:prstGeom>
          <a:solidFill>
            <a:schemeClr val="bg1"/>
          </a:solidFill>
          <a:ln w="9525">
            <a:solidFill>
              <a:srgbClr val="E1E5F5"/>
            </a:solidFill>
            <a:prstDash val="solid"/>
          </a:ln>
        </p:spPr>
        <p:txBody>
          <a:bodyPr/>
          <a:lstStyle/>
          <a:p>
            <a:endParaRPr lang="en-US"/>
          </a:p>
        </p:txBody>
      </p:sp>
      <p:sp>
        <p:nvSpPr>
          <p:cNvPr id="5" name="text-752"/>
          <p:cNvSpPr txBox="1"/>
          <p:nvPr/>
        </p:nvSpPr>
        <p:spPr>
          <a:xfrm>
            <a:off x="594360" y="1188720"/>
            <a:ext cx="640080" cy="566928"/>
          </a:xfrm>
          <a:prstGeom prst="rect">
            <a:avLst/>
          </a:prstGeom>
          <a:noFill/>
          <a:ln/>
        </p:spPr>
        <p:txBody>
          <a:bodyPr wrap="square" lIns="0" tIns="0" rIns="0" bIns="0" rtlCol="0" anchor="ctr"/>
          <a:lstStyle/>
          <a:p>
            <a:pPr marL="0" indent="0">
              <a:buNone/>
            </a:pPr>
            <a:r>
              <a:rPr lang="en-US" sz="1150" b="1" dirty="0">
                <a:solidFill>
                  <a:schemeClr val="accent1"/>
                </a:solidFill>
              </a:rPr>
              <a:t>US_06</a:t>
            </a:r>
            <a:endParaRPr lang="en-US" sz="1150" dirty="0"/>
          </a:p>
        </p:txBody>
      </p:sp>
      <p:sp>
        <p:nvSpPr>
          <p:cNvPr id="6" name="text-753"/>
          <p:cNvSpPr txBox="1"/>
          <p:nvPr/>
        </p:nvSpPr>
        <p:spPr>
          <a:xfrm>
            <a:off x="1261872" y="1252728"/>
            <a:ext cx="3749040" cy="237744"/>
          </a:xfrm>
          <a:prstGeom prst="rect">
            <a:avLst/>
          </a:prstGeom>
          <a:noFill/>
          <a:ln/>
        </p:spPr>
        <p:txBody>
          <a:bodyPr wrap="square" lIns="0" tIns="0" rIns="0" bIns="0" rtlCol="0" anchor="t"/>
          <a:lstStyle/>
          <a:p>
            <a:pPr marL="0" indent="0">
              <a:buNone/>
            </a:pPr>
            <a:r>
              <a:rPr lang="en-US" sz="1250" b="1" dirty="0">
                <a:solidFill>
                  <a:schemeClr val="tx2"/>
                </a:solidFill>
              </a:rPr>
              <a:t>Workflow Planning</a:t>
            </a:r>
            <a:endParaRPr lang="en-US" sz="1250" dirty="0"/>
          </a:p>
        </p:txBody>
      </p:sp>
      <p:sp>
        <p:nvSpPr>
          <p:cNvPr id="7" name="text-754"/>
          <p:cNvSpPr txBox="1"/>
          <p:nvPr/>
        </p:nvSpPr>
        <p:spPr>
          <a:xfrm>
            <a:off x="1261872" y="1490472"/>
            <a:ext cx="3840480" cy="219456"/>
          </a:xfrm>
          <a:prstGeom prst="rect">
            <a:avLst/>
          </a:prstGeom>
          <a:noFill/>
          <a:ln/>
        </p:spPr>
        <p:txBody>
          <a:bodyPr wrap="square" lIns="0" tIns="0" rIns="0" bIns="0" rtlCol="0" anchor="t"/>
          <a:lstStyle/>
          <a:p>
            <a:pPr marL="0" indent="0">
              <a:buNone/>
            </a:pPr>
            <a:r>
              <a:rPr lang="en-US" sz="1050" dirty="0">
                <a:solidFill>
                  <a:schemeClr val="tx1"/>
                </a:solidFill>
              </a:rPr>
              <a:t>Agents arranged into a validated DAG, saved and viewable</a:t>
            </a:r>
            <a:endParaRPr lang="en-US" sz="1050" dirty="0"/>
          </a:p>
        </p:txBody>
      </p:sp>
      <p:sp>
        <p:nvSpPr>
          <p:cNvPr id="8" name="card-755"/>
          <p:cNvSpPr/>
          <p:nvPr/>
        </p:nvSpPr>
        <p:spPr>
          <a:xfrm>
            <a:off x="5138928" y="1335024"/>
            <a:ext cx="676656" cy="274320"/>
          </a:xfrm>
          <a:prstGeom prst="roundRect">
            <a:avLst>
              <a:gd name="adj" fmla="val 50000"/>
            </a:avLst>
          </a:prstGeom>
          <a:solidFill>
            <a:schemeClr val="accent1"/>
          </a:solidFill>
          <a:ln/>
        </p:spPr>
        <p:txBody>
          <a:bodyPr/>
          <a:lstStyle/>
          <a:p>
            <a:endParaRPr lang="en-US"/>
          </a:p>
        </p:txBody>
      </p:sp>
      <p:sp>
        <p:nvSpPr>
          <p:cNvPr id="9" name="text-756"/>
          <p:cNvSpPr txBox="1"/>
          <p:nvPr/>
        </p:nvSpPr>
        <p:spPr>
          <a:xfrm>
            <a:off x="5138928" y="1335024"/>
            <a:ext cx="676656" cy="274320"/>
          </a:xfrm>
          <a:prstGeom prst="rect">
            <a:avLst/>
          </a:prstGeom>
          <a:noFill/>
          <a:ln/>
        </p:spPr>
        <p:txBody>
          <a:bodyPr wrap="square" lIns="0" tIns="0" rIns="0" bIns="0" rtlCol="0" anchor="ctr"/>
          <a:lstStyle/>
          <a:p>
            <a:pPr marL="0" indent="0" algn="ctr">
              <a:buNone/>
            </a:pPr>
            <a:r>
              <a:rPr lang="en-US" sz="1000" b="1" dirty="0">
                <a:solidFill>
                  <a:schemeClr val="bg1"/>
                </a:solidFill>
              </a:rPr>
              <a:t>13 pts</a:t>
            </a:r>
            <a:endParaRPr lang="en-US" sz="1000" dirty="0"/>
          </a:p>
        </p:txBody>
      </p:sp>
      <p:sp>
        <p:nvSpPr>
          <p:cNvPr id="10" name="card-757"/>
          <p:cNvSpPr/>
          <p:nvPr/>
        </p:nvSpPr>
        <p:spPr>
          <a:xfrm>
            <a:off x="457200" y="1847088"/>
            <a:ext cx="5486400" cy="566928"/>
          </a:xfrm>
          <a:prstGeom prst="roundRect">
            <a:avLst>
              <a:gd name="adj" fmla="val 12903"/>
            </a:avLst>
          </a:prstGeom>
          <a:solidFill>
            <a:schemeClr val="bg1"/>
          </a:solidFill>
          <a:ln w="9525">
            <a:solidFill>
              <a:srgbClr val="E1E5F5"/>
            </a:solidFill>
            <a:prstDash val="solid"/>
          </a:ln>
        </p:spPr>
        <p:txBody>
          <a:bodyPr/>
          <a:lstStyle/>
          <a:p>
            <a:endParaRPr lang="en-US"/>
          </a:p>
        </p:txBody>
      </p:sp>
      <p:sp>
        <p:nvSpPr>
          <p:cNvPr id="11" name="text-758"/>
          <p:cNvSpPr txBox="1"/>
          <p:nvPr/>
        </p:nvSpPr>
        <p:spPr>
          <a:xfrm>
            <a:off x="594360" y="1847088"/>
            <a:ext cx="640080" cy="566928"/>
          </a:xfrm>
          <a:prstGeom prst="rect">
            <a:avLst/>
          </a:prstGeom>
          <a:noFill/>
          <a:ln/>
        </p:spPr>
        <p:txBody>
          <a:bodyPr wrap="square" lIns="0" tIns="0" rIns="0" bIns="0" rtlCol="0" anchor="ctr"/>
          <a:lstStyle/>
          <a:p>
            <a:pPr marL="0" indent="0">
              <a:buNone/>
            </a:pPr>
            <a:r>
              <a:rPr lang="en-US" sz="1150" b="1" dirty="0">
                <a:solidFill>
                  <a:schemeClr val="accent1"/>
                </a:solidFill>
              </a:rPr>
              <a:t>US_07</a:t>
            </a:r>
            <a:endParaRPr lang="en-US" sz="1150" dirty="0"/>
          </a:p>
        </p:txBody>
      </p:sp>
      <p:sp>
        <p:nvSpPr>
          <p:cNvPr id="12" name="text-759"/>
          <p:cNvSpPr txBox="1"/>
          <p:nvPr/>
        </p:nvSpPr>
        <p:spPr>
          <a:xfrm>
            <a:off x="1261872" y="1911096"/>
            <a:ext cx="3749040" cy="237744"/>
          </a:xfrm>
          <a:prstGeom prst="rect">
            <a:avLst/>
          </a:prstGeom>
          <a:noFill/>
          <a:ln/>
        </p:spPr>
        <p:txBody>
          <a:bodyPr wrap="square" lIns="0" tIns="0" rIns="0" bIns="0" rtlCol="0" anchor="t"/>
          <a:lstStyle/>
          <a:p>
            <a:pPr marL="0" indent="0">
              <a:buNone/>
            </a:pPr>
            <a:r>
              <a:rPr lang="en-US" sz="1250" b="1" dirty="0">
                <a:solidFill>
                  <a:schemeClr val="tx2"/>
                </a:solidFill>
              </a:rPr>
              <a:t>Workflow Execution</a:t>
            </a:r>
            <a:endParaRPr lang="en-US" sz="1250" dirty="0"/>
          </a:p>
        </p:txBody>
      </p:sp>
      <p:sp>
        <p:nvSpPr>
          <p:cNvPr id="13" name="text-760"/>
          <p:cNvSpPr txBox="1"/>
          <p:nvPr/>
        </p:nvSpPr>
        <p:spPr>
          <a:xfrm>
            <a:off x="1261872" y="2148840"/>
            <a:ext cx="3840480" cy="219456"/>
          </a:xfrm>
          <a:prstGeom prst="rect">
            <a:avLst/>
          </a:prstGeom>
          <a:noFill/>
          <a:ln/>
        </p:spPr>
        <p:txBody>
          <a:bodyPr wrap="square" lIns="0" tIns="0" rIns="0" bIns="0" rtlCol="0" anchor="t"/>
          <a:lstStyle/>
          <a:p>
            <a:pPr marL="0" indent="0">
              <a:buNone/>
            </a:pPr>
            <a:r>
              <a:rPr lang="en-US" sz="1050" dirty="0">
                <a:solidFill>
                  <a:schemeClr val="tx1"/>
                </a:solidFill>
              </a:rPr>
              <a:t>Parallel steps, retries and live progress without refresh</a:t>
            </a:r>
            <a:endParaRPr lang="en-US" sz="1050" dirty="0"/>
          </a:p>
        </p:txBody>
      </p:sp>
      <p:sp>
        <p:nvSpPr>
          <p:cNvPr id="14" name="card-761"/>
          <p:cNvSpPr/>
          <p:nvPr/>
        </p:nvSpPr>
        <p:spPr>
          <a:xfrm>
            <a:off x="5138928" y="1993392"/>
            <a:ext cx="676656" cy="274320"/>
          </a:xfrm>
          <a:prstGeom prst="roundRect">
            <a:avLst>
              <a:gd name="adj" fmla="val 50000"/>
            </a:avLst>
          </a:prstGeom>
          <a:solidFill>
            <a:schemeClr val="accent1"/>
          </a:solidFill>
          <a:ln/>
        </p:spPr>
        <p:txBody>
          <a:bodyPr/>
          <a:lstStyle/>
          <a:p>
            <a:endParaRPr lang="en-US"/>
          </a:p>
        </p:txBody>
      </p:sp>
      <p:sp>
        <p:nvSpPr>
          <p:cNvPr id="15" name="text-762"/>
          <p:cNvSpPr txBox="1"/>
          <p:nvPr/>
        </p:nvSpPr>
        <p:spPr>
          <a:xfrm>
            <a:off x="5138928" y="1993392"/>
            <a:ext cx="676656" cy="274320"/>
          </a:xfrm>
          <a:prstGeom prst="rect">
            <a:avLst/>
          </a:prstGeom>
          <a:noFill/>
          <a:ln/>
        </p:spPr>
        <p:txBody>
          <a:bodyPr wrap="square" lIns="0" tIns="0" rIns="0" bIns="0" rtlCol="0" anchor="ctr"/>
          <a:lstStyle/>
          <a:p>
            <a:pPr marL="0" indent="0" algn="ctr">
              <a:buNone/>
            </a:pPr>
            <a:r>
              <a:rPr lang="en-US" sz="1000" b="1" dirty="0">
                <a:solidFill>
                  <a:schemeClr val="bg1"/>
                </a:solidFill>
              </a:rPr>
              <a:t>13 pts</a:t>
            </a:r>
            <a:endParaRPr lang="en-US" sz="1000" dirty="0"/>
          </a:p>
        </p:txBody>
      </p:sp>
      <p:sp>
        <p:nvSpPr>
          <p:cNvPr id="16" name="card-763"/>
          <p:cNvSpPr/>
          <p:nvPr/>
        </p:nvSpPr>
        <p:spPr>
          <a:xfrm>
            <a:off x="457200" y="2505456"/>
            <a:ext cx="5486400" cy="566928"/>
          </a:xfrm>
          <a:prstGeom prst="roundRect">
            <a:avLst>
              <a:gd name="adj" fmla="val 12903"/>
            </a:avLst>
          </a:prstGeom>
          <a:solidFill>
            <a:schemeClr val="bg1"/>
          </a:solidFill>
          <a:ln w="9525">
            <a:solidFill>
              <a:srgbClr val="E1E5F5"/>
            </a:solidFill>
            <a:prstDash val="solid"/>
          </a:ln>
        </p:spPr>
        <p:txBody>
          <a:bodyPr/>
          <a:lstStyle/>
          <a:p>
            <a:endParaRPr lang="en-US"/>
          </a:p>
        </p:txBody>
      </p:sp>
      <p:sp>
        <p:nvSpPr>
          <p:cNvPr id="17" name="text-764"/>
          <p:cNvSpPr txBox="1"/>
          <p:nvPr/>
        </p:nvSpPr>
        <p:spPr>
          <a:xfrm>
            <a:off x="594360" y="2505456"/>
            <a:ext cx="640080" cy="566928"/>
          </a:xfrm>
          <a:prstGeom prst="rect">
            <a:avLst/>
          </a:prstGeom>
          <a:noFill/>
          <a:ln/>
        </p:spPr>
        <p:txBody>
          <a:bodyPr wrap="square" lIns="0" tIns="0" rIns="0" bIns="0" rtlCol="0" anchor="ctr"/>
          <a:lstStyle/>
          <a:p>
            <a:pPr marL="0" indent="0">
              <a:buNone/>
            </a:pPr>
            <a:r>
              <a:rPr lang="en-US" sz="1150" b="1" dirty="0">
                <a:solidFill>
                  <a:schemeClr val="accent1"/>
                </a:solidFill>
              </a:rPr>
              <a:t>US_08</a:t>
            </a:r>
            <a:endParaRPr lang="en-US" sz="1150" dirty="0"/>
          </a:p>
        </p:txBody>
      </p:sp>
      <p:sp>
        <p:nvSpPr>
          <p:cNvPr id="18" name="text-765"/>
          <p:cNvSpPr txBox="1"/>
          <p:nvPr/>
        </p:nvSpPr>
        <p:spPr>
          <a:xfrm>
            <a:off x="1261872" y="2569464"/>
            <a:ext cx="3749040" cy="237744"/>
          </a:xfrm>
          <a:prstGeom prst="rect">
            <a:avLst/>
          </a:prstGeom>
          <a:noFill/>
          <a:ln/>
        </p:spPr>
        <p:txBody>
          <a:bodyPr wrap="square" lIns="0" tIns="0" rIns="0" bIns="0" rtlCol="0" anchor="t"/>
          <a:lstStyle/>
          <a:p>
            <a:pPr marL="0" indent="0">
              <a:buNone/>
            </a:pPr>
            <a:r>
              <a:rPr lang="en-US" sz="1250" b="1" dirty="0">
                <a:solidFill>
                  <a:schemeClr val="tx2"/>
                </a:solidFill>
              </a:rPr>
              <a:t>Specialist Agents</a:t>
            </a:r>
            <a:endParaRPr lang="en-US" sz="1250" dirty="0"/>
          </a:p>
        </p:txBody>
      </p:sp>
      <p:sp>
        <p:nvSpPr>
          <p:cNvPr id="19" name="text-766"/>
          <p:cNvSpPr txBox="1"/>
          <p:nvPr/>
        </p:nvSpPr>
        <p:spPr>
          <a:xfrm>
            <a:off x="1261872" y="2807208"/>
            <a:ext cx="3840480" cy="219456"/>
          </a:xfrm>
          <a:prstGeom prst="rect">
            <a:avLst/>
          </a:prstGeom>
          <a:noFill/>
          <a:ln/>
        </p:spPr>
        <p:txBody>
          <a:bodyPr wrap="square" lIns="0" tIns="0" rIns="0" bIns="0" rtlCol="0" anchor="t"/>
          <a:lstStyle/>
          <a:p>
            <a:pPr marL="0" indent="0">
              <a:buNone/>
            </a:pPr>
            <a:r>
              <a:rPr lang="en-US" sz="1050" dirty="0">
                <a:solidFill>
                  <a:schemeClr val="tx1"/>
                </a:solidFill>
              </a:rPr>
              <a:t>Review-fix-test and clean-analyse-report pipelines</a:t>
            </a:r>
            <a:endParaRPr lang="en-US" sz="1050" dirty="0"/>
          </a:p>
        </p:txBody>
      </p:sp>
      <p:sp>
        <p:nvSpPr>
          <p:cNvPr id="20" name="card-767"/>
          <p:cNvSpPr/>
          <p:nvPr/>
        </p:nvSpPr>
        <p:spPr>
          <a:xfrm>
            <a:off x="5138928" y="2651760"/>
            <a:ext cx="676656" cy="274320"/>
          </a:xfrm>
          <a:prstGeom prst="roundRect">
            <a:avLst>
              <a:gd name="adj" fmla="val 50000"/>
            </a:avLst>
          </a:prstGeom>
          <a:solidFill>
            <a:schemeClr val="accent1"/>
          </a:solidFill>
          <a:ln/>
        </p:spPr>
        <p:txBody>
          <a:bodyPr/>
          <a:lstStyle/>
          <a:p>
            <a:endParaRPr lang="en-US"/>
          </a:p>
        </p:txBody>
      </p:sp>
      <p:sp>
        <p:nvSpPr>
          <p:cNvPr id="21" name="text-768"/>
          <p:cNvSpPr txBox="1"/>
          <p:nvPr/>
        </p:nvSpPr>
        <p:spPr>
          <a:xfrm>
            <a:off x="5138928" y="2651760"/>
            <a:ext cx="676656" cy="274320"/>
          </a:xfrm>
          <a:prstGeom prst="rect">
            <a:avLst/>
          </a:prstGeom>
          <a:noFill/>
          <a:ln/>
        </p:spPr>
        <p:txBody>
          <a:bodyPr wrap="square" lIns="0" tIns="0" rIns="0" bIns="0" rtlCol="0" anchor="ctr"/>
          <a:lstStyle/>
          <a:p>
            <a:pPr marL="0" indent="0" algn="ctr">
              <a:buNone/>
            </a:pPr>
            <a:r>
              <a:rPr lang="en-US" sz="1000" b="1" dirty="0">
                <a:solidFill>
                  <a:schemeClr val="bg1"/>
                </a:solidFill>
              </a:rPr>
              <a:t>13 pts</a:t>
            </a:r>
            <a:endParaRPr lang="en-US" sz="1000" dirty="0"/>
          </a:p>
        </p:txBody>
      </p:sp>
      <p:sp>
        <p:nvSpPr>
          <p:cNvPr id="22" name="card-769"/>
          <p:cNvSpPr/>
          <p:nvPr/>
        </p:nvSpPr>
        <p:spPr>
          <a:xfrm>
            <a:off x="6172200" y="1188720"/>
            <a:ext cx="2514600" cy="1207008"/>
          </a:xfrm>
          <a:prstGeom prst="roundRect">
            <a:avLst>
              <a:gd name="adj" fmla="val 6061"/>
            </a:avLst>
          </a:prstGeom>
          <a:solidFill>
            <a:schemeClr val="tx2"/>
          </a:solidFill>
          <a:ln/>
        </p:spPr>
        <p:txBody>
          <a:bodyPr/>
          <a:lstStyle/>
          <a:p>
            <a:endParaRPr lang="en-US"/>
          </a:p>
        </p:txBody>
      </p:sp>
      <p:sp>
        <p:nvSpPr>
          <p:cNvPr id="23" name="text-770"/>
          <p:cNvSpPr txBox="1"/>
          <p:nvPr/>
        </p:nvSpPr>
        <p:spPr>
          <a:xfrm>
            <a:off x="6355080" y="1298448"/>
            <a:ext cx="219456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COMMITTED</a:t>
            </a:r>
            <a:endParaRPr lang="en-US" sz="1050" dirty="0"/>
          </a:p>
        </p:txBody>
      </p:sp>
      <p:sp>
        <p:nvSpPr>
          <p:cNvPr id="24" name="text-771"/>
          <p:cNvSpPr txBox="1"/>
          <p:nvPr/>
        </p:nvSpPr>
        <p:spPr>
          <a:xfrm>
            <a:off x="6355080" y="1554480"/>
            <a:ext cx="2194560" cy="685800"/>
          </a:xfrm>
          <a:prstGeom prst="rect">
            <a:avLst/>
          </a:prstGeom>
          <a:noFill/>
          <a:ln/>
        </p:spPr>
        <p:txBody>
          <a:bodyPr wrap="square" lIns="0" tIns="0" rIns="0" bIns="0" rtlCol="0" anchor="t"/>
          <a:lstStyle/>
          <a:p>
            <a:pPr marL="0" indent="0">
              <a:buNone/>
            </a:pPr>
            <a:r>
              <a:rPr lang="en-US" sz="3600" b="1" dirty="0">
                <a:solidFill>
                  <a:schemeClr val="bg1"/>
                </a:solidFill>
                <a:latin typeface="Cambria" pitchFamily="34" charset="0"/>
                <a:ea typeface="Cambria" pitchFamily="34" charset="-122"/>
                <a:cs typeface="Cambria" pitchFamily="34" charset="-120"/>
              </a:rPr>
              <a:t>39 pts</a:t>
            </a:r>
            <a:endParaRPr lang="en-US" sz="3600" dirty="0"/>
          </a:p>
        </p:txBody>
      </p:sp>
      <p:sp>
        <p:nvSpPr>
          <p:cNvPr id="25" name="card-772"/>
          <p:cNvSpPr/>
          <p:nvPr/>
        </p:nvSpPr>
        <p:spPr>
          <a:xfrm>
            <a:off x="6172200" y="2514600"/>
            <a:ext cx="2514600" cy="1216152"/>
          </a:xfrm>
          <a:prstGeom prst="roundRect">
            <a:avLst>
              <a:gd name="adj" fmla="val 6015"/>
            </a:avLst>
          </a:prstGeom>
          <a:solidFill>
            <a:schemeClr val="bg1"/>
          </a:solidFill>
          <a:ln w="9525">
            <a:solidFill>
              <a:srgbClr val="E1E5F5"/>
            </a:solidFill>
            <a:prstDash val="solid"/>
          </a:ln>
        </p:spPr>
        <p:txBody>
          <a:bodyPr/>
          <a:lstStyle/>
          <a:p>
            <a:endParaRPr lang="en-US"/>
          </a:p>
        </p:txBody>
      </p:sp>
      <p:sp>
        <p:nvSpPr>
          <p:cNvPr id="26" name="text-773"/>
          <p:cNvSpPr txBox="1"/>
          <p:nvPr/>
        </p:nvSpPr>
        <p:spPr>
          <a:xfrm>
            <a:off x="6355080" y="2624328"/>
            <a:ext cx="2240280" cy="219456"/>
          </a:xfrm>
          <a:prstGeom prst="rect">
            <a:avLst/>
          </a:prstGeom>
          <a:noFill/>
          <a:ln/>
        </p:spPr>
        <p:txBody>
          <a:bodyPr wrap="square" lIns="0" tIns="0" rIns="0" bIns="0" rtlCol="0" anchor="t"/>
          <a:lstStyle/>
          <a:p>
            <a:pPr marL="0" indent="0">
              <a:buNone/>
            </a:pPr>
            <a:r>
              <a:rPr lang="en-US" sz="1050" b="1" kern="0" spc="100" dirty="0">
                <a:solidFill>
                  <a:schemeClr val="accent1"/>
                </a:solidFill>
              </a:rPr>
              <a:t>CARRY-OVER FROM SPRINT 1</a:t>
            </a:r>
            <a:endParaRPr lang="en-US" sz="1050" dirty="0"/>
          </a:p>
        </p:txBody>
      </p:sp>
      <p:sp>
        <p:nvSpPr>
          <p:cNvPr id="27" name="text-774"/>
          <p:cNvSpPr txBox="1"/>
          <p:nvPr/>
        </p:nvSpPr>
        <p:spPr>
          <a:xfrm>
            <a:off x="6355080" y="2880360"/>
            <a:ext cx="2194560" cy="457200"/>
          </a:xfrm>
          <a:prstGeom prst="rect">
            <a:avLst/>
          </a:prstGeom>
          <a:noFill/>
          <a:ln/>
        </p:spPr>
        <p:txBody>
          <a:bodyPr wrap="square" lIns="0" tIns="0" rIns="0" bIns="0" rtlCol="0" anchor="t"/>
          <a:lstStyle/>
          <a:p>
            <a:pPr marL="0" indent="0">
              <a:buNone/>
            </a:pPr>
            <a:r>
              <a:rPr lang="en-US" sz="2600" b="1" dirty="0">
                <a:solidFill>
                  <a:schemeClr val="tx2"/>
                </a:solidFill>
                <a:latin typeface="Cambria" pitchFamily="34" charset="0"/>
                <a:ea typeface="Cambria" pitchFamily="34" charset="-122"/>
                <a:cs typeface="Cambria" pitchFamily="34" charset="-120"/>
              </a:rPr>
              <a:t>None</a:t>
            </a:r>
            <a:endParaRPr lang="en-US" sz="2600" dirty="0"/>
          </a:p>
        </p:txBody>
      </p:sp>
      <p:sp>
        <p:nvSpPr>
          <p:cNvPr id="28" name="text-775"/>
          <p:cNvSpPr txBox="1"/>
          <p:nvPr/>
        </p:nvSpPr>
        <p:spPr>
          <a:xfrm>
            <a:off x="6355080" y="3364992"/>
            <a:ext cx="2194560" cy="274320"/>
          </a:xfrm>
          <a:prstGeom prst="rect">
            <a:avLst/>
          </a:prstGeom>
          <a:noFill/>
          <a:ln/>
        </p:spPr>
        <p:txBody>
          <a:bodyPr wrap="square" lIns="0" tIns="0" rIns="0" bIns="0" rtlCol="0" anchor="t"/>
          <a:lstStyle/>
          <a:p>
            <a:pPr marL="0" indent="0">
              <a:buNone/>
            </a:pPr>
            <a:r>
              <a:rPr lang="en-US" sz="1100" dirty="0">
                <a:solidFill>
                  <a:schemeClr val="tx1"/>
                </a:solidFill>
              </a:rPr>
              <a:t>all five stories accepted</a:t>
            </a:r>
            <a:endParaRPr lang="en-US" sz="1100" dirty="0"/>
          </a:p>
        </p:txBody>
      </p:sp>
      <p:sp>
        <p:nvSpPr>
          <p:cNvPr id="29" name="card-776"/>
          <p:cNvSpPr/>
          <p:nvPr/>
        </p:nvSpPr>
        <p:spPr>
          <a:xfrm>
            <a:off x="457200" y="3931920"/>
            <a:ext cx="8229600" cy="731520"/>
          </a:xfrm>
          <a:prstGeom prst="roundRect">
            <a:avLst>
              <a:gd name="adj" fmla="val 10000"/>
            </a:avLst>
          </a:prstGeom>
          <a:solidFill>
            <a:schemeClr val="tx2"/>
          </a:solidFill>
          <a:ln/>
        </p:spPr>
        <p:txBody>
          <a:bodyPr/>
          <a:lstStyle/>
          <a:p>
            <a:endParaRPr lang="en-US"/>
          </a:p>
        </p:txBody>
      </p:sp>
      <p:sp>
        <p:nvSpPr>
          <p:cNvPr id="30" name="badge-777"/>
          <p:cNvSpPr/>
          <p:nvPr/>
        </p:nvSpPr>
        <p:spPr>
          <a:xfrm>
            <a:off x="603504" y="4069080"/>
            <a:ext cx="457200" cy="457200"/>
          </a:xfrm>
          <a:prstGeom prst="ellipse">
            <a:avLst/>
          </a:prstGeom>
          <a:solidFill>
            <a:schemeClr val="accent2"/>
          </a:solidFill>
          <a:ln/>
        </p:spPr>
        <p:txBody>
          <a:bodyPr/>
          <a:lstStyle/>
          <a:p>
            <a:endParaRPr lang="en-US"/>
          </a:p>
        </p:txBody>
      </p:sp>
      <p:pic>
        <p:nvPicPr>
          <p:cNvPr id="31" name="icon-778" descr="preencoded.png"/>
          <p:cNvPicPr>
            <a:picLocks noChangeAspect="1"/>
          </p:cNvPicPr>
          <p:nvPr/>
        </p:nvPicPr>
        <p:blipFill>
          <a:blip r:embed="rId3"/>
          <a:stretch>
            <a:fillRect/>
          </a:stretch>
        </p:blipFill>
        <p:spPr>
          <a:xfrm>
            <a:off x="704088" y="4169664"/>
            <a:ext cx="256032" cy="256032"/>
          </a:xfrm>
          <a:prstGeom prst="rect">
            <a:avLst/>
          </a:prstGeom>
        </p:spPr>
      </p:pic>
      <p:sp>
        <p:nvSpPr>
          <p:cNvPr id="32" name="text-779"/>
          <p:cNvSpPr txBox="1"/>
          <p:nvPr/>
        </p:nvSpPr>
        <p:spPr>
          <a:xfrm>
            <a:off x="1234440" y="3931920"/>
            <a:ext cx="7315200" cy="731520"/>
          </a:xfrm>
          <a:prstGeom prst="rect">
            <a:avLst/>
          </a:prstGeom>
          <a:noFill/>
          <a:ln/>
        </p:spPr>
        <p:txBody>
          <a:bodyPr wrap="square" lIns="0" tIns="0" rIns="0" bIns="0" rtlCol="0" anchor="ctr"/>
          <a:lstStyle/>
          <a:p>
            <a:pPr marL="0" indent="0">
              <a:buNone/>
            </a:pPr>
            <a:r>
              <a:rPr lang="en-US" sz="1250" b="1" dirty="0">
                <a:solidFill>
                  <a:schemeClr val="accent4"/>
                </a:solidFill>
              </a:rPr>
              <a:t>Sprint 2 goal  </a:t>
            </a:r>
            <a:r>
              <a:rPr lang="en-US" sz="1250" dirty="0">
                <a:solidFill>
                  <a:schemeClr val="bg1"/>
                </a:solidFill>
              </a:rPr>
              <a:t>the agents spawned in Sprint 1 run as a workflow graph with sequential and parallel steps, retries, live progress and real specialist agents.</a:t>
            </a:r>
            <a:endParaRPr lang="en-US" sz="1250" dirty="0"/>
          </a:p>
        </p:txBody>
      </p:sp>
      <p:sp>
        <p:nvSpPr>
          <p:cNvPr id="33"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PROJECT DEMO  ·  APP SCREENSHOTS</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What a user sees, step by step</a:t>
            </a:r>
            <a:endParaRPr lang="en-US" sz="2800" dirty="0"/>
          </a:p>
        </p:txBody>
      </p:sp>
      <p:sp>
        <p:nvSpPr>
          <p:cNvPr id="4" name="revised-tag-780"/>
          <p:cNvSpPr/>
          <p:nvPr/>
        </p:nvSpPr>
        <p:spPr>
          <a:xfrm>
            <a:off x="7178040" y="329184"/>
            <a:ext cx="1508760" cy="292608"/>
          </a:xfrm>
          <a:prstGeom prst="roundRect">
            <a:avLst>
              <a:gd name="adj" fmla="val 50000"/>
            </a:avLst>
          </a:prstGeom>
          <a:solidFill>
            <a:srgbClr val="FFB84C"/>
          </a:solidFill>
          <a:ln/>
        </p:spPr>
        <p:txBody>
          <a:bodyPr/>
          <a:lstStyle/>
          <a:p>
            <a:endParaRPr lang="en-US"/>
          </a:p>
        </p:txBody>
      </p:sp>
      <p:sp>
        <p:nvSpPr>
          <p:cNvPr id="5" name="text-781"/>
          <p:cNvSpPr txBox="1"/>
          <p:nvPr/>
        </p:nvSpPr>
        <p:spPr>
          <a:xfrm>
            <a:off x="7178040" y="329184"/>
            <a:ext cx="1508760" cy="292608"/>
          </a:xfrm>
          <a:prstGeom prst="rect">
            <a:avLst/>
          </a:prstGeom>
          <a:noFill/>
          <a:ln/>
        </p:spPr>
        <p:txBody>
          <a:bodyPr wrap="square" lIns="0" tIns="0" rIns="0" bIns="0" rtlCol="0" anchor="ctr"/>
          <a:lstStyle/>
          <a:p>
            <a:pPr marL="0" indent="0" algn="ctr">
              <a:buNone/>
            </a:pPr>
            <a:r>
              <a:rPr lang="en-US" sz="950" b="1" kern="0" spc="100" dirty="0">
                <a:solidFill>
                  <a:schemeClr val="tx2"/>
                </a:solidFill>
              </a:rPr>
              <a:t>REVISED · FEEDBACK</a:t>
            </a:r>
            <a:endParaRPr lang="en-US" sz="950" dirty="0"/>
          </a:p>
        </p:txBody>
      </p:sp>
      <p:pic>
        <p:nvPicPr>
          <p:cNvPr id="6" name="shot-782" descr="/home/claude/work/assets/composer.jpg"/>
          <p:cNvPicPr>
            <a:picLocks noChangeAspect="1"/>
          </p:cNvPicPr>
          <p:nvPr/>
        </p:nvPicPr>
        <p:blipFill>
          <a:blip r:embed="rId3"/>
          <a:stretch>
            <a:fillRect/>
          </a:stretch>
        </p:blipFill>
        <p:spPr>
          <a:xfrm>
            <a:off x="457200" y="1234440"/>
            <a:ext cx="3931920" cy="1563624"/>
          </a:xfrm>
          <a:prstGeom prst="rect">
            <a:avLst/>
          </a:prstGeom>
          <a:effectLst>
            <a:outerShdw blurRad="76200" dist="25400" dir="5400000" algn="bl" rotWithShape="0">
              <a:srgbClr val="000000">
                <a:alpha val="12000"/>
              </a:srgbClr>
            </a:outerShdw>
          </a:effectLst>
        </p:spPr>
      </p:pic>
      <p:sp>
        <p:nvSpPr>
          <p:cNvPr id="7" name="step-783"/>
          <p:cNvSpPr/>
          <p:nvPr/>
        </p:nvSpPr>
        <p:spPr>
          <a:xfrm>
            <a:off x="457200" y="2871216"/>
            <a:ext cx="256032" cy="256032"/>
          </a:xfrm>
          <a:prstGeom prst="ellipse">
            <a:avLst/>
          </a:prstGeom>
          <a:solidFill>
            <a:schemeClr val="accent2"/>
          </a:solidFill>
          <a:ln/>
        </p:spPr>
        <p:txBody>
          <a:bodyPr/>
          <a:lstStyle/>
          <a:p>
            <a:endParaRPr lang="en-US"/>
          </a:p>
        </p:txBody>
      </p:sp>
      <p:sp>
        <p:nvSpPr>
          <p:cNvPr id="8" name="text-784"/>
          <p:cNvSpPr txBox="1"/>
          <p:nvPr/>
        </p:nvSpPr>
        <p:spPr>
          <a:xfrm>
            <a:off x="457200" y="2871216"/>
            <a:ext cx="256032" cy="256032"/>
          </a:xfrm>
          <a:prstGeom prst="rect">
            <a:avLst/>
          </a:prstGeom>
          <a:noFill/>
          <a:ln/>
        </p:spPr>
        <p:txBody>
          <a:bodyPr wrap="square" lIns="0" tIns="0" rIns="0" bIns="0" rtlCol="0" anchor="ctr"/>
          <a:lstStyle/>
          <a:p>
            <a:pPr marL="0" indent="0" algn="ctr">
              <a:buNone/>
            </a:pPr>
            <a:r>
              <a:rPr lang="en-US" sz="1100" b="1" dirty="0">
                <a:solidFill>
                  <a:schemeClr val="tx2"/>
                </a:solidFill>
              </a:rPr>
              <a:t>1</a:t>
            </a:r>
            <a:endParaRPr lang="en-US" sz="1100" dirty="0"/>
          </a:p>
        </p:txBody>
      </p:sp>
      <p:sp>
        <p:nvSpPr>
          <p:cNvPr id="9" name="text-785"/>
          <p:cNvSpPr txBox="1"/>
          <p:nvPr/>
        </p:nvSpPr>
        <p:spPr>
          <a:xfrm>
            <a:off x="804672" y="2889504"/>
            <a:ext cx="3584448" cy="228600"/>
          </a:xfrm>
          <a:prstGeom prst="rect">
            <a:avLst/>
          </a:prstGeom>
          <a:noFill/>
          <a:ln/>
        </p:spPr>
        <p:txBody>
          <a:bodyPr wrap="square" lIns="0" tIns="0" rIns="0" bIns="0" rtlCol="0" anchor="t"/>
          <a:lstStyle/>
          <a:p>
            <a:pPr marL="0" indent="0">
              <a:buNone/>
            </a:pPr>
            <a:r>
              <a:rPr lang="en-US" sz="1100" b="1" dirty="0">
                <a:solidFill>
                  <a:schemeClr val="tx2"/>
                </a:solidFill>
              </a:rPr>
              <a:t>Brief  </a:t>
            </a:r>
            <a:r>
              <a:rPr lang="en-US" sz="1100" dirty="0">
                <a:solidFill>
                  <a:schemeClr val="tx1"/>
                </a:solidFill>
              </a:rPr>
              <a:t>type one request or pick a suggestion</a:t>
            </a:r>
            <a:endParaRPr lang="en-US" sz="1100" dirty="0"/>
          </a:p>
        </p:txBody>
      </p:sp>
      <p:pic>
        <p:nvPicPr>
          <p:cNvPr id="10" name="shot-786" descr="/home/claude/work/assets/roster.jpg"/>
          <p:cNvPicPr>
            <a:picLocks noChangeAspect="1"/>
          </p:cNvPicPr>
          <p:nvPr/>
        </p:nvPicPr>
        <p:blipFill>
          <a:blip r:embed="rId4"/>
          <a:stretch>
            <a:fillRect/>
          </a:stretch>
        </p:blipFill>
        <p:spPr>
          <a:xfrm>
            <a:off x="4754880" y="1234440"/>
            <a:ext cx="3931920" cy="1371600"/>
          </a:xfrm>
          <a:prstGeom prst="rect">
            <a:avLst/>
          </a:prstGeom>
          <a:effectLst>
            <a:outerShdw blurRad="76200" dist="25400" dir="5400000" algn="bl" rotWithShape="0">
              <a:srgbClr val="000000">
                <a:alpha val="12000"/>
              </a:srgbClr>
            </a:outerShdw>
          </a:effectLst>
        </p:spPr>
      </p:pic>
      <p:sp>
        <p:nvSpPr>
          <p:cNvPr id="11" name="step-787"/>
          <p:cNvSpPr/>
          <p:nvPr/>
        </p:nvSpPr>
        <p:spPr>
          <a:xfrm>
            <a:off x="4754880" y="2679192"/>
            <a:ext cx="256032" cy="256032"/>
          </a:xfrm>
          <a:prstGeom prst="ellipse">
            <a:avLst/>
          </a:prstGeom>
          <a:solidFill>
            <a:schemeClr val="accent2"/>
          </a:solidFill>
          <a:ln/>
        </p:spPr>
        <p:txBody>
          <a:bodyPr/>
          <a:lstStyle/>
          <a:p>
            <a:endParaRPr lang="en-US"/>
          </a:p>
        </p:txBody>
      </p:sp>
      <p:sp>
        <p:nvSpPr>
          <p:cNvPr id="12" name="text-788"/>
          <p:cNvSpPr txBox="1"/>
          <p:nvPr/>
        </p:nvSpPr>
        <p:spPr>
          <a:xfrm>
            <a:off x="4754880" y="2679192"/>
            <a:ext cx="256032" cy="256032"/>
          </a:xfrm>
          <a:prstGeom prst="rect">
            <a:avLst/>
          </a:prstGeom>
          <a:noFill/>
          <a:ln/>
        </p:spPr>
        <p:txBody>
          <a:bodyPr wrap="square" lIns="0" tIns="0" rIns="0" bIns="0" rtlCol="0" anchor="ctr"/>
          <a:lstStyle/>
          <a:p>
            <a:pPr marL="0" indent="0" algn="ctr">
              <a:buNone/>
            </a:pPr>
            <a:r>
              <a:rPr lang="en-US" sz="1100" b="1" dirty="0">
                <a:solidFill>
                  <a:schemeClr val="tx2"/>
                </a:solidFill>
              </a:rPr>
              <a:t>2</a:t>
            </a:r>
            <a:endParaRPr lang="en-US" sz="1100" dirty="0"/>
          </a:p>
        </p:txBody>
      </p:sp>
      <p:sp>
        <p:nvSpPr>
          <p:cNvPr id="13" name="text-789"/>
          <p:cNvSpPr txBox="1"/>
          <p:nvPr/>
        </p:nvSpPr>
        <p:spPr>
          <a:xfrm>
            <a:off x="5102352" y="2697480"/>
            <a:ext cx="3584448" cy="228600"/>
          </a:xfrm>
          <a:prstGeom prst="rect">
            <a:avLst/>
          </a:prstGeom>
          <a:noFill/>
          <a:ln/>
        </p:spPr>
        <p:txBody>
          <a:bodyPr wrap="square" lIns="0" tIns="0" rIns="0" bIns="0" rtlCol="0" anchor="t"/>
          <a:lstStyle/>
          <a:p>
            <a:pPr marL="0" indent="0">
              <a:buNone/>
            </a:pPr>
            <a:r>
              <a:rPr lang="en-US" sz="1100" b="1" dirty="0">
                <a:solidFill>
                  <a:schemeClr val="tx2"/>
                </a:solidFill>
              </a:rPr>
              <a:t>Specialists  </a:t>
            </a:r>
            <a:r>
              <a:rPr lang="en-US" sz="1100" dirty="0">
                <a:solidFill>
                  <a:schemeClr val="tx1"/>
                </a:solidFill>
              </a:rPr>
              <a:t>only the desks a brief needs light up</a:t>
            </a:r>
            <a:endParaRPr lang="en-US" sz="1100" dirty="0"/>
          </a:p>
        </p:txBody>
      </p:sp>
      <p:pic>
        <p:nvPicPr>
          <p:cNvPr id="14" name="shot-790" descr="/home/claude/work/assets/ws_card.jpg"/>
          <p:cNvPicPr>
            <a:picLocks noChangeAspect="1"/>
          </p:cNvPicPr>
          <p:nvPr/>
        </p:nvPicPr>
        <p:blipFill>
          <a:blip r:embed="rId5"/>
          <a:stretch>
            <a:fillRect/>
          </a:stretch>
        </p:blipFill>
        <p:spPr>
          <a:xfrm>
            <a:off x="457200" y="3291840"/>
            <a:ext cx="3931920" cy="1051560"/>
          </a:xfrm>
          <a:prstGeom prst="rect">
            <a:avLst/>
          </a:prstGeom>
          <a:effectLst>
            <a:outerShdw blurRad="76200" dist="25400" dir="5400000" algn="bl" rotWithShape="0">
              <a:srgbClr val="000000">
                <a:alpha val="12000"/>
              </a:srgbClr>
            </a:outerShdw>
          </a:effectLst>
        </p:spPr>
      </p:pic>
      <p:sp>
        <p:nvSpPr>
          <p:cNvPr id="15" name="step-791"/>
          <p:cNvSpPr/>
          <p:nvPr/>
        </p:nvSpPr>
        <p:spPr>
          <a:xfrm>
            <a:off x="457200" y="4416552"/>
            <a:ext cx="256032" cy="256032"/>
          </a:xfrm>
          <a:prstGeom prst="ellipse">
            <a:avLst/>
          </a:prstGeom>
          <a:solidFill>
            <a:schemeClr val="accent2"/>
          </a:solidFill>
          <a:ln/>
        </p:spPr>
        <p:txBody>
          <a:bodyPr/>
          <a:lstStyle/>
          <a:p>
            <a:endParaRPr lang="en-US"/>
          </a:p>
        </p:txBody>
      </p:sp>
      <p:sp>
        <p:nvSpPr>
          <p:cNvPr id="16" name="text-792"/>
          <p:cNvSpPr txBox="1"/>
          <p:nvPr/>
        </p:nvSpPr>
        <p:spPr>
          <a:xfrm>
            <a:off x="457200" y="4416552"/>
            <a:ext cx="256032" cy="256032"/>
          </a:xfrm>
          <a:prstGeom prst="rect">
            <a:avLst/>
          </a:prstGeom>
          <a:noFill/>
          <a:ln/>
        </p:spPr>
        <p:txBody>
          <a:bodyPr wrap="square" lIns="0" tIns="0" rIns="0" bIns="0" rtlCol="0" anchor="ctr"/>
          <a:lstStyle/>
          <a:p>
            <a:pPr marL="0" indent="0" algn="ctr">
              <a:buNone/>
            </a:pPr>
            <a:r>
              <a:rPr lang="en-US" sz="1100" b="1" dirty="0">
                <a:solidFill>
                  <a:schemeClr val="tx2"/>
                </a:solidFill>
              </a:rPr>
              <a:t>3</a:t>
            </a:r>
            <a:endParaRPr lang="en-US" sz="1100" dirty="0"/>
          </a:p>
        </p:txBody>
      </p:sp>
      <p:sp>
        <p:nvSpPr>
          <p:cNvPr id="17" name="text-793"/>
          <p:cNvSpPr txBox="1"/>
          <p:nvPr/>
        </p:nvSpPr>
        <p:spPr>
          <a:xfrm>
            <a:off x="804672" y="4434840"/>
            <a:ext cx="3584448" cy="228600"/>
          </a:xfrm>
          <a:prstGeom prst="rect">
            <a:avLst/>
          </a:prstGeom>
          <a:noFill/>
          <a:ln/>
        </p:spPr>
        <p:txBody>
          <a:bodyPr wrap="square" lIns="0" tIns="0" rIns="0" bIns="0" rtlCol="0" anchor="t"/>
          <a:lstStyle/>
          <a:p>
            <a:pPr marL="0" indent="0">
              <a:buNone/>
            </a:pPr>
            <a:r>
              <a:rPr lang="en-US" sz="1100" b="1" dirty="0">
                <a:solidFill>
                  <a:schemeClr val="tx2"/>
                </a:solidFill>
              </a:rPr>
              <a:t>Live status  </a:t>
            </a:r>
            <a:r>
              <a:rPr lang="en-US" sz="1100" dirty="0">
                <a:solidFill>
                  <a:schemeClr val="tx1"/>
                </a:solidFill>
              </a:rPr>
              <a:t>working, waiting, complete, ready</a:t>
            </a:r>
            <a:endParaRPr lang="en-US" sz="1100" dirty="0"/>
          </a:p>
        </p:txBody>
      </p:sp>
      <p:sp>
        <p:nvSpPr>
          <p:cNvPr id="18" name="card-794"/>
          <p:cNvSpPr/>
          <p:nvPr/>
        </p:nvSpPr>
        <p:spPr>
          <a:xfrm>
            <a:off x="4754880" y="3154680"/>
            <a:ext cx="3931920" cy="1508760"/>
          </a:xfrm>
          <a:prstGeom prst="roundRect">
            <a:avLst>
              <a:gd name="adj" fmla="val 4848"/>
            </a:avLst>
          </a:prstGeom>
          <a:solidFill>
            <a:schemeClr val="bg1"/>
          </a:solidFill>
          <a:ln w="9525">
            <a:solidFill>
              <a:srgbClr val="E1E5F5"/>
            </a:solidFill>
            <a:prstDash val="solid"/>
          </a:ln>
        </p:spPr>
        <p:txBody>
          <a:bodyPr/>
          <a:lstStyle/>
          <a:p>
            <a:endParaRPr lang="en-US"/>
          </a:p>
        </p:txBody>
      </p:sp>
      <p:sp>
        <p:nvSpPr>
          <p:cNvPr id="19" name="badge-795"/>
          <p:cNvSpPr/>
          <p:nvPr/>
        </p:nvSpPr>
        <p:spPr>
          <a:xfrm>
            <a:off x="4956048" y="3310128"/>
            <a:ext cx="402336" cy="402336"/>
          </a:xfrm>
          <a:prstGeom prst="ellipse">
            <a:avLst/>
          </a:prstGeom>
          <a:solidFill>
            <a:schemeClr val="accent2"/>
          </a:solidFill>
          <a:ln/>
        </p:spPr>
        <p:txBody>
          <a:bodyPr/>
          <a:lstStyle/>
          <a:p>
            <a:endParaRPr lang="en-US"/>
          </a:p>
        </p:txBody>
      </p:sp>
      <p:pic>
        <p:nvPicPr>
          <p:cNvPr id="20" name="icon-796" descr="preencoded.png"/>
          <p:cNvPicPr>
            <a:picLocks noChangeAspect="1"/>
          </p:cNvPicPr>
          <p:nvPr/>
        </p:nvPicPr>
        <p:blipFill>
          <a:blip r:embed="rId6"/>
          <a:stretch>
            <a:fillRect/>
          </a:stretch>
        </p:blipFill>
        <p:spPr>
          <a:xfrm>
            <a:off x="5044562" y="3398642"/>
            <a:ext cx="225308" cy="225308"/>
          </a:xfrm>
          <a:prstGeom prst="rect">
            <a:avLst/>
          </a:prstGeom>
        </p:spPr>
      </p:pic>
      <p:sp>
        <p:nvSpPr>
          <p:cNvPr id="21" name="text-797"/>
          <p:cNvSpPr txBox="1"/>
          <p:nvPr/>
        </p:nvSpPr>
        <p:spPr>
          <a:xfrm>
            <a:off x="5486400" y="3328416"/>
            <a:ext cx="2743200" cy="365760"/>
          </a:xfrm>
          <a:prstGeom prst="rect">
            <a:avLst/>
          </a:prstGeom>
          <a:noFill/>
          <a:ln/>
        </p:spPr>
        <p:txBody>
          <a:bodyPr wrap="square" lIns="0" tIns="0" rIns="0" bIns="0" rtlCol="0" anchor="ctr"/>
          <a:lstStyle/>
          <a:p>
            <a:pPr marL="0" indent="0">
              <a:buNone/>
            </a:pPr>
            <a:r>
              <a:rPr lang="en-US" sz="1300" b="1" dirty="0">
                <a:solidFill>
                  <a:schemeClr val="tx2"/>
                </a:solidFill>
              </a:rPr>
              <a:t>Built with</a:t>
            </a:r>
            <a:endParaRPr lang="en-US" sz="1300" dirty="0"/>
          </a:p>
        </p:txBody>
      </p:sp>
      <p:sp>
        <p:nvSpPr>
          <p:cNvPr id="22" name="text-798"/>
          <p:cNvSpPr txBox="1"/>
          <p:nvPr/>
        </p:nvSpPr>
        <p:spPr>
          <a:xfrm>
            <a:off x="4956048" y="3767328"/>
            <a:ext cx="3611880" cy="822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Next.js App Router + TypeScript</a:t>
            </a:r>
            <a:endParaRPr lang="en-US" sz="1100" dirty="0"/>
          </a:p>
          <a:p>
            <a:pPr marL="152400" indent="-152400">
              <a:spcAft>
                <a:spcPts val="300"/>
              </a:spcAft>
              <a:buSzPct val="100000"/>
              <a:buChar char="•"/>
            </a:pPr>
            <a:r>
              <a:rPr lang="en-US" sz="1100" dirty="0">
                <a:solidFill>
                  <a:schemeClr val="tx1"/>
                </a:solidFill>
              </a:rPr>
              <a:t>Light and dark themes with accessible contrast</a:t>
            </a:r>
            <a:endParaRPr lang="en-US" sz="1100" dirty="0"/>
          </a:p>
          <a:p>
            <a:pPr marL="152400" indent="-152400">
              <a:spcAft>
                <a:spcPts val="300"/>
              </a:spcAft>
              <a:buSzPct val="100000"/>
              <a:buChar char="•"/>
            </a:pPr>
            <a:r>
              <a:rPr lang="en-US" sz="1100" dirty="0">
                <a:solidFill>
                  <a:schemeClr val="tx1"/>
                </a:solidFill>
              </a:rPr>
              <a:t>Typed API client shared by every page</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PROJECT DEMO  ·  API</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The API behind every screen</a:t>
            </a:r>
            <a:endParaRPr lang="en-US" sz="2800" dirty="0"/>
          </a:p>
        </p:txBody>
      </p:sp>
      <p:sp>
        <p:nvSpPr>
          <p:cNvPr id="4" name="card-799"/>
          <p:cNvSpPr/>
          <p:nvPr/>
        </p:nvSpPr>
        <p:spPr>
          <a:xfrm>
            <a:off x="457200" y="1188720"/>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5" name="verb-800"/>
          <p:cNvSpPr/>
          <p:nvPr/>
        </p:nvSpPr>
        <p:spPr>
          <a:xfrm>
            <a:off x="548640" y="1271016"/>
            <a:ext cx="566928" cy="256032"/>
          </a:xfrm>
          <a:prstGeom prst="roundRect">
            <a:avLst>
              <a:gd name="adj" fmla="val 21429"/>
            </a:avLst>
          </a:prstGeom>
          <a:solidFill>
            <a:schemeClr val="accent2"/>
          </a:solidFill>
          <a:ln/>
        </p:spPr>
        <p:txBody>
          <a:bodyPr/>
          <a:lstStyle/>
          <a:p>
            <a:endParaRPr lang="en-US"/>
          </a:p>
        </p:txBody>
      </p:sp>
      <p:sp>
        <p:nvSpPr>
          <p:cNvPr id="6" name="text-801"/>
          <p:cNvSpPr txBox="1"/>
          <p:nvPr/>
        </p:nvSpPr>
        <p:spPr>
          <a:xfrm>
            <a:off x="548640" y="1271016"/>
            <a:ext cx="566928" cy="256032"/>
          </a:xfrm>
          <a:prstGeom prst="rect">
            <a:avLst/>
          </a:prstGeom>
          <a:noFill/>
          <a:ln/>
        </p:spPr>
        <p:txBody>
          <a:bodyPr wrap="square" lIns="0" tIns="0" rIns="0" bIns="0" rtlCol="0" anchor="ctr"/>
          <a:lstStyle/>
          <a:p>
            <a:pPr marL="0" indent="0" algn="ctr">
              <a:buNone/>
            </a:pPr>
            <a:r>
              <a:rPr lang="en-US" sz="950" b="1" dirty="0">
                <a:solidFill>
                  <a:schemeClr val="tx2"/>
                </a:solidFill>
              </a:rPr>
              <a:t>POST</a:t>
            </a:r>
            <a:endParaRPr lang="en-US" sz="950" dirty="0"/>
          </a:p>
        </p:txBody>
      </p:sp>
      <p:sp>
        <p:nvSpPr>
          <p:cNvPr id="7" name="text-802"/>
          <p:cNvSpPr txBox="1"/>
          <p:nvPr/>
        </p:nvSpPr>
        <p:spPr>
          <a:xfrm>
            <a:off x="1207008" y="1216152"/>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/api/v1/auth/google</a:t>
            </a:r>
            <a:endParaRPr lang="en-US" sz="1050" dirty="0"/>
          </a:p>
        </p:txBody>
      </p:sp>
      <p:sp>
        <p:nvSpPr>
          <p:cNvPr id="8" name="text-803"/>
          <p:cNvSpPr txBox="1"/>
          <p:nvPr/>
        </p:nvSpPr>
        <p:spPr>
          <a:xfrm>
            <a:off x="1207008" y="1408176"/>
            <a:ext cx="3931920" cy="182880"/>
          </a:xfrm>
          <a:prstGeom prst="rect">
            <a:avLst/>
          </a:prstGeom>
          <a:noFill/>
          <a:ln/>
        </p:spPr>
        <p:txBody>
          <a:bodyPr wrap="square" lIns="0" tIns="0" rIns="0" bIns="0" rtlCol="0" anchor="t"/>
          <a:lstStyle/>
          <a:p>
            <a:pPr marL="0" indent="0">
              <a:buNone/>
            </a:pPr>
            <a:r>
              <a:rPr lang="en-US" sz="1000" dirty="0">
                <a:solidFill>
                  <a:schemeClr val="tx1"/>
                </a:solidFill>
              </a:rPr>
              <a:t>Sign in with a Google ID token</a:t>
            </a:r>
            <a:endParaRPr lang="en-US" sz="1000" dirty="0"/>
          </a:p>
        </p:txBody>
      </p:sp>
      <p:sp>
        <p:nvSpPr>
          <p:cNvPr id="9" name="card-804"/>
          <p:cNvSpPr/>
          <p:nvPr/>
        </p:nvSpPr>
        <p:spPr>
          <a:xfrm>
            <a:off x="457200" y="1682496"/>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10" name="verb-805"/>
          <p:cNvSpPr/>
          <p:nvPr/>
        </p:nvSpPr>
        <p:spPr>
          <a:xfrm>
            <a:off x="548640" y="1764792"/>
            <a:ext cx="566928" cy="256032"/>
          </a:xfrm>
          <a:prstGeom prst="roundRect">
            <a:avLst>
              <a:gd name="adj" fmla="val 21429"/>
            </a:avLst>
          </a:prstGeom>
          <a:solidFill>
            <a:schemeClr val="accent2"/>
          </a:solidFill>
          <a:ln/>
        </p:spPr>
        <p:txBody>
          <a:bodyPr/>
          <a:lstStyle/>
          <a:p>
            <a:endParaRPr lang="en-US"/>
          </a:p>
        </p:txBody>
      </p:sp>
      <p:sp>
        <p:nvSpPr>
          <p:cNvPr id="11" name="text-806"/>
          <p:cNvSpPr txBox="1"/>
          <p:nvPr/>
        </p:nvSpPr>
        <p:spPr>
          <a:xfrm>
            <a:off x="548640" y="1764792"/>
            <a:ext cx="566928" cy="256032"/>
          </a:xfrm>
          <a:prstGeom prst="rect">
            <a:avLst/>
          </a:prstGeom>
          <a:noFill/>
          <a:ln/>
        </p:spPr>
        <p:txBody>
          <a:bodyPr wrap="square" lIns="0" tIns="0" rIns="0" bIns="0" rtlCol="0" anchor="ctr"/>
          <a:lstStyle/>
          <a:p>
            <a:pPr marL="0" indent="0" algn="ctr">
              <a:buNone/>
            </a:pPr>
            <a:r>
              <a:rPr lang="en-US" sz="950" b="1" dirty="0">
                <a:solidFill>
                  <a:schemeClr val="tx2"/>
                </a:solidFill>
              </a:rPr>
              <a:t>POST</a:t>
            </a:r>
            <a:endParaRPr lang="en-US" sz="950" dirty="0"/>
          </a:p>
        </p:txBody>
      </p:sp>
      <p:sp>
        <p:nvSpPr>
          <p:cNvPr id="12" name="text-807"/>
          <p:cNvSpPr txBox="1"/>
          <p:nvPr/>
        </p:nvSpPr>
        <p:spPr>
          <a:xfrm>
            <a:off x="1207008" y="1709928"/>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/api/v1/agents</a:t>
            </a:r>
            <a:endParaRPr lang="en-US" sz="1050" dirty="0"/>
          </a:p>
        </p:txBody>
      </p:sp>
      <p:sp>
        <p:nvSpPr>
          <p:cNvPr id="13" name="text-808"/>
          <p:cNvSpPr txBox="1"/>
          <p:nvPr/>
        </p:nvSpPr>
        <p:spPr>
          <a:xfrm>
            <a:off x="1207008" y="1901952"/>
            <a:ext cx="3931920" cy="182880"/>
          </a:xfrm>
          <a:prstGeom prst="rect">
            <a:avLst/>
          </a:prstGeom>
          <a:noFill/>
          <a:ln/>
        </p:spPr>
        <p:txBody>
          <a:bodyPr wrap="square" lIns="0" tIns="0" rIns="0" bIns="0" rtlCol="0" anchor="t"/>
          <a:lstStyle/>
          <a:p>
            <a:pPr marL="0" indent="0">
              <a:buNone/>
            </a:pPr>
            <a:r>
              <a:rPr lang="en-US" sz="1000" dirty="0">
                <a:solidFill>
                  <a:schemeClr val="tx1"/>
                </a:solidFill>
              </a:rPr>
              <a:t>Enroll an agent and create its table</a:t>
            </a:r>
            <a:endParaRPr lang="en-US" sz="1000" dirty="0"/>
          </a:p>
        </p:txBody>
      </p:sp>
      <p:sp>
        <p:nvSpPr>
          <p:cNvPr id="14" name="card-809"/>
          <p:cNvSpPr/>
          <p:nvPr/>
        </p:nvSpPr>
        <p:spPr>
          <a:xfrm>
            <a:off x="457200" y="2176272"/>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15" name="verb-810"/>
          <p:cNvSpPr/>
          <p:nvPr/>
        </p:nvSpPr>
        <p:spPr>
          <a:xfrm>
            <a:off x="548640" y="2258568"/>
            <a:ext cx="566928" cy="256032"/>
          </a:xfrm>
          <a:prstGeom prst="roundRect">
            <a:avLst>
              <a:gd name="adj" fmla="val 21429"/>
            </a:avLst>
          </a:prstGeom>
          <a:solidFill>
            <a:srgbClr val="FFB84C"/>
          </a:solidFill>
          <a:ln/>
        </p:spPr>
        <p:txBody>
          <a:bodyPr/>
          <a:lstStyle/>
          <a:p>
            <a:endParaRPr lang="en-US"/>
          </a:p>
        </p:txBody>
      </p:sp>
      <p:sp>
        <p:nvSpPr>
          <p:cNvPr id="16" name="text-811"/>
          <p:cNvSpPr txBox="1"/>
          <p:nvPr/>
        </p:nvSpPr>
        <p:spPr>
          <a:xfrm>
            <a:off x="548640" y="2258568"/>
            <a:ext cx="566928" cy="256032"/>
          </a:xfrm>
          <a:prstGeom prst="rect">
            <a:avLst/>
          </a:prstGeom>
          <a:noFill/>
          <a:ln/>
        </p:spPr>
        <p:txBody>
          <a:bodyPr wrap="square" lIns="0" tIns="0" rIns="0" bIns="0" rtlCol="0" anchor="ctr"/>
          <a:lstStyle/>
          <a:p>
            <a:pPr marL="0" indent="0" algn="ctr">
              <a:buNone/>
            </a:pPr>
            <a:r>
              <a:rPr lang="en-US" sz="950" b="1" dirty="0">
                <a:solidFill>
                  <a:schemeClr val="tx2"/>
                </a:solidFill>
              </a:rPr>
              <a:t>PATCH</a:t>
            </a:r>
            <a:endParaRPr lang="en-US" sz="950" dirty="0"/>
          </a:p>
        </p:txBody>
      </p:sp>
      <p:sp>
        <p:nvSpPr>
          <p:cNvPr id="17" name="text-812"/>
          <p:cNvSpPr txBox="1"/>
          <p:nvPr/>
        </p:nvSpPr>
        <p:spPr>
          <a:xfrm>
            <a:off x="1207008" y="2203704"/>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/api/v1/agents/{id}</a:t>
            </a:r>
            <a:endParaRPr lang="en-US" sz="1050" dirty="0"/>
          </a:p>
        </p:txBody>
      </p:sp>
      <p:sp>
        <p:nvSpPr>
          <p:cNvPr id="18" name="text-813"/>
          <p:cNvSpPr txBox="1"/>
          <p:nvPr/>
        </p:nvSpPr>
        <p:spPr>
          <a:xfrm>
            <a:off x="1207008" y="2395728"/>
            <a:ext cx="3931920" cy="182880"/>
          </a:xfrm>
          <a:prstGeom prst="rect">
            <a:avLst/>
          </a:prstGeom>
          <a:noFill/>
          <a:ln/>
        </p:spPr>
        <p:txBody>
          <a:bodyPr wrap="square" lIns="0" tIns="0" rIns="0" bIns="0" rtlCol="0" anchor="t"/>
          <a:lstStyle/>
          <a:p>
            <a:pPr marL="0" indent="0">
              <a:buNone/>
            </a:pPr>
            <a:r>
              <a:rPr lang="en-US" sz="1000" dirty="0">
                <a:solidFill>
                  <a:schemeClr val="tx1"/>
                </a:solidFill>
              </a:rPr>
              <a:t>Update or disable an agent</a:t>
            </a:r>
            <a:endParaRPr lang="en-US" sz="1000" dirty="0"/>
          </a:p>
        </p:txBody>
      </p:sp>
      <p:sp>
        <p:nvSpPr>
          <p:cNvPr id="19" name="card-814"/>
          <p:cNvSpPr/>
          <p:nvPr/>
        </p:nvSpPr>
        <p:spPr>
          <a:xfrm>
            <a:off x="457200" y="2670048"/>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20" name="verb-815"/>
          <p:cNvSpPr/>
          <p:nvPr/>
        </p:nvSpPr>
        <p:spPr>
          <a:xfrm>
            <a:off x="548640" y="2752344"/>
            <a:ext cx="566928" cy="256032"/>
          </a:xfrm>
          <a:prstGeom prst="roundRect">
            <a:avLst>
              <a:gd name="adj" fmla="val 21429"/>
            </a:avLst>
          </a:prstGeom>
          <a:solidFill>
            <a:schemeClr val="accent1"/>
          </a:solidFill>
          <a:ln/>
        </p:spPr>
        <p:txBody>
          <a:bodyPr/>
          <a:lstStyle/>
          <a:p>
            <a:endParaRPr lang="en-US"/>
          </a:p>
        </p:txBody>
      </p:sp>
      <p:sp>
        <p:nvSpPr>
          <p:cNvPr id="21" name="text-816"/>
          <p:cNvSpPr txBox="1"/>
          <p:nvPr/>
        </p:nvSpPr>
        <p:spPr>
          <a:xfrm>
            <a:off x="548640" y="2752344"/>
            <a:ext cx="566928" cy="256032"/>
          </a:xfrm>
          <a:prstGeom prst="rect">
            <a:avLst/>
          </a:prstGeom>
          <a:noFill/>
          <a:ln/>
        </p:spPr>
        <p:txBody>
          <a:bodyPr wrap="square" lIns="0" tIns="0" rIns="0" bIns="0" rtlCol="0" anchor="ctr"/>
          <a:lstStyle/>
          <a:p>
            <a:pPr marL="0" indent="0" algn="ctr">
              <a:buNone/>
            </a:pPr>
            <a:r>
              <a:rPr lang="en-US" sz="950" b="1" dirty="0">
                <a:solidFill>
                  <a:schemeClr val="bg1"/>
                </a:solidFill>
              </a:rPr>
              <a:t>GET</a:t>
            </a:r>
            <a:endParaRPr lang="en-US" sz="950" dirty="0"/>
          </a:p>
        </p:txBody>
      </p:sp>
      <p:sp>
        <p:nvSpPr>
          <p:cNvPr id="22" name="text-817"/>
          <p:cNvSpPr txBox="1"/>
          <p:nvPr/>
        </p:nvSpPr>
        <p:spPr>
          <a:xfrm>
            <a:off x="1207008" y="2697480"/>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/api/v1/agents?capability=…</a:t>
            </a:r>
            <a:endParaRPr lang="en-US" sz="1050" dirty="0"/>
          </a:p>
        </p:txBody>
      </p:sp>
      <p:sp>
        <p:nvSpPr>
          <p:cNvPr id="23" name="text-818"/>
          <p:cNvSpPr txBox="1"/>
          <p:nvPr/>
        </p:nvSpPr>
        <p:spPr>
          <a:xfrm>
            <a:off x="1207008" y="2889504"/>
            <a:ext cx="3931920" cy="182880"/>
          </a:xfrm>
          <a:prstGeom prst="rect">
            <a:avLst/>
          </a:prstGeom>
          <a:noFill/>
          <a:ln/>
        </p:spPr>
        <p:txBody>
          <a:bodyPr wrap="square" lIns="0" tIns="0" rIns="0" bIns="0" rtlCol="0" anchor="t"/>
          <a:lstStyle/>
          <a:p>
            <a:pPr marL="0" indent="0">
              <a:buNone/>
            </a:pPr>
            <a:r>
              <a:rPr lang="en-US" sz="1000" dirty="0">
                <a:solidFill>
                  <a:schemeClr val="tx1"/>
                </a:solidFill>
              </a:rPr>
              <a:t>List or filter enrolled agents</a:t>
            </a:r>
            <a:endParaRPr lang="en-US" sz="1000" dirty="0"/>
          </a:p>
        </p:txBody>
      </p:sp>
      <p:sp>
        <p:nvSpPr>
          <p:cNvPr id="24" name="card-819"/>
          <p:cNvSpPr/>
          <p:nvPr/>
        </p:nvSpPr>
        <p:spPr>
          <a:xfrm>
            <a:off x="457200" y="3163824"/>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25" name="verb-820"/>
          <p:cNvSpPr/>
          <p:nvPr/>
        </p:nvSpPr>
        <p:spPr>
          <a:xfrm>
            <a:off x="548640" y="3246120"/>
            <a:ext cx="566928" cy="256032"/>
          </a:xfrm>
          <a:prstGeom prst="roundRect">
            <a:avLst>
              <a:gd name="adj" fmla="val 21429"/>
            </a:avLst>
          </a:prstGeom>
          <a:solidFill>
            <a:schemeClr val="accent2"/>
          </a:solidFill>
          <a:ln/>
        </p:spPr>
        <p:txBody>
          <a:bodyPr/>
          <a:lstStyle/>
          <a:p>
            <a:endParaRPr lang="en-US"/>
          </a:p>
        </p:txBody>
      </p:sp>
      <p:sp>
        <p:nvSpPr>
          <p:cNvPr id="26" name="text-821"/>
          <p:cNvSpPr txBox="1"/>
          <p:nvPr/>
        </p:nvSpPr>
        <p:spPr>
          <a:xfrm>
            <a:off x="548640" y="3246120"/>
            <a:ext cx="566928" cy="256032"/>
          </a:xfrm>
          <a:prstGeom prst="rect">
            <a:avLst/>
          </a:prstGeom>
          <a:noFill/>
          <a:ln/>
        </p:spPr>
        <p:txBody>
          <a:bodyPr wrap="square" lIns="0" tIns="0" rIns="0" bIns="0" rtlCol="0" anchor="ctr"/>
          <a:lstStyle/>
          <a:p>
            <a:pPr marL="0" indent="0" algn="ctr">
              <a:buNone/>
            </a:pPr>
            <a:r>
              <a:rPr lang="en-US" sz="950" b="1" dirty="0">
                <a:solidFill>
                  <a:schemeClr val="tx2"/>
                </a:solidFill>
              </a:rPr>
              <a:t>POST</a:t>
            </a:r>
            <a:endParaRPr lang="en-US" sz="950" dirty="0"/>
          </a:p>
        </p:txBody>
      </p:sp>
      <p:sp>
        <p:nvSpPr>
          <p:cNvPr id="27" name="text-822"/>
          <p:cNvSpPr txBox="1"/>
          <p:nvPr/>
        </p:nvSpPr>
        <p:spPr>
          <a:xfrm>
            <a:off x="1207008" y="3191256"/>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/api/v1/tasks/plan</a:t>
            </a:r>
            <a:endParaRPr lang="en-US" sz="1050" dirty="0"/>
          </a:p>
        </p:txBody>
      </p:sp>
      <p:sp>
        <p:nvSpPr>
          <p:cNvPr id="28" name="text-823"/>
          <p:cNvSpPr txBox="1"/>
          <p:nvPr/>
        </p:nvSpPr>
        <p:spPr>
          <a:xfrm>
            <a:off x="1207008" y="3383280"/>
            <a:ext cx="3931920" cy="182880"/>
          </a:xfrm>
          <a:prstGeom prst="rect">
            <a:avLst/>
          </a:prstGeom>
          <a:noFill/>
          <a:ln/>
        </p:spPr>
        <p:txBody>
          <a:bodyPr wrap="square" lIns="0" tIns="0" rIns="0" bIns="0" rtlCol="0" anchor="t"/>
          <a:lstStyle/>
          <a:p>
            <a:pPr marL="0" indent="0">
              <a:buNone/>
            </a:pPr>
            <a:r>
              <a:rPr lang="en-US" sz="1000" dirty="0">
                <a:solidFill>
                  <a:schemeClr val="tx1"/>
                </a:solidFill>
              </a:rPr>
              <a:t>Preview which agents a brief spawns</a:t>
            </a:r>
            <a:endParaRPr lang="en-US" sz="1000" dirty="0"/>
          </a:p>
        </p:txBody>
      </p:sp>
      <p:sp>
        <p:nvSpPr>
          <p:cNvPr id="29" name="card-824"/>
          <p:cNvSpPr/>
          <p:nvPr/>
        </p:nvSpPr>
        <p:spPr>
          <a:xfrm>
            <a:off x="457200" y="3657600"/>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30" name="verb-825"/>
          <p:cNvSpPr/>
          <p:nvPr/>
        </p:nvSpPr>
        <p:spPr>
          <a:xfrm>
            <a:off x="548640" y="3739896"/>
            <a:ext cx="566928" cy="256032"/>
          </a:xfrm>
          <a:prstGeom prst="roundRect">
            <a:avLst>
              <a:gd name="adj" fmla="val 21429"/>
            </a:avLst>
          </a:prstGeom>
          <a:solidFill>
            <a:schemeClr val="accent2"/>
          </a:solidFill>
          <a:ln/>
        </p:spPr>
        <p:txBody>
          <a:bodyPr/>
          <a:lstStyle/>
          <a:p>
            <a:endParaRPr lang="en-US"/>
          </a:p>
        </p:txBody>
      </p:sp>
      <p:sp>
        <p:nvSpPr>
          <p:cNvPr id="31" name="text-826"/>
          <p:cNvSpPr txBox="1"/>
          <p:nvPr/>
        </p:nvSpPr>
        <p:spPr>
          <a:xfrm>
            <a:off x="548640" y="3739896"/>
            <a:ext cx="566928" cy="256032"/>
          </a:xfrm>
          <a:prstGeom prst="rect">
            <a:avLst/>
          </a:prstGeom>
          <a:noFill/>
          <a:ln/>
        </p:spPr>
        <p:txBody>
          <a:bodyPr wrap="square" lIns="0" tIns="0" rIns="0" bIns="0" rtlCol="0" anchor="ctr"/>
          <a:lstStyle/>
          <a:p>
            <a:pPr marL="0" indent="0" algn="ctr">
              <a:buNone/>
            </a:pPr>
            <a:r>
              <a:rPr lang="en-US" sz="950" b="1" dirty="0">
                <a:solidFill>
                  <a:schemeClr val="tx2"/>
                </a:solidFill>
              </a:rPr>
              <a:t>POST</a:t>
            </a:r>
            <a:endParaRPr lang="en-US" sz="950" dirty="0"/>
          </a:p>
        </p:txBody>
      </p:sp>
      <p:sp>
        <p:nvSpPr>
          <p:cNvPr id="32" name="text-827"/>
          <p:cNvSpPr txBox="1"/>
          <p:nvPr/>
        </p:nvSpPr>
        <p:spPr>
          <a:xfrm>
            <a:off x="1207008" y="3685032"/>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/api/v1/tasks</a:t>
            </a:r>
            <a:endParaRPr lang="en-US" sz="1050" dirty="0"/>
          </a:p>
        </p:txBody>
      </p:sp>
      <p:sp>
        <p:nvSpPr>
          <p:cNvPr id="33" name="text-828"/>
          <p:cNvSpPr txBox="1"/>
          <p:nvPr/>
        </p:nvSpPr>
        <p:spPr>
          <a:xfrm>
            <a:off x="1207008" y="3877056"/>
            <a:ext cx="3931920" cy="182880"/>
          </a:xfrm>
          <a:prstGeom prst="rect">
            <a:avLst/>
          </a:prstGeom>
          <a:noFill/>
          <a:ln/>
        </p:spPr>
        <p:txBody>
          <a:bodyPr wrap="square" lIns="0" tIns="0" rIns="0" bIns="0" rtlCol="0" anchor="t"/>
          <a:lstStyle/>
          <a:p>
            <a:pPr marL="0" indent="0">
              <a:buNone/>
            </a:pPr>
            <a:r>
              <a:rPr lang="en-US" sz="1000" dirty="0">
                <a:solidFill>
                  <a:schemeClr val="tx1"/>
                </a:solidFill>
              </a:rPr>
              <a:t>Submit a brief and run the workflow</a:t>
            </a:r>
            <a:endParaRPr lang="en-US" sz="1000" dirty="0"/>
          </a:p>
        </p:txBody>
      </p:sp>
      <p:sp>
        <p:nvSpPr>
          <p:cNvPr id="34" name="card-829"/>
          <p:cNvSpPr/>
          <p:nvPr/>
        </p:nvSpPr>
        <p:spPr>
          <a:xfrm>
            <a:off x="457200" y="4151376"/>
            <a:ext cx="4754880" cy="420624"/>
          </a:xfrm>
          <a:prstGeom prst="roundRect">
            <a:avLst>
              <a:gd name="adj" fmla="val 13043"/>
            </a:avLst>
          </a:prstGeom>
          <a:solidFill>
            <a:schemeClr val="bg1"/>
          </a:solidFill>
          <a:ln w="9525">
            <a:solidFill>
              <a:srgbClr val="E1E5F5"/>
            </a:solidFill>
            <a:prstDash val="solid"/>
          </a:ln>
        </p:spPr>
        <p:txBody>
          <a:bodyPr/>
          <a:lstStyle/>
          <a:p>
            <a:endParaRPr lang="en-US"/>
          </a:p>
        </p:txBody>
      </p:sp>
      <p:sp>
        <p:nvSpPr>
          <p:cNvPr id="35" name="verb-830"/>
          <p:cNvSpPr/>
          <p:nvPr/>
        </p:nvSpPr>
        <p:spPr>
          <a:xfrm>
            <a:off x="548640" y="4233672"/>
            <a:ext cx="566928" cy="256032"/>
          </a:xfrm>
          <a:prstGeom prst="roundRect">
            <a:avLst>
              <a:gd name="adj" fmla="val 21429"/>
            </a:avLst>
          </a:prstGeom>
          <a:solidFill>
            <a:schemeClr val="accent1"/>
          </a:solidFill>
          <a:ln/>
        </p:spPr>
        <p:txBody>
          <a:bodyPr/>
          <a:lstStyle/>
          <a:p>
            <a:endParaRPr lang="en-US"/>
          </a:p>
        </p:txBody>
      </p:sp>
      <p:sp>
        <p:nvSpPr>
          <p:cNvPr id="36" name="text-831"/>
          <p:cNvSpPr txBox="1"/>
          <p:nvPr/>
        </p:nvSpPr>
        <p:spPr>
          <a:xfrm>
            <a:off x="548640" y="4233672"/>
            <a:ext cx="566928" cy="256032"/>
          </a:xfrm>
          <a:prstGeom prst="rect">
            <a:avLst/>
          </a:prstGeom>
          <a:noFill/>
          <a:ln/>
        </p:spPr>
        <p:txBody>
          <a:bodyPr wrap="square" lIns="0" tIns="0" rIns="0" bIns="0" rtlCol="0" anchor="ctr"/>
          <a:lstStyle/>
          <a:p>
            <a:pPr marL="0" indent="0" algn="ctr">
              <a:buNone/>
            </a:pPr>
            <a:r>
              <a:rPr lang="en-US" sz="950" b="1" dirty="0">
                <a:solidFill>
                  <a:schemeClr val="bg1"/>
                </a:solidFill>
              </a:rPr>
              <a:t>GET</a:t>
            </a:r>
            <a:endParaRPr lang="en-US" sz="950" dirty="0"/>
          </a:p>
        </p:txBody>
      </p:sp>
      <p:sp>
        <p:nvSpPr>
          <p:cNvPr id="37" name="text-832"/>
          <p:cNvSpPr txBox="1"/>
          <p:nvPr/>
        </p:nvSpPr>
        <p:spPr>
          <a:xfrm>
            <a:off x="1207008" y="4178808"/>
            <a:ext cx="3931920" cy="201168"/>
          </a:xfrm>
          <a:prstGeom prst="rect">
            <a:avLst/>
          </a:prstGeom>
          <a:noFill/>
          <a:ln/>
        </p:spPr>
        <p:txBody>
          <a:bodyPr wrap="square" lIns="0" tIns="0" rIns="0" bIns="0" rtlCol="0" anchor="t">
            <a:normAutofit/>
          </a:bodyPr>
          <a:lstStyle/>
          <a:p>
            <a:pPr marL="0" indent="0">
              <a:buNone/>
            </a:pPr>
            <a:r>
              <a:rPr lang="en-US" sz="1050" b="1" dirty="0">
                <a:solidFill>
                  <a:schemeClr val="tx2"/>
                </a:solidFill>
                <a:latin typeface="Courier New" pitchFamily="34" charset="0"/>
                <a:ea typeface="Courier New" pitchFamily="34" charset="-122"/>
                <a:cs typeface="Courier New" pitchFamily="34" charset="-120"/>
              </a:rPr>
              <a:t>/api/v1/workflows/{id}</a:t>
            </a:r>
            <a:endParaRPr lang="en-US" sz="1050" dirty="0"/>
          </a:p>
        </p:txBody>
      </p:sp>
      <p:sp>
        <p:nvSpPr>
          <p:cNvPr id="38" name="text-833"/>
          <p:cNvSpPr txBox="1"/>
          <p:nvPr/>
        </p:nvSpPr>
        <p:spPr>
          <a:xfrm>
            <a:off x="1207008" y="4370832"/>
            <a:ext cx="3931920" cy="182880"/>
          </a:xfrm>
          <a:prstGeom prst="rect">
            <a:avLst/>
          </a:prstGeom>
          <a:noFill/>
          <a:ln/>
        </p:spPr>
        <p:txBody>
          <a:bodyPr wrap="square" lIns="0" tIns="0" rIns="0" bIns="0" rtlCol="0" anchor="t"/>
          <a:lstStyle/>
          <a:p>
            <a:pPr marL="0" indent="0">
              <a:buNone/>
            </a:pPr>
            <a:r>
              <a:rPr lang="en-US" sz="1000" dirty="0">
                <a:solidFill>
                  <a:schemeClr val="tx1"/>
                </a:solidFill>
              </a:rPr>
              <a:t>Node status, reasons, cost, result</a:t>
            </a:r>
            <a:endParaRPr lang="en-US" sz="1000" dirty="0"/>
          </a:p>
        </p:txBody>
      </p:sp>
      <p:sp>
        <p:nvSpPr>
          <p:cNvPr id="39" name="card-834"/>
          <p:cNvSpPr/>
          <p:nvPr/>
        </p:nvSpPr>
        <p:spPr>
          <a:xfrm>
            <a:off x="5440680" y="1188720"/>
            <a:ext cx="3246120" cy="3438144"/>
          </a:xfrm>
          <a:prstGeom prst="roundRect">
            <a:avLst>
              <a:gd name="adj" fmla="val 2254"/>
            </a:avLst>
          </a:prstGeom>
          <a:solidFill>
            <a:schemeClr val="tx2"/>
          </a:solidFill>
          <a:ln/>
        </p:spPr>
        <p:txBody>
          <a:bodyPr/>
          <a:lstStyle/>
          <a:p>
            <a:endParaRPr lang="en-US"/>
          </a:p>
        </p:txBody>
      </p:sp>
      <p:sp>
        <p:nvSpPr>
          <p:cNvPr id="40" name="text-835"/>
          <p:cNvSpPr txBox="1"/>
          <p:nvPr/>
        </p:nvSpPr>
        <p:spPr>
          <a:xfrm>
            <a:off x="5623560" y="1325880"/>
            <a:ext cx="2743200" cy="219456"/>
          </a:xfrm>
          <a:prstGeom prst="rect">
            <a:avLst/>
          </a:prstGeom>
          <a:noFill/>
          <a:ln/>
        </p:spPr>
        <p:txBody>
          <a:bodyPr wrap="square" lIns="0" tIns="0" rIns="0" bIns="0" rtlCol="0" anchor="t"/>
          <a:lstStyle/>
          <a:p>
            <a:pPr marL="0" indent="0">
              <a:buNone/>
            </a:pPr>
            <a:r>
              <a:rPr lang="en-US" sz="1050" b="1" kern="0" spc="100" dirty="0">
                <a:solidFill>
                  <a:schemeClr val="accent4"/>
                </a:solidFill>
              </a:rPr>
              <a:t>EXAMPLE</a:t>
            </a:r>
            <a:endParaRPr lang="en-US" sz="1050" dirty="0"/>
          </a:p>
        </p:txBody>
      </p:sp>
      <p:sp>
        <p:nvSpPr>
          <p:cNvPr id="41" name="text-836"/>
          <p:cNvSpPr txBox="1"/>
          <p:nvPr/>
        </p:nvSpPr>
        <p:spPr>
          <a:xfrm>
            <a:off x="5623560" y="1645920"/>
            <a:ext cx="2926080" cy="2834640"/>
          </a:xfrm>
          <a:prstGeom prst="rect">
            <a:avLst/>
          </a:prstGeom>
          <a:noFill/>
          <a:ln/>
        </p:spPr>
        <p:txBody>
          <a:bodyPr wrap="square" lIns="0" tIns="0" rIns="0" bIns="0" rtlCol="0" anchor="t"/>
          <a:lstStyle/>
          <a:p>
            <a:pPr marL="0" indent="0">
              <a:buNone/>
            </a:pPr>
            <a:r>
              <a:rPr lang="en-US" sz="1000" dirty="0">
                <a:solidFill>
                  <a:schemeClr val="bg1"/>
                </a:solidFill>
                <a:latin typeface="Courier New" pitchFamily="34" charset="0"/>
                <a:ea typeface="Courier New" pitchFamily="34" charset="-122"/>
                <a:cs typeface="Courier New" pitchFamily="34" charset="-120"/>
              </a:rPr>
              <a:t>GET /api/v1/agents</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?capability=</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security.vulnerability_analysis</a:t>
            </a:r>
            <a:endParaRPr lang="en-US" sz="1000" dirty="0"/>
          </a:p>
          <a:p>
            <a:pPr marL="0" indent="0">
              <a:buNone/>
            </a:pPr>
            <a:r>
              <a:rPr lang="en-US" sz="1000" dirty="0">
                <a:solidFill>
                  <a:schemeClr val="tx1"/>
                </a:solidFill>
                <a:latin typeface="Courier New" pitchFamily="34" charset="0"/>
                <a:ea typeface="Courier New" pitchFamily="34" charset="-122"/>
                <a:cs typeface="Courier New" pitchFamily="34" charset="-120"/>
              </a:rPr>
              <a:t> </a:t>
            </a:r>
            <a:endParaRPr lang="en-US" sz="1000" dirty="0"/>
          </a:p>
          <a:p>
            <a:pPr marL="0" indent="0">
              <a:buNone/>
            </a:pPr>
            <a:r>
              <a:rPr lang="en-US" sz="1000" b="1" dirty="0">
                <a:solidFill>
                  <a:schemeClr val="accent4"/>
                </a:solidFill>
                <a:latin typeface="Courier New" pitchFamily="34" charset="0"/>
                <a:ea typeface="Courier New" pitchFamily="34" charset="-122"/>
                <a:cs typeface="Courier New" pitchFamily="34" charset="-120"/>
              </a:rPr>
              <a:t>200 OK</a:t>
            </a:r>
            <a:endParaRPr lang="en-US" sz="1000" dirty="0"/>
          </a:p>
          <a:p>
            <a:pPr marL="0" indent="0">
              <a:buNone/>
            </a:pPr>
            <a:r>
              <a:rPr lang="en-US" sz="1000" dirty="0">
                <a:solidFill>
                  <a:schemeClr val="accent4"/>
                </a:solidFill>
                <a:latin typeface="Courier New" pitchFamily="34" charset="0"/>
                <a:ea typeface="Courier New" pitchFamily="34" charset="-122"/>
                <a:cs typeface="Courier New" pitchFamily="34" charset="-120"/>
              </a:rPr>
              <a:t>["security-agent"]</a:t>
            </a:r>
            <a:endParaRPr lang="en-US" sz="1000" dirty="0"/>
          </a:p>
          <a:p>
            <a:pPr marL="0" indent="0">
              <a:buNone/>
            </a:pPr>
            <a:r>
              <a:rPr lang="en-US" sz="1000" dirty="0">
                <a:solidFill>
                  <a:schemeClr val="tx1"/>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POST /api/v1/tasks</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{"request": "help me"}</a:t>
            </a:r>
            <a:endParaRPr lang="en-US" sz="1000" dirty="0"/>
          </a:p>
          <a:p>
            <a:pPr marL="0" indent="0">
              <a:buNone/>
            </a:pPr>
            <a:r>
              <a:rPr lang="en-US" sz="1000" b="1" dirty="0">
                <a:solidFill>
                  <a:srgbClr val="FFB84C"/>
                </a:solidFill>
                <a:latin typeface="Courier New" pitchFamily="34" charset="0"/>
                <a:ea typeface="Courier New" pitchFamily="34" charset="-122"/>
                <a:cs typeface="Courier New" pitchFamily="34" charset="-120"/>
              </a:rPr>
              <a:t>422  clarifying question</a:t>
            </a:r>
            <a:endParaRPr lang="en-US" sz="1000" dirty="0"/>
          </a:p>
        </p:txBody>
      </p:sp>
      <p:sp>
        <p:nvSpPr>
          <p:cNvPr id="42"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GITHUB</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Source code and wiki</a:t>
            </a:r>
            <a:endParaRPr lang="en-US" sz="2800" dirty="0"/>
          </a:p>
        </p:txBody>
      </p:sp>
      <p:sp>
        <p:nvSpPr>
          <p:cNvPr id="4" name="card-837"/>
          <p:cNvSpPr/>
          <p:nvPr/>
        </p:nvSpPr>
        <p:spPr>
          <a:xfrm>
            <a:off x="457200" y="1188720"/>
            <a:ext cx="5120640" cy="3474720"/>
          </a:xfrm>
          <a:prstGeom prst="roundRect">
            <a:avLst>
              <a:gd name="adj" fmla="val 2105"/>
            </a:avLst>
          </a:prstGeom>
          <a:solidFill>
            <a:schemeClr val="bg1"/>
          </a:solidFill>
          <a:ln w="9525">
            <a:solidFill>
              <a:srgbClr val="E1E5F5"/>
            </a:solidFill>
            <a:prstDash val="solid"/>
          </a:ln>
        </p:spPr>
        <p:txBody>
          <a:bodyPr/>
          <a:lstStyle/>
          <a:p>
            <a:endParaRPr lang="en-US"/>
          </a:p>
        </p:txBody>
      </p:sp>
      <p:pic>
        <p:nvPicPr>
          <p:cNvPr id="5" name="gh-838" descr="preencoded.png"/>
          <p:cNvPicPr>
            <a:picLocks noChangeAspect="1"/>
          </p:cNvPicPr>
          <p:nvPr/>
        </p:nvPicPr>
        <p:blipFill>
          <a:blip r:embed="rId3"/>
          <a:stretch>
            <a:fillRect/>
          </a:stretch>
        </p:blipFill>
        <p:spPr>
          <a:xfrm>
            <a:off x="685800" y="1417320"/>
            <a:ext cx="640080" cy="640080"/>
          </a:xfrm>
          <a:prstGeom prst="rect">
            <a:avLst/>
          </a:prstGeom>
        </p:spPr>
      </p:pic>
      <p:sp>
        <p:nvSpPr>
          <p:cNvPr id="6" name="text-839">
            <a:hlinkClick r:id="rId4"/>
          </p:cNvPr>
          <p:cNvSpPr txBox="1"/>
          <p:nvPr/>
        </p:nvSpPr>
        <p:spPr>
          <a:xfrm>
            <a:off x="1463040" y="1463040"/>
            <a:ext cx="4023360" cy="548640"/>
          </a:xfrm>
          <a:prstGeom prst="rect">
            <a:avLst/>
          </a:prstGeom>
          <a:noFill/>
          <a:ln/>
        </p:spPr>
        <p:txBody>
          <a:bodyPr wrap="square" lIns="0" tIns="0" rIns="0" bIns="0" rtlCol="0" anchor="ctr"/>
          <a:lstStyle/>
          <a:p>
            <a:pPr marL="0" indent="0">
              <a:buNone/>
            </a:pPr>
            <a:r>
              <a:rPr lang="en-US" sz="1500" b="1" u="sng" dirty="0">
                <a:solidFill>
                  <a:schemeClr val="tx2"/>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github.com/htmw/F2026-T2-Phoenix</a:t>
            </a:r>
            <a:endParaRPr lang="en-US" sz="1500" dirty="0"/>
          </a:p>
        </p:txBody>
      </p:sp>
      <p:sp>
        <p:nvSpPr>
          <p:cNvPr id="7" name="text-840"/>
          <p:cNvSpPr txBox="1"/>
          <p:nvPr/>
        </p:nvSpPr>
        <p:spPr>
          <a:xfrm>
            <a:off x="685800" y="2331720"/>
            <a:ext cx="4754880" cy="1463040"/>
          </a:xfrm>
          <a:prstGeom prst="rect">
            <a:avLst/>
          </a:prstGeom>
          <a:noFill/>
          <a:ln/>
        </p:spPr>
        <p:txBody>
          <a:bodyPr wrap="square" lIns="0" tIns="0" rIns="0" bIns="0" rtlCol="0" anchor="t"/>
          <a:lstStyle/>
          <a:p>
            <a:pPr marL="0" indent="0">
              <a:spcAft>
                <a:spcPts val="800"/>
              </a:spcAft>
              <a:buNone/>
            </a:pPr>
            <a:r>
              <a:rPr lang="en-US" sz="1200" b="1" dirty="0">
                <a:solidFill>
                  <a:schemeClr val="accent1"/>
                </a:solidFill>
                <a:latin typeface="Courier New" pitchFamily="34" charset="0"/>
                <a:ea typeface="Courier New" pitchFamily="34" charset="-122"/>
                <a:cs typeface="Courier New" pitchFamily="34" charset="-120"/>
              </a:rPr>
              <a:t>frontend/  </a:t>
            </a:r>
            <a:r>
              <a:rPr lang="en-US" sz="1200" dirty="0">
                <a:solidFill>
                  <a:schemeClr val="tx1"/>
                </a:solidFill>
              </a:rPr>
              <a:t>Next.js app and Playwright tests</a:t>
            </a:r>
            <a:endParaRPr lang="en-US" sz="1200" dirty="0"/>
          </a:p>
          <a:p>
            <a:pPr marL="0" indent="0">
              <a:spcAft>
                <a:spcPts val="800"/>
              </a:spcAft>
              <a:buNone/>
            </a:pPr>
            <a:r>
              <a:rPr lang="en-US" sz="1200" b="1" dirty="0">
                <a:solidFill>
                  <a:schemeClr val="accent1"/>
                </a:solidFill>
                <a:latin typeface="Courier New" pitchFamily="34" charset="0"/>
                <a:ea typeface="Courier New" pitchFamily="34" charset="-122"/>
                <a:cs typeface="Courier New" pitchFamily="34" charset="-120"/>
              </a:rPr>
              <a:t>backend/  </a:t>
            </a:r>
            <a:r>
              <a:rPr lang="en-US" sz="1200" dirty="0">
                <a:solidFill>
                  <a:schemeClr val="tx1"/>
                </a:solidFill>
              </a:rPr>
              <a:t>FastAPI app, migrations and pytest suite</a:t>
            </a:r>
            <a:endParaRPr lang="en-US" sz="1200" dirty="0"/>
          </a:p>
          <a:p>
            <a:pPr marL="0" indent="0">
              <a:spcAft>
                <a:spcPts val="800"/>
              </a:spcAft>
              <a:buNone/>
            </a:pPr>
            <a:r>
              <a:rPr lang="en-US" sz="1200" b="1" dirty="0">
                <a:solidFill>
                  <a:schemeClr val="accent1"/>
                </a:solidFill>
                <a:latin typeface="Courier New" pitchFamily="34" charset="0"/>
                <a:ea typeface="Courier New" pitchFamily="34" charset="-122"/>
                <a:cs typeface="Courier New" pitchFamily="34" charset="-120"/>
              </a:rPr>
              <a:t>docs/  </a:t>
            </a:r>
            <a:r>
              <a:rPr lang="en-US" sz="1200" dirty="0">
                <a:solidFill>
                  <a:schemeClr val="tx1"/>
                </a:solidFill>
              </a:rPr>
              <a:t>architecture, ADRs, agile artifacts, slides</a:t>
            </a:r>
            <a:endParaRPr lang="en-US" sz="1200" dirty="0"/>
          </a:p>
          <a:p>
            <a:pPr marL="0" indent="0">
              <a:spcAft>
                <a:spcPts val="800"/>
              </a:spcAft>
              <a:buNone/>
            </a:pPr>
            <a:r>
              <a:rPr lang="en-US" sz="1200" b="1" dirty="0">
                <a:solidFill>
                  <a:schemeClr val="accent1"/>
                </a:solidFill>
                <a:latin typeface="Courier New" pitchFamily="34" charset="0"/>
                <a:ea typeface="Courier New" pitchFamily="34" charset="-122"/>
                <a:cs typeface="Courier New" pitchFamily="34" charset="-120"/>
              </a:rPr>
              <a:t>Wiki  </a:t>
            </a:r>
            <a:r>
              <a:rPr lang="en-US" sz="1200" dirty="0">
                <a:solidFill>
                  <a:schemeClr val="tx1"/>
                </a:solidFill>
              </a:rPr>
              <a:t>deliverables, diagrams, personas, test cases</a:t>
            </a:r>
            <a:endParaRPr lang="en-US" sz="1200" dirty="0"/>
          </a:p>
        </p:txBody>
      </p:sp>
      <p:sp>
        <p:nvSpPr>
          <p:cNvPr id="8" name="card-841"/>
          <p:cNvSpPr/>
          <p:nvPr/>
        </p:nvSpPr>
        <p:spPr>
          <a:xfrm>
            <a:off x="685800" y="3977640"/>
            <a:ext cx="4663440" cy="457200"/>
          </a:xfrm>
          <a:prstGeom prst="roundRect">
            <a:avLst>
              <a:gd name="adj" fmla="val 12000"/>
            </a:avLst>
          </a:prstGeom>
          <a:solidFill>
            <a:schemeClr val="tx2"/>
          </a:solidFill>
          <a:ln/>
        </p:spPr>
        <p:txBody>
          <a:bodyPr/>
          <a:lstStyle/>
          <a:p>
            <a:endParaRPr lang="en-US"/>
          </a:p>
        </p:txBody>
      </p:sp>
      <p:sp>
        <p:nvSpPr>
          <p:cNvPr id="9" name="text-842"/>
          <p:cNvSpPr txBox="1"/>
          <p:nvPr/>
        </p:nvSpPr>
        <p:spPr>
          <a:xfrm>
            <a:off x="868680" y="3977640"/>
            <a:ext cx="4389120" cy="457200"/>
          </a:xfrm>
          <a:prstGeom prst="rect">
            <a:avLst/>
          </a:prstGeom>
          <a:noFill/>
          <a:ln/>
        </p:spPr>
        <p:txBody>
          <a:bodyPr wrap="square" lIns="0" tIns="0" rIns="0" bIns="0" rtlCol="0" anchor="ctr"/>
          <a:lstStyle/>
          <a:p>
            <a:pPr marL="0" indent="0">
              <a:buNone/>
            </a:pPr>
            <a:r>
              <a:rPr lang="en-US" sz="1200" dirty="0">
                <a:solidFill>
                  <a:schemeClr val="accent3"/>
                </a:solidFill>
                <a:latin typeface="Courier New" pitchFamily="34" charset="0"/>
                <a:ea typeface="Courier New" pitchFamily="34" charset="-122"/>
                <a:cs typeface="Courier New" pitchFamily="34" charset="-120"/>
              </a:rPr>
              <a:t>$ </a:t>
            </a:r>
            <a:r>
              <a:rPr lang="en-US" sz="1200" dirty="0">
                <a:solidFill>
                  <a:schemeClr val="bg1"/>
                </a:solidFill>
                <a:latin typeface="Courier New" pitchFamily="34" charset="0"/>
                <a:ea typeface="Courier New" pitchFamily="34" charset="-122"/>
                <a:cs typeface="Courier New" pitchFamily="34" charset="-120"/>
              </a:rPr>
              <a:t>docker compose up --build</a:t>
            </a:r>
            <a:endParaRPr lang="en-US" sz="1200" dirty="0"/>
          </a:p>
        </p:txBody>
      </p:sp>
      <p:sp>
        <p:nvSpPr>
          <p:cNvPr id="10" name="card-843"/>
          <p:cNvSpPr/>
          <p:nvPr/>
        </p:nvSpPr>
        <p:spPr>
          <a:xfrm>
            <a:off x="5806440" y="1188720"/>
            <a:ext cx="2880360" cy="3474720"/>
          </a:xfrm>
          <a:prstGeom prst="roundRect">
            <a:avLst>
              <a:gd name="adj" fmla="val 2540"/>
            </a:avLst>
          </a:prstGeom>
          <a:solidFill>
            <a:schemeClr val="bg1"/>
          </a:solidFill>
          <a:ln w="9525">
            <a:solidFill>
              <a:srgbClr val="E1E5F5"/>
            </a:solidFill>
            <a:prstDash val="solid"/>
          </a:ln>
        </p:spPr>
        <p:txBody>
          <a:bodyPr/>
          <a:lstStyle/>
          <a:p>
            <a:endParaRPr lang="en-US"/>
          </a:p>
        </p:txBody>
      </p:sp>
      <p:pic>
        <p:nvPicPr>
          <p:cNvPr id="11" name="qr-844" descr="/home/claude/work/assets/qr_repo.png"/>
          <p:cNvPicPr>
            <a:picLocks noChangeAspect="1"/>
          </p:cNvPicPr>
          <p:nvPr/>
        </p:nvPicPr>
        <p:blipFill>
          <a:blip r:embed="rId5"/>
          <a:stretch>
            <a:fillRect/>
          </a:stretch>
        </p:blipFill>
        <p:spPr>
          <a:xfrm>
            <a:off x="6108192" y="1371600"/>
            <a:ext cx="2286000" cy="2286000"/>
          </a:xfrm>
          <a:prstGeom prst="rect">
            <a:avLst/>
          </a:prstGeom>
        </p:spPr>
      </p:pic>
      <p:sp>
        <p:nvSpPr>
          <p:cNvPr id="12" name="text-845"/>
          <p:cNvSpPr txBox="1"/>
          <p:nvPr/>
        </p:nvSpPr>
        <p:spPr>
          <a:xfrm>
            <a:off x="5897880" y="3840480"/>
            <a:ext cx="2697480" cy="274320"/>
          </a:xfrm>
          <a:prstGeom prst="rect">
            <a:avLst/>
          </a:prstGeom>
          <a:noFill/>
          <a:ln/>
        </p:spPr>
        <p:txBody>
          <a:bodyPr wrap="square" lIns="0" tIns="0" rIns="0" bIns="0" rtlCol="0" anchor="t"/>
          <a:lstStyle/>
          <a:p>
            <a:pPr marL="0" indent="0" algn="ctr">
              <a:buNone/>
            </a:pPr>
            <a:r>
              <a:rPr lang="en-US" sz="1100" b="1" dirty="0">
                <a:solidFill>
                  <a:schemeClr val="tx2"/>
                </a:solidFill>
              </a:rPr>
              <a:t>Scan to open the repository</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10896"/>
            <a:ext cx="6217920" cy="237744"/>
          </a:xfrm>
          <a:prstGeom prst="rect">
            <a:avLst/>
          </a:prstGeom>
          <a:noFill/>
          <a:ln/>
        </p:spPr>
        <p:txBody>
          <a:bodyPr wrap="square" lIns="0" tIns="0" rIns="0" bIns="0" rtlCol="0"/>
          <a:lstStyle/>
          <a:p>
            <a:pPr marL="0" indent="0">
              <a:buNone/>
            </a:pPr>
            <a:r>
              <a:rPr lang="en-US" sz="1100" b="1" kern="0" spc="200" dirty="0">
                <a:solidFill>
                  <a:schemeClr val="accent1"/>
                </a:solidFill>
              </a:rPr>
              <a:t>LIVE APPLICATION DEMO</a:t>
            </a:r>
            <a:endParaRPr lang="en-US" sz="1100" dirty="0"/>
          </a:p>
        </p:txBody>
      </p:sp>
      <p:sp>
        <p:nvSpPr>
          <p:cNvPr id="3" name="Text 1"/>
          <p:cNvSpPr>
            <a:spLocks noGrp="1"/>
          </p:cNvSpPr>
          <p:nvPr>
            <p:ph type="title" idx="102" hasCustomPrompt="1"/>
          </p:nvPr>
        </p:nvSpPr>
        <p:spPr>
          <a:xfrm>
            <a:off x="457200" y="548640"/>
            <a:ext cx="6263640" cy="548640"/>
          </a:xfrm>
          <a:prstGeom prst="rect">
            <a:avLst/>
          </a:prstGeom>
          <a:noFill/>
          <a:ln/>
        </p:spPr>
        <p:txBody>
          <a:bodyPr wrap="square" lIns="0" tIns="0" rIns="0" bIns="0" rtlCol="0" anchor="t"/>
          <a:lstStyle/>
          <a:p>
            <a:pPr marL="0" indent="0" algn="l">
              <a:buNone/>
            </a:pPr>
            <a:r>
              <a:rPr lang="en-US" sz="2800" b="1" dirty="0">
                <a:solidFill>
                  <a:schemeClr val="tx2"/>
                </a:solidFill>
                <a:latin typeface="Cambria" pitchFamily="34" charset="0"/>
                <a:ea typeface="Cambria" pitchFamily="34" charset="-122"/>
                <a:cs typeface="Cambria" pitchFamily="34" charset="-120"/>
              </a:rPr>
              <a:t>Let's run it</a:t>
            </a:r>
            <a:endParaRPr lang="en-US" sz="2800" dirty="0"/>
          </a:p>
        </p:txBody>
      </p:sp>
      <p:sp>
        <p:nvSpPr>
          <p:cNvPr id="4" name="num-846"/>
          <p:cNvSpPr/>
          <p:nvPr/>
        </p:nvSpPr>
        <p:spPr>
          <a:xfrm>
            <a:off x="457200" y="1307592"/>
            <a:ext cx="365760" cy="365760"/>
          </a:xfrm>
          <a:prstGeom prst="ellipse">
            <a:avLst/>
          </a:prstGeom>
          <a:solidFill>
            <a:schemeClr val="accent2"/>
          </a:solidFill>
          <a:ln/>
        </p:spPr>
        <p:txBody>
          <a:bodyPr/>
          <a:lstStyle/>
          <a:p>
            <a:endParaRPr lang="en-US"/>
          </a:p>
        </p:txBody>
      </p:sp>
      <p:sp>
        <p:nvSpPr>
          <p:cNvPr id="5" name="text-847"/>
          <p:cNvSpPr txBox="1"/>
          <p:nvPr/>
        </p:nvSpPr>
        <p:spPr>
          <a:xfrm>
            <a:off x="457200" y="1307592"/>
            <a:ext cx="365760" cy="365760"/>
          </a:xfrm>
          <a:prstGeom prst="rect">
            <a:avLst/>
          </a:prstGeom>
          <a:no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6" name="text-848"/>
          <p:cNvSpPr txBox="1"/>
          <p:nvPr/>
        </p:nvSpPr>
        <p:spPr>
          <a:xfrm>
            <a:off x="960120" y="1252728"/>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docker compose up --build</a:t>
            </a:r>
            <a:endParaRPr lang="en-US" sz="1100" dirty="0"/>
          </a:p>
        </p:txBody>
      </p:sp>
      <p:sp>
        <p:nvSpPr>
          <p:cNvPr id="7" name="text-849"/>
          <p:cNvSpPr txBox="1"/>
          <p:nvPr/>
        </p:nvSpPr>
        <p:spPr>
          <a:xfrm>
            <a:off x="960120" y="1508760"/>
            <a:ext cx="4206240" cy="219456"/>
          </a:xfrm>
          <a:prstGeom prst="rect">
            <a:avLst/>
          </a:prstGeom>
          <a:noFill/>
          <a:ln/>
        </p:spPr>
        <p:txBody>
          <a:bodyPr wrap="square" lIns="0" tIns="0" rIns="0" bIns="0" rtlCol="0" anchor="t"/>
          <a:lstStyle/>
          <a:p>
            <a:pPr marL="0" indent="0">
              <a:buNone/>
            </a:pPr>
            <a:r>
              <a:rPr lang="en-US" sz="1050" dirty="0">
                <a:solidFill>
                  <a:schemeClr val="tx1"/>
                </a:solidFill>
              </a:rPr>
              <a:t>log: agents_seeded created=7 total=7</a:t>
            </a:r>
            <a:endParaRPr lang="en-US" sz="1050" dirty="0"/>
          </a:p>
        </p:txBody>
      </p:sp>
      <p:sp>
        <p:nvSpPr>
          <p:cNvPr id="8" name="num-850"/>
          <p:cNvSpPr/>
          <p:nvPr/>
        </p:nvSpPr>
        <p:spPr>
          <a:xfrm>
            <a:off x="457200" y="1874520"/>
            <a:ext cx="365760" cy="365760"/>
          </a:xfrm>
          <a:prstGeom prst="ellipse">
            <a:avLst/>
          </a:prstGeom>
          <a:solidFill>
            <a:schemeClr val="accent2"/>
          </a:solidFill>
          <a:ln/>
        </p:spPr>
        <p:txBody>
          <a:bodyPr/>
          <a:lstStyle/>
          <a:p>
            <a:endParaRPr lang="en-US"/>
          </a:p>
        </p:txBody>
      </p:sp>
      <p:sp>
        <p:nvSpPr>
          <p:cNvPr id="9" name="text-851"/>
          <p:cNvSpPr txBox="1"/>
          <p:nvPr/>
        </p:nvSpPr>
        <p:spPr>
          <a:xfrm>
            <a:off x="457200" y="1874520"/>
            <a:ext cx="365760" cy="365760"/>
          </a:xfrm>
          <a:prstGeom prst="rect">
            <a:avLst/>
          </a:prstGeom>
          <a:no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0" name="text-852"/>
          <p:cNvSpPr txBox="1"/>
          <p:nvPr/>
        </p:nvSpPr>
        <p:spPr>
          <a:xfrm>
            <a:off x="960120" y="1819656"/>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GET /api/v1/agents</a:t>
            </a:r>
            <a:endParaRPr lang="en-US" sz="1100" dirty="0"/>
          </a:p>
        </p:txBody>
      </p:sp>
      <p:sp>
        <p:nvSpPr>
          <p:cNvPr id="11" name="text-853"/>
          <p:cNvSpPr txBox="1"/>
          <p:nvPr/>
        </p:nvSpPr>
        <p:spPr>
          <a:xfrm>
            <a:off x="960120" y="2075688"/>
            <a:ext cx="4206240" cy="219456"/>
          </a:xfrm>
          <a:prstGeom prst="rect">
            <a:avLst/>
          </a:prstGeom>
          <a:noFill/>
          <a:ln/>
        </p:spPr>
        <p:txBody>
          <a:bodyPr wrap="square" lIns="0" tIns="0" rIns="0" bIns="0" rtlCol="0" anchor="t"/>
          <a:lstStyle/>
          <a:p>
            <a:pPr marL="0" indent="0">
              <a:buNone/>
            </a:pPr>
            <a:r>
              <a:rPr lang="en-US" sz="1050" dirty="0">
                <a:solidFill>
                  <a:schemeClr val="tx1"/>
                </a:solidFill>
              </a:rPr>
              <a:t>all seven, with limits and retry policies</a:t>
            </a:r>
            <a:endParaRPr lang="en-US" sz="1050" dirty="0"/>
          </a:p>
        </p:txBody>
      </p:sp>
      <p:sp>
        <p:nvSpPr>
          <p:cNvPr id="12" name="num-854"/>
          <p:cNvSpPr/>
          <p:nvPr/>
        </p:nvSpPr>
        <p:spPr>
          <a:xfrm>
            <a:off x="457200" y="2441448"/>
            <a:ext cx="365760" cy="365760"/>
          </a:xfrm>
          <a:prstGeom prst="ellipse">
            <a:avLst/>
          </a:prstGeom>
          <a:solidFill>
            <a:schemeClr val="accent2"/>
          </a:solidFill>
          <a:ln/>
        </p:spPr>
        <p:txBody>
          <a:bodyPr/>
          <a:lstStyle/>
          <a:p>
            <a:endParaRPr lang="en-US"/>
          </a:p>
        </p:txBody>
      </p:sp>
      <p:sp>
        <p:nvSpPr>
          <p:cNvPr id="13" name="text-855"/>
          <p:cNvSpPr txBox="1"/>
          <p:nvPr/>
        </p:nvSpPr>
        <p:spPr>
          <a:xfrm>
            <a:off x="457200" y="2441448"/>
            <a:ext cx="365760" cy="365760"/>
          </a:xfrm>
          <a:prstGeom prst="rect">
            <a:avLst/>
          </a:prstGeom>
          <a:no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4" name="text-856"/>
          <p:cNvSpPr txBox="1"/>
          <p:nvPr/>
        </p:nvSpPr>
        <p:spPr>
          <a:xfrm>
            <a:off x="960120" y="2386584"/>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?capability=security.vulnerability_analysis</a:t>
            </a:r>
            <a:endParaRPr lang="en-US" sz="1100" dirty="0"/>
          </a:p>
        </p:txBody>
      </p:sp>
      <p:sp>
        <p:nvSpPr>
          <p:cNvPr id="15" name="text-857"/>
          <p:cNvSpPr txBox="1"/>
          <p:nvPr/>
        </p:nvSpPr>
        <p:spPr>
          <a:xfrm>
            <a:off x="960120" y="2642616"/>
            <a:ext cx="4206240" cy="219456"/>
          </a:xfrm>
          <a:prstGeom prst="rect">
            <a:avLst/>
          </a:prstGeom>
          <a:noFill/>
          <a:ln/>
        </p:spPr>
        <p:txBody>
          <a:bodyPr wrap="square" lIns="0" tIns="0" rIns="0" bIns="0" rtlCol="0" anchor="t"/>
          <a:lstStyle/>
          <a:p>
            <a:pPr marL="0" indent="0">
              <a:buNone/>
            </a:pPr>
            <a:r>
              <a:rPr lang="en-US" sz="1050" dirty="0">
                <a:solidFill>
                  <a:schemeClr val="tx1"/>
                </a:solidFill>
              </a:rPr>
              <a:t>filter: exactly ["security-agent"]</a:t>
            </a:r>
            <a:endParaRPr lang="en-US" sz="1050" dirty="0"/>
          </a:p>
        </p:txBody>
      </p:sp>
      <p:sp>
        <p:nvSpPr>
          <p:cNvPr id="16" name="num-858"/>
          <p:cNvSpPr/>
          <p:nvPr/>
        </p:nvSpPr>
        <p:spPr>
          <a:xfrm>
            <a:off x="457200" y="3008376"/>
            <a:ext cx="365760" cy="365760"/>
          </a:xfrm>
          <a:prstGeom prst="ellipse">
            <a:avLst/>
          </a:prstGeom>
          <a:solidFill>
            <a:schemeClr val="accent2"/>
          </a:solidFill>
          <a:ln/>
        </p:spPr>
        <p:txBody>
          <a:bodyPr/>
          <a:lstStyle/>
          <a:p>
            <a:endParaRPr lang="en-US"/>
          </a:p>
        </p:txBody>
      </p:sp>
      <p:sp>
        <p:nvSpPr>
          <p:cNvPr id="17" name="text-859"/>
          <p:cNvSpPr txBox="1"/>
          <p:nvPr/>
        </p:nvSpPr>
        <p:spPr>
          <a:xfrm>
            <a:off x="457200" y="3008376"/>
            <a:ext cx="365760" cy="365760"/>
          </a:xfrm>
          <a:prstGeom prst="rect">
            <a:avLst/>
          </a:prstGeom>
          <a:no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8" name="text-860"/>
          <p:cNvSpPr txBox="1"/>
          <p:nvPr/>
        </p:nvSpPr>
        <p:spPr>
          <a:xfrm>
            <a:off x="960120" y="2953512"/>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GET /api/v1/capabilities</a:t>
            </a:r>
            <a:endParaRPr lang="en-US" sz="1100" dirty="0"/>
          </a:p>
        </p:txBody>
      </p:sp>
      <p:sp>
        <p:nvSpPr>
          <p:cNvPr id="19" name="text-861"/>
          <p:cNvSpPr txBox="1"/>
          <p:nvPr/>
        </p:nvSpPr>
        <p:spPr>
          <a:xfrm>
            <a:off x="960120" y="3214116"/>
            <a:ext cx="4206240" cy="219456"/>
          </a:xfrm>
          <a:prstGeom prst="rect">
            <a:avLst/>
          </a:prstGeom>
          <a:noFill/>
          <a:ln/>
        </p:spPr>
        <p:txBody>
          <a:bodyPr wrap="square" lIns="0" tIns="0" rIns="0" bIns="0" rtlCol="0" anchor="t"/>
          <a:lstStyle/>
          <a:p>
            <a:pPr marL="0" indent="0">
              <a:buNone/>
            </a:pPr>
            <a:r>
              <a:rPr lang="en-US" sz="1050" dirty="0">
                <a:solidFill>
                  <a:schemeClr val="tx1"/>
                </a:solidFill>
              </a:rPr>
              <a:t>17 capabilities, none orphaned</a:t>
            </a:r>
            <a:endParaRPr lang="en-US" sz="1050" dirty="0"/>
          </a:p>
        </p:txBody>
      </p:sp>
      <p:sp>
        <p:nvSpPr>
          <p:cNvPr id="20" name="num-862"/>
          <p:cNvSpPr/>
          <p:nvPr/>
        </p:nvSpPr>
        <p:spPr>
          <a:xfrm>
            <a:off x="457200" y="3575304"/>
            <a:ext cx="365760" cy="365760"/>
          </a:xfrm>
          <a:prstGeom prst="ellipse">
            <a:avLst/>
          </a:prstGeom>
          <a:solidFill>
            <a:schemeClr val="accent2"/>
          </a:solidFill>
          <a:ln/>
        </p:spPr>
        <p:txBody>
          <a:bodyPr/>
          <a:lstStyle/>
          <a:p>
            <a:endParaRPr lang="en-US"/>
          </a:p>
        </p:txBody>
      </p:sp>
      <p:sp>
        <p:nvSpPr>
          <p:cNvPr id="21" name="text-863"/>
          <p:cNvSpPr txBox="1"/>
          <p:nvPr/>
        </p:nvSpPr>
        <p:spPr>
          <a:xfrm>
            <a:off x="457200" y="3575304"/>
            <a:ext cx="365760" cy="365760"/>
          </a:xfrm>
          <a:prstGeom prst="rect">
            <a:avLst/>
          </a:prstGeom>
          <a:noFill/>
          <a:ln/>
        </p:spPr>
        <p:txBody>
          <a:bodyPr wrap="square" lIns="0" tIns="0" rIns="0" bIns="0" rtlCol="0" anchor="ctr"/>
          <a:lstStyle/>
          <a:p>
            <a:pPr marL="0" indent="0" algn="ctr">
              <a:buNone/>
            </a:pPr>
            <a:r>
              <a:rPr lang="en-US" sz="1300" b="1" dirty="0">
                <a:solidFill>
                  <a:schemeClr val="tx2"/>
                </a:solidFill>
              </a:rPr>
              <a:t>5</a:t>
            </a:r>
            <a:endParaRPr lang="en-US" sz="1300" dirty="0"/>
          </a:p>
        </p:txBody>
      </p:sp>
      <p:sp>
        <p:nvSpPr>
          <p:cNvPr id="22" name="text-864"/>
          <p:cNvSpPr txBox="1"/>
          <p:nvPr/>
        </p:nvSpPr>
        <p:spPr>
          <a:xfrm>
            <a:off x="960120" y="3520440"/>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POST /api/v1/tasks/plan</a:t>
            </a:r>
            <a:endParaRPr lang="en-US" sz="1100" dirty="0"/>
          </a:p>
        </p:txBody>
      </p:sp>
      <p:sp>
        <p:nvSpPr>
          <p:cNvPr id="23" name="text-865"/>
          <p:cNvSpPr txBox="1"/>
          <p:nvPr/>
        </p:nvSpPr>
        <p:spPr>
          <a:xfrm>
            <a:off x="960120" y="3776472"/>
            <a:ext cx="4206240" cy="219456"/>
          </a:xfrm>
          <a:prstGeom prst="rect">
            <a:avLst/>
          </a:prstGeom>
          <a:noFill/>
          <a:ln/>
        </p:spPr>
        <p:txBody>
          <a:bodyPr wrap="square" lIns="0" tIns="0" rIns="0" bIns="0" rtlCol="0" anchor="t"/>
          <a:lstStyle/>
          <a:p>
            <a:pPr marL="0" indent="0">
              <a:buNone/>
            </a:pPr>
            <a:r>
              <a:rPr lang="en-US" sz="1050" dirty="0">
                <a:solidFill>
                  <a:schemeClr val="tx1"/>
                </a:solidFill>
              </a:rPr>
              <a:t>agents selected and skipped, each with a reason</a:t>
            </a:r>
            <a:endParaRPr lang="en-US" sz="1050" dirty="0"/>
          </a:p>
        </p:txBody>
      </p:sp>
      <p:sp>
        <p:nvSpPr>
          <p:cNvPr id="24" name="num-866"/>
          <p:cNvSpPr/>
          <p:nvPr/>
        </p:nvSpPr>
        <p:spPr>
          <a:xfrm>
            <a:off x="457200" y="4142232"/>
            <a:ext cx="365760" cy="365760"/>
          </a:xfrm>
          <a:prstGeom prst="ellipse">
            <a:avLst/>
          </a:prstGeom>
          <a:solidFill>
            <a:schemeClr val="accent1"/>
          </a:solidFill>
          <a:ln/>
        </p:spPr>
        <p:txBody>
          <a:bodyPr/>
          <a:lstStyle/>
          <a:p>
            <a:endParaRPr lang="en-US"/>
          </a:p>
        </p:txBody>
      </p:sp>
      <p:sp>
        <p:nvSpPr>
          <p:cNvPr id="25" name="text-867"/>
          <p:cNvSpPr txBox="1"/>
          <p:nvPr/>
        </p:nvSpPr>
        <p:spPr>
          <a:xfrm>
            <a:off x="457200" y="414223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6" name="text-868"/>
          <p:cNvSpPr txBox="1"/>
          <p:nvPr/>
        </p:nvSpPr>
        <p:spPr>
          <a:xfrm>
            <a:off x="960120" y="4087368"/>
            <a:ext cx="4389120" cy="246888"/>
          </a:xfrm>
          <a:prstGeom prst="rect">
            <a:avLst/>
          </a:prstGeom>
          <a:noFill/>
          <a:ln/>
        </p:spPr>
        <p:txBody>
          <a:bodyPr wrap="square" lIns="0" tIns="0" rIns="0" bIns="0" rtlCol="0" anchor="t">
            <a:normAutofit/>
          </a:bodyPr>
          <a:lstStyle/>
          <a:p>
            <a:pPr marL="0" indent="0">
              <a:buNone/>
            </a:pPr>
            <a:r>
              <a:rPr lang="en-US" sz="1100" b="1" dirty="0">
                <a:solidFill>
                  <a:schemeClr val="tx2"/>
                </a:solidFill>
                <a:latin typeface="Courier New" pitchFamily="34" charset="0"/>
                <a:ea typeface="Courier New" pitchFamily="34" charset="-122"/>
                <a:cs typeface="Courier New" pitchFamily="34" charset="-120"/>
              </a:rPr>
              <a:t>open localhost:3000/office</a:t>
            </a:r>
            <a:endParaRPr lang="en-US" sz="1100" dirty="0"/>
          </a:p>
        </p:txBody>
      </p:sp>
      <p:sp>
        <p:nvSpPr>
          <p:cNvPr id="27" name="text-869"/>
          <p:cNvSpPr txBox="1"/>
          <p:nvPr/>
        </p:nvSpPr>
        <p:spPr>
          <a:xfrm>
            <a:off x="960120" y="4343400"/>
            <a:ext cx="4206240" cy="219456"/>
          </a:xfrm>
          <a:prstGeom prst="rect">
            <a:avLst/>
          </a:prstGeom>
          <a:noFill/>
          <a:ln/>
        </p:spPr>
        <p:txBody>
          <a:bodyPr wrap="square" lIns="0" tIns="0" rIns="0" bIns="0" rtlCol="0" anchor="t"/>
          <a:lstStyle/>
          <a:p>
            <a:pPr marL="0" indent="0">
              <a:buNone/>
            </a:pPr>
            <a:r>
              <a:rPr lang="en-US" sz="1050" dirty="0">
                <a:solidFill>
                  <a:schemeClr val="tx1"/>
                </a:solidFill>
              </a:rPr>
              <a:t>submit a brief, watch agents spawn</a:t>
            </a:r>
            <a:endParaRPr lang="en-US" sz="1050" dirty="0"/>
          </a:p>
        </p:txBody>
      </p:sp>
      <p:pic>
        <p:nvPicPr>
          <p:cNvPr id="28" name="demo-shot-870" descr="/home/claude/work/assets/composer.jpg"/>
          <p:cNvPicPr>
            <a:picLocks noChangeAspect="1"/>
          </p:cNvPicPr>
          <p:nvPr/>
        </p:nvPicPr>
        <p:blipFill>
          <a:blip r:embed="rId3"/>
          <a:stretch>
            <a:fillRect/>
          </a:stretch>
        </p:blipFill>
        <p:spPr>
          <a:xfrm>
            <a:off x="5440680" y="1463040"/>
            <a:ext cx="3246120" cy="1261872"/>
          </a:xfrm>
          <a:prstGeom prst="rect">
            <a:avLst/>
          </a:prstGeom>
          <a:effectLst>
            <a:outerShdw blurRad="76200" dist="25400" dir="5400000" algn="bl" rotWithShape="0">
              <a:srgbClr val="000000">
                <a:alpha val="12000"/>
              </a:srgbClr>
            </a:outerShdw>
          </a:effectLst>
        </p:spPr>
      </p:pic>
      <p:sp>
        <p:nvSpPr>
          <p:cNvPr id="29" name="card-871"/>
          <p:cNvSpPr/>
          <p:nvPr/>
        </p:nvSpPr>
        <p:spPr>
          <a:xfrm>
            <a:off x="5440680" y="3520440"/>
            <a:ext cx="3246120" cy="1143000"/>
          </a:xfrm>
          <a:prstGeom prst="roundRect">
            <a:avLst>
              <a:gd name="adj" fmla="val 6400"/>
            </a:avLst>
          </a:prstGeom>
          <a:solidFill>
            <a:schemeClr val="bg1"/>
          </a:solidFill>
          <a:ln w="9525">
            <a:solidFill>
              <a:srgbClr val="E1E5F5"/>
            </a:solidFill>
            <a:prstDash val="solid"/>
          </a:ln>
        </p:spPr>
        <p:txBody>
          <a:bodyPr/>
          <a:lstStyle/>
          <a:p>
            <a:endParaRPr lang="en-US"/>
          </a:p>
        </p:txBody>
      </p:sp>
      <p:sp>
        <p:nvSpPr>
          <p:cNvPr id="30" name="badge-872"/>
          <p:cNvSpPr/>
          <p:nvPr/>
        </p:nvSpPr>
        <p:spPr>
          <a:xfrm>
            <a:off x="5577840" y="3657600"/>
            <a:ext cx="402336" cy="402336"/>
          </a:xfrm>
          <a:prstGeom prst="ellipse">
            <a:avLst/>
          </a:prstGeom>
          <a:solidFill>
            <a:schemeClr val="accent2"/>
          </a:solidFill>
          <a:ln/>
        </p:spPr>
        <p:txBody>
          <a:bodyPr/>
          <a:lstStyle/>
          <a:p>
            <a:endParaRPr lang="en-US"/>
          </a:p>
        </p:txBody>
      </p:sp>
      <p:pic>
        <p:nvPicPr>
          <p:cNvPr id="31" name="icon-873" descr="preencoded.png"/>
          <p:cNvPicPr>
            <a:picLocks noChangeAspect="1"/>
          </p:cNvPicPr>
          <p:nvPr/>
        </p:nvPicPr>
        <p:blipFill>
          <a:blip r:embed="rId4"/>
          <a:stretch>
            <a:fillRect/>
          </a:stretch>
        </p:blipFill>
        <p:spPr>
          <a:xfrm>
            <a:off x="5666354" y="3746114"/>
            <a:ext cx="225308" cy="225308"/>
          </a:xfrm>
          <a:prstGeom prst="rect">
            <a:avLst/>
          </a:prstGeom>
        </p:spPr>
      </p:pic>
      <p:sp>
        <p:nvSpPr>
          <p:cNvPr id="32" name="text-874"/>
          <p:cNvSpPr txBox="1"/>
          <p:nvPr/>
        </p:nvSpPr>
        <p:spPr>
          <a:xfrm>
            <a:off x="6080760" y="3657600"/>
            <a:ext cx="2468880" cy="274320"/>
          </a:xfrm>
          <a:prstGeom prst="rect">
            <a:avLst/>
          </a:prstGeom>
          <a:noFill/>
          <a:ln/>
        </p:spPr>
        <p:txBody>
          <a:bodyPr wrap="square" lIns="0" tIns="0" rIns="0" bIns="0" rtlCol="0" anchor="t"/>
          <a:lstStyle/>
          <a:p>
            <a:pPr marL="0" indent="0">
              <a:buNone/>
            </a:pPr>
            <a:r>
              <a:rPr lang="en-US" sz="1300" b="1" dirty="0">
                <a:solidFill>
                  <a:schemeClr val="tx2"/>
                </a:solidFill>
              </a:rPr>
              <a:t>Recorded demo</a:t>
            </a:r>
            <a:endParaRPr lang="en-US" sz="1300" dirty="0"/>
          </a:p>
        </p:txBody>
      </p:sp>
      <p:sp>
        <p:nvSpPr>
          <p:cNvPr id="33" name="text-875"/>
          <p:cNvSpPr txBox="1"/>
          <p:nvPr/>
        </p:nvSpPr>
        <p:spPr>
          <a:xfrm>
            <a:off x="6080760" y="3931920"/>
            <a:ext cx="2514600" cy="658368"/>
          </a:xfrm>
          <a:prstGeom prst="rect">
            <a:avLst/>
          </a:prstGeom>
          <a:noFill/>
          <a:ln/>
        </p:spPr>
        <p:txBody>
          <a:bodyPr wrap="square" lIns="0" tIns="0" rIns="0" bIns="0" rtlCol="0" anchor="t"/>
          <a:lstStyle/>
          <a:p>
            <a:r>
              <a:rPr lang="en-US" sz="1050" dirty="0">
                <a:hlinkClick r:id="rId5"/>
              </a:rPr>
              <a:t>https://agent-mesh-web.onrender.com/</a:t>
            </a:r>
            <a:endParaRPr lang="en-US" sz="1050" dirty="0"/>
          </a:p>
          <a:p>
            <a:endParaRPr lang="en-US" sz="1050" dirty="0"/>
          </a:p>
        </p:txBody>
      </p:sp>
      <p:sp>
        <p:nvSpPr>
          <p:cNvPr id="3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876"/>
          <p:cNvSpPr txBox="1"/>
          <p:nvPr/>
        </p:nvSpPr>
        <p:spPr>
          <a:xfrm>
            <a:off x="548640" y="1051560"/>
            <a:ext cx="4572000" cy="274320"/>
          </a:xfrm>
          <a:prstGeom prst="rect">
            <a:avLst/>
          </a:prstGeom>
          <a:noFill/>
          <a:ln/>
        </p:spPr>
        <p:txBody>
          <a:bodyPr wrap="square" lIns="0" tIns="0" rIns="0" bIns="0" rtlCol="0" anchor="t"/>
          <a:lstStyle/>
          <a:p>
            <a:pPr marL="0" indent="0">
              <a:buNone/>
            </a:pPr>
            <a:r>
              <a:rPr lang="en-US" sz="1200" b="1" kern="0" spc="300" dirty="0">
                <a:solidFill>
                  <a:schemeClr val="accent4"/>
                </a:solidFill>
              </a:rPr>
              <a:t>THANK YOU</a:t>
            </a:r>
            <a:endParaRPr lang="en-US" sz="1200" dirty="0"/>
          </a:p>
        </p:txBody>
      </p:sp>
      <p:sp>
        <p:nvSpPr>
          <p:cNvPr id="3" name="Text 0"/>
          <p:cNvSpPr>
            <a:spLocks noGrp="1"/>
          </p:cNvSpPr>
          <p:nvPr>
            <p:ph type="title" idx="100" hasCustomPrompt="1"/>
          </p:nvPr>
        </p:nvSpPr>
        <p:spPr>
          <a:xfrm>
            <a:off x="548640" y="1417320"/>
            <a:ext cx="47548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Questions?</a:t>
            </a:r>
            <a:endParaRPr lang="en-US" sz="4000" dirty="0"/>
          </a:p>
        </p:txBody>
      </p:sp>
      <p:sp>
        <p:nvSpPr>
          <p:cNvPr id="4" name="text-877"/>
          <p:cNvSpPr txBox="1"/>
          <p:nvPr/>
        </p:nvSpPr>
        <p:spPr>
          <a:xfrm>
            <a:off x="548640" y="2240280"/>
            <a:ext cx="5486400" cy="320040"/>
          </a:xfrm>
          <a:prstGeom prst="rect">
            <a:avLst/>
          </a:prstGeom>
          <a:noFill/>
          <a:ln/>
        </p:spPr>
        <p:txBody>
          <a:bodyPr wrap="square" lIns="0" tIns="0" rIns="0" bIns="0" rtlCol="0" anchor="t"/>
          <a:lstStyle/>
          <a:p>
            <a:pPr marL="0" indent="0">
              <a:buNone/>
            </a:pPr>
            <a:r>
              <a:rPr lang="en-US" sz="1500" dirty="0">
                <a:solidFill>
                  <a:schemeClr val="bg2"/>
                </a:solidFill>
                <a:latin typeface="Courier New" pitchFamily="34" charset="0"/>
                <a:ea typeface="Courier New" pitchFamily="34" charset="-122"/>
                <a:cs typeface="Courier New" pitchFamily="34" charset="-120"/>
              </a:rPr>
              <a:t>github.com/htmw/F2026-T2-Phoenix</a:t>
            </a:r>
            <a:endParaRPr lang="en-US" sz="1500" dirty="0"/>
          </a:p>
        </p:txBody>
      </p:sp>
    </p:spTree>
  </p:cSld>
  <p:clrMapOvr>
    <a:masterClrMapping/>
  </p:clrMapOvr>
</p:sld>
</file>

<file path=ppt/theme/theme1.xml><?xml version="1.0" encoding="utf-8"?>
<a:theme xmlns:a="http://schemas.openxmlformats.org/drawingml/2006/main" name="AgentMesh Sprint 0">
  <a:themeElements>
    <a:clrScheme name="AgentMesh Sprint 0">
      <a:dk1>
        <a:srgbClr val="1A1D33"/>
      </a:dk1>
      <a:lt1>
        <a:srgbClr val="FFFFFF"/>
      </a:lt1>
      <a:dk2>
        <a:srgbClr val="10132B"/>
      </a:dk2>
      <a:lt2>
        <a:srgbClr val="F4F6FD"/>
      </a:lt2>
      <a:accent1>
        <a:srgbClr val="4C6FFF"/>
      </a:accent1>
      <a:accent2>
        <a:srgbClr val="33E0A1"/>
      </a:accent2>
      <a:accent3>
        <a:srgbClr val="9BA4D6"/>
      </a:accent3>
      <a:accent4>
        <a:srgbClr val="6BEBBC"/>
      </a:accent4>
      <a:accent5>
        <a:srgbClr val="2E3573"/>
      </a:accent5>
      <a:accent6>
        <a:srgbClr val="E0565B"/>
      </a:accent6>
      <a:hlink>
        <a:srgbClr val="4C6FFF"/>
      </a:hlink>
      <a:folHlink>
        <a:srgbClr val="6E77AE"/>
      </a:folHlink>
    </a:clrScheme>
    <a:fontScheme name="AgentMesh Sprint 0">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5981</Words>
  <Application>Microsoft Macintosh PowerPoint</Application>
  <PresentationFormat>On-screen Show (16:9)</PresentationFormat>
  <Paragraphs>842</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vt:lpstr>
      <vt:lpstr>Courier New</vt:lpstr>
      <vt:lpstr>AgentMesh Sprint 0</vt:lpstr>
      <vt:lpstr>From One Brief to the Right Team</vt:lpstr>
      <vt:lpstr>What we'll cover</vt:lpstr>
      <vt:lpstr>Team roles and responsibilities</vt:lpstr>
      <vt:lpstr>What we changed from feedback</vt:lpstr>
      <vt:lpstr>What AgentMesh is</vt:lpstr>
      <vt:lpstr>How we work together</vt:lpstr>
      <vt:lpstr>Three people, three ways of working</vt:lpstr>
      <vt:lpstr>What a user can actually do today</vt:lpstr>
      <vt:lpstr>The stack behind AgentMesh</vt:lpstr>
      <vt:lpstr>The logic behind the orchestrator</vt:lpstr>
      <vt:lpstr>Four layers, one request path</vt:lpstr>
      <vt:lpstr>Agent Mesh and the world around it</vt:lpstr>
      <vt:lpstr>The database behind the agents</vt:lpstr>
      <vt:lpstr>Sign in, submit a brief, run it</vt:lpstr>
      <vt:lpstr>Every brief and node has a state</vt:lpstr>
      <vt:lpstr>How the backend classes fit together</vt:lpstr>
      <vt:lpstr>Five user stories committed, 42 points</vt:lpstr>
      <vt:lpstr>Enroll agents, not code</vt:lpstr>
      <vt:lpstr>From brief to the right team</vt:lpstr>
      <vt:lpstr>A results table for every agent</vt:lpstr>
      <vt:lpstr>Bad data never reaches storage</vt:lpstr>
      <vt:lpstr>One workspace, no API calls needed</vt:lpstr>
      <vt:lpstr>Nine tasks that delivered the stories</vt:lpstr>
      <vt:lpstr>23 test cases, all passing</vt:lpstr>
      <vt:lpstr>Stories completed and not completed</vt:lpstr>
      <vt:lpstr>Product backlog</vt:lpstr>
      <vt:lpstr>Product backlog</vt:lpstr>
      <vt:lpstr>Velocity and completion ratio</vt:lpstr>
      <vt:lpstr>Sprint 1 burndown</vt:lpstr>
      <vt:lpstr>What Sprint 1 taught us</vt:lpstr>
      <vt:lpstr>Stories committed for Sprint 2</vt:lpstr>
      <vt:lpstr>What a user sees, step by step</vt:lpstr>
      <vt:lpstr>The API behind every screen</vt:lpstr>
      <vt:lpstr>Source code and wiki</vt:lpstr>
      <vt:lpstr>Let's run it</vt:lpstr>
      <vt:lpstr>Questions?</vt:lpstr>
    </vt:vector>
  </TitlesOfParts>
  <Company>AgentMesh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AgentMesh Sprint 1 Review</dc:title>
  <dc:subject>PptxGenJS Presentation</dc:subject>
  <dc:creator>Team 2 Phoenix</dc:creator>
  <cp:lastModifiedBy>dobariyadhwani404@gmail.com</cp:lastModifiedBy>
  <cp:revision>6</cp:revision>
  <dcterms:created xsi:type="dcterms:W3CDTF">2026-10-20T01:37:53Z</dcterms:created>
  <dcterms:modified xsi:type="dcterms:W3CDTF">2026-10-20T03:21:47Z</dcterms:modified>
</cp:coreProperties>
</file>